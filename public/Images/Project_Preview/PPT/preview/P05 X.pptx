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gency FB" panose="020B0503020202020204" pitchFamily="34" charset="0"/>
      <p:regular r:id="rId8"/>
      <p:bold r:id="rId9"/>
    </p:embeddedFont>
    <p:embeddedFont>
      <p:font typeface="Arial Black" panose="020B0A04020102020204" pitchFamily="34" charset="0"/>
      <p:bold r:id="rId10"/>
    </p:embeddedFont>
    <p:embeddedFont>
      <p:font typeface="Berlin Sans FB Demi" panose="020E0802020502020306" pitchFamily="34" charset="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475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3326" y="-309643"/>
            <a:ext cx="6248490" cy="8229600"/>
          </a:xfrm>
          <a:custGeom>
            <a:avLst/>
            <a:gdLst/>
            <a:ahLst/>
            <a:cxnLst/>
            <a:rect l="l" t="t" r="r" b="b"/>
            <a:pathLst>
              <a:path w="6248490" h="8229600">
                <a:moveTo>
                  <a:pt x="0" y="0"/>
                </a:moveTo>
                <a:lnTo>
                  <a:pt x="6248490" y="0"/>
                </a:lnTo>
                <a:lnTo>
                  <a:pt x="62484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329435" y="4565122"/>
            <a:ext cx="11703095" cy="1450593"/>
            <a:chOff x="0" y="0"/>
            <a:chExt cx="3082297" cy="3820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82297" cy="382049"/>
            </a:xfrm>
            <a:custGeom>
              <a:avLst/>
              <a:gdLst/>
              <a:ahLst/>
              <a:cxnLst/>
              <a:rect l="l" t="t" r="r" b="b"/>
              <a:pathLst>
                <a:path w="3082297" h="382049">
                  <a:moveTo>
                    <a:pt x="0" y="0"/>
                  </a:moveTo>
                  <a:lnTo>
                    <a:pt x="3082297" y="0"/>
                  </a:lnTo>
                  <a:lnTo>
                    <a:pt x="3082297" y="382049"/>
                  </a:lnTo>
                  <a:lnTo>
                    <a:pt x="0" y="3820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4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082297" cy="420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192000" y="-608036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29622" y="450322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0" y="-16403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8" y="0"/>
                </a:moveTo>
                <a:lnTo>
                  <a:pt x="0" y="0"/>
                </a:lnTo>
                <a:lnTo>
                  <a:pt x="0" y="4114800"/>
                </a:lnTo>
                <a:lnTo>
                  <a:pt x="6775868" y="4114800"/>
                </a:lnTo>
                <a:lnTo>
                  <a:pt x="67758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-1516797" y="620751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8" y="0"/>
                </a:moveTo>
                <a:lnTo>
                  <a:pt x="0" y="0"/>
                </a:lnTo>
                <a:lnTo>
                  <a:pt x="0" y="4114800"/>
                </a:lnTo>
                <a:lnTo>
                  <a:pt x="6775868" y="4114800"/>
                </a:lnTo>
                <a:lnTo>
                  <a:pt x="67758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3D164-14E4-31C1-A5FF-46F5129C693F}"/>
              </a:ext>
            </a:extLst>
          </p:cNvPr>
          <p:cNvSpPr txBox="1"/>
          <p:nvPr/>
        </p:nvSpPr>
        <p:spPr>
          <a:xfrm>
            <a:off x="3927764" y="4735551"/>
            <a:ext cx="95672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Arial Black" panose="020B0A04020102020204" pitchFamily="34" charset="0"/>
              </a:rPr>
              <a:t>AIR </a:t>
            </a:r>
            <a:r>
              <a:rPr lang="en-US" sz="6600" spc="300" dirty="0">
                <a:latin typeface="Arial Black" panose="020B0A04020102020204" pitchFamily="34" charset="0"/>
              </a:rPr>
              <a:t>POLLUTION</a:t>
            </a:r>
            <a:endParaRPr lang="en-IN" sz="6600" spc="300" dirty="0"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7F724-6411-563D-8C3A-86DC67862388}"/>
              </a:ext>
            </a:extLst>
          </p:cNvPr>
          <p:cNvSpPr txBox="1"/>
          <p:nvPr/>
        </p:nvSpPr>
        <p:spPr>
          <a:xfrm>
            <a:off x="3831111" y="2172801"/>
            <a:ext cx="9829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Berlin Sans FB Demi" panose="020E0802020502020306" pitchFamily="34" charset="0"/>
              </a:rPr>
              <a:t>Case </a:t>
            </a:r>
            <a:r>
              <a:rPr lang="en-US" sz="11500" dirty="0">
                <a:latin typeface="Berlin Sans FB Demi" panose="020E0802020502020306" pitchFamily="34" charset="0"/>
              </a:rPr>
              <a:t>Study On</a:t>
            </a:r>
            <a:endParaRPr lang="en-IN" sz="9600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A7F92F-001E-EB91-AFE1-00E078FDBF2A}"/>
              </a:ext>
            </a:extLst>
          </p:cNvPr>
          <p:cNvSpPr txBox="1"/>
          <p:nvPr/>
        </p:nvSpPr>
        <p:spPr>
          <a:xfrm>
            <a:off x="14249400" y="8572500"/>
            <a:ext cx="38650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300" dirty="0">
                <a:latin typeface="Agency FB" panose="020B0503020202020204" pitchFamily="34" charset="0"/>
              </a:rPr>
              <a:t>By :</a:t>
            </a:r>
          </a:p>
          <a:p>
            <a:r>
              <a:rPr lang="en-US" sz="3200" b="1" spc="300" dirty="0">
                <a:latin typeface="Agency FB" panose="020B0503020202020204" pitchFamily="34" charset="0"/>
              </a:rPr>
              <a:t>        ABIJITH K A</a:t>
            </a:r>
          </a:p>
          <a:p>
            <a:r>
              <a:rPr lang="en-US" sz="3200" b="1" spc="300" dirty="0">
                <a:latin typeface="Agency FB" panose="020B0503020202020204" pitchFamily="34" charset="0"/>
              </a:rPr>
              <a:t>        25AUR001</a:t>
            </a:r>
            <a:endParaRPr lang="en-IN" sz="3200" b="1" spc="300" dirty="0">
              <a:latin typeface="Agency FB" panose="020B0503020202020204" pitchFamily="34" charset="0"/>
            </a:endParaRPr>
          </a:p>
        </p:txBody>
      </p:sp>
      <p:sp>
        <p:nvSpPr>
          <p:cNvPr id="13" name="Half Frame 12">
            <a:extLst>
              <a:ext uri="{FF2B5EF4-FFF2-40B4-BE49-F238E27FC236}">
                <a16:creationId xmlns:a16="http://schemas.microsoft.com/office/drawing/2014/main" id="{2D79BEA8-C486-DB54-CE62-3666D92F5910}"/>
              </a:ext>
            </a:extLst>
          </p:cNvPr>
          <p:cNvSpPr/>
          <p:nvPr/>
        </p:nvSpPr>
        <p:spPr>
          <a:xfrm>
            <a:off x="13982700" y="8307363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8F7C01A0-E008-E857-D65A-E516AA1D2AF9}"/>
              </a:ext>
            </a:extLst>
          </p:cNvPr>
          <p:cNvSpPr/>
          <p:nvPr/>
        </p:nvSpPr>
        <p:spPr>
          <a:xfrm rot="10800000">
            <a:off x="17068800" y="9718627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6" name="Picture 15" descr="A black background with a black letter x&#10;&#10;AI-generated content may be incorrect.">
            <a:extLst>
              <a:ext uri="{FF2B5EF4-FFF2-40B4-BE49-F238E27FC236}">
                <a16:creationId xmlns:a16="http://schemas.microsoft.com/office/drawing/2014/main" id="{445D6EAF-54D4-087A-09EB-38D5090E53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70738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490C79-1D82-AD89-807D-4D3FA504AED7}"/>
              </a:ext>
            </a:extLst>
          </p:cNvPr>
          <p:cNvSpPr txBox="1"/>
          <p:nvPr/>
        </p:nvSpPr>
        <p:spPr>
          <a:xfrm>
            <a:off x="4572000" y="496229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EC15F-9B84-8500-377D-66FFB7822BC7}"/>
              </a:ext>
            </a:extLst>
          </p:cNvPr>
          <p:cNvSpPr txBox="1"/>
          <p:nvPr/>
        </p:nvSpPr>
        <p:spPr>
          <a:xfrm>
            <a:off x="4572000" y="496229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2B1FF6B-7D6B-2160-2CE8-77464A84AAF9}"/>
              </a:ext>
            </a:extLst>
          </p:cNvPr>
          <p:cNvSpPr/>
          <p:nvPr/>
        </p:nvSpPr>
        <p:spPr>
          <a:xfrm>
            <a:off x="12192000" y="-608036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BF552BE-2EA5-8B2C-16F6-55F354BCD422}"/>
              </a:ext>
            </a:extLst>
          </p:cNvPr>
          <p:cNvSpPr/>
          <p:nvPr/>
        </p:nvSpPr>
        <p:spPr>
          <a:xfrm>
            <a:off x="13529622" y="450322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 descr="A black smoke stack with a chimney&#10;&#10;AI-generated content may be incorrect.">
            <a:extLst>
              <a:ext uri="{FF2B5EF4-FFF2-40B4-BE49-F238E27FC236}">
                <a16:creationId xmlns:a16="http://schemas.microsoft.com/office/drawing/2014/main" id="{84095EBE-44B8-EBEE-AF49-302CC000C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5922" y="0"/>
            <a:ext cx="4570863" cy="10287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0C4E8B-204A-FC46-D069-B117B654502F}"/>
              </a:ext>
            </a:extLst>
          </p:cNvPr>
          <p:cNvSpPr txBox="1"/>
          <p:nvPr/>
        </p:nvSpPr>
        <p:spPr>
          <a:xfrm>
            <a:off x="4954156" y="5309451"/>
            <a:ext cx="11963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Air pollution in India remains a critical environmental and public health crisis, </a:t>
            </a:r>
          </a:p>
          <a:p>
            <a:r>
              <a:rPr lang="en-IN" sz="2800" b="1" dirty="0"/>
              <a:t>with PM2.5 levels exceeding safe limits across the country in 2025, driven by </a:t>
            </a:r>
          </a:p>
          <a:p>
            <a:r>
              <a:rPr lang="en-IN" sz="2800" b="1" dirty="0"/>
              <a:t>vehicular emissions, industrial activities, crop residue burning, and construction </a:t>
            </a:r>
          </a:p>
          <a:p>
            <a:r>
              <a:rPr lang="en-IN" sz="2800" b="1" dirty="0"/>
              <a:t>dust. Nine of the world's ten most polluted cities are in India, including Delhi, </a:t>
            </a:r>
          </a:p>
          <a:p>
            <a:r>
              <a:rPr lang="en-IN" sz="2800" b="1" dirty="0"/>
              <a:t>where winter pollution spikes push AQI into "severe" categories. In January 2025,</a:t>
            </a:r>
          </a:p>
          <a:p>
            <a:r>
              <a:rPr lang="en-IN" sz="2800" b="1" dirty="0"/>
              <a:t> cities like </a:t>
            </a:r>
            <a:r>
              <a:rPr lang="en-IN" sz="2800" b="1" dirty="0" err="1"/>
              <a:t>Byrnihat</a:t>
            </a:r>
            <a:r>
              <a:rPr lang="en-IN" sz="2800" b="1" dirty="0"/>
              <a:t> recorded PM2.5 averages of 214 µg/m³, far above national</a:t>
            </a:r>
          </a:p>
          <a:p>
            <a:r>
              <a:rPr lang="en-IN" sz="2800" b="1" dirty="0"/>
              <a:t> standards of 60 µg/m³.</a:t>
            </a:r>
            <a:endParaRPr lang="en-IN" sz="2800" dirty="0"/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9619FAD3-792A-11BF-2E9C-5BAEF7FF2180}"/>
              </a:ext>
            </a:extLst>
          </p:cNvPr>
          <p:cNvSpPr/>
          <p:nvPr/>
        </p:nvSpPr>
        <p:spPr>
          <a:xfrm>
            <a:off x="4687456" y="5143500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81D975EC-017D-A260-47F8-D7F1E907E52E}"/>
              </a:ext>
            </a:extLst>
          </p:cNvPr>
          <p:cNvSpPr/>
          <p:nvPr/>
        </p:nvSpPr>
        <p:spPr>
          <a:xfrm rot="10800000">
            <a:off x="16650856" y="8749695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7AA79-F51C-F157-5B69-FC49E57DCDA7}"/>
              </a:ext>
            </a:extLst>
          </p:cNvPr>
          <p:cNvSpPr txBox="1"/>
          <p:nvPr/>
        </p:nvSpPr>
        <p:spPr>
          <a:xfrm>
            <a:off x="4517410" y="3056651"/>
            <a:ext cx="67758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Agency FB" panose="020B0503020202020204" pitchFamily="34" charset="0"/>
              </a:rPr>
              <a:t>INTRODUCTION</a:t>
            </a:r>
            <a:endParaRPr lang="en-IN" sz="6000" b="1" dirty="0">
              <a:latin typeface="Agency FB" panose="020B0503020202020204" pitchFamily="34" charset="0"/>
            </a:endParaRPr>
          </a:p>
        </p:txBody>
      </p:sp>
      <p:pic>
        <p:nvPicPr>
          <p:cNvPr id="14" name="Picture 13" descr="A black background with a black letter x&#10;&#10;AI-generated content may be incorrect.">
            <a:extLst>
              <a:ext uri="{FF2B5EF4-FFF2-40B4-BE49-F238E27FC236}">
                <a16:creationId xmlns:a16="http://schemas.microsoft.com/office/drawing/2014/main" id="{C9D50848-A4B5-35EB-9B26-95888253E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70738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90C11-47D0-25AF-940A-D719ACF1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DDC32-F941-B43A-38B1-82C01D8C15FA}"/>
              </a:ext>
            </a:extLst>
          </p:cNvPr>
          <p:cNvSpPr txBox="1"/>
          <p:nvPr/>
        </p:nvSpPr>
        <p:spPr>
          <a:xfrm>
            <a:off x="4554941" y="5146671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7038534-63EC-C0DA-9871-A40CC90F04E9}"/>
              </a:ext>
            </a:extLst>
          </p:cNvPr>
          <p:cNvSpPr/>
          <p:nvPr/>
        </p:nvSpPr>
        <p:spPr>
          <a:xfrm>
            <a:off x="12192000" y="-608036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949F127-A852-F5FF-77CF-48055AC77F29}"/>
              </a:ext>
            </a:extLst>
          </p:cNvPr>
          <p:cNvSpPr/>
          <p:nvPr/>
        </p:nvSpPr>
        <p:spPr>
          <a:xfrm>
            <a:off x="13529622" y="450322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 descr="A black smoke stack with a chimney&#10;&#10;AI-generated content may be incorrect.">
            <a:extLst>
              <a:ext uri="{FF2B5EF4-FFF2-40B4-BE49-F238E27FC236}">
                <a16:creationId xmlns:a16="http://schemas.microsoft.com/office/drawing/2014/main" id="{99C13EE2-2848-DB39-07C1-BF3F300E7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5922" y="0"/>
            <a:ext cx="4570863" cy="10287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C6F481-4C4A-9239-A4AD-ED902A89CF02}"/>
              </a:ext>
            </a:extLst>
          </p:cNvPr>
          <p:cNvSpPr txBox="1"/>
          <p:nvPr/>
        </p:nvSpPr>
        <p:spPr>
          <a:xfrm>
            <a:off x="4925194" y="5721879"/>
            <a:ext cx="13286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Vehicular emissions contribute significantly, accounting for up to 67% of pollutants in cities like Delhi, exacerbated by poor fuel quality and traffic congestion. Industrial sources release </a:t>
            </a:r>
            <a:r>
              <a:rPr lang="en-IN" sz="2800" b="1" dirty="0" err="1"/>
              <a:t>sulfur</a:t>
            </a:r>
            <a:r>
              <a:rPr lang="en-IN" sz="2800" b="1" dirty="0"/>
              <a:t> dioxide and nitrogen oxides, while biomass burning and stubble burning in northern states add to PM levels; road dust alone contributes 37% in Delhi. In October 2025, Indo-Gangetic Plain cities saw sharp PM2.5 rises due to these baseline emissions.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FBE30-476D-5A6F-4E7C-D6F8D67EF57F}"/>
              </a:ext>
            </a:extLst>
          </p:cNvPr>
          <p:cNvSpPr txBox="1"/>
          <p:nvPr/>
        </p:nvSpPr>
        <p:spPr>
          <a:xfrm>
            <a:off x="4531057" y="3361245"/>
            <a:ext cx="53543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latin typeface="Agency FB" panose="020B0503020202020204" pitchFamily="34" charset="0"/>
              </a:rPr>
              <a:t>Major Causes</a:t>
            </a:r>
            <a:endParaRPr lang="en-IN" sz="8800" dirty="0">
              <a:latin typeface="Agency FB" panose="020B0503020202020204" pitchFamily="34" charset="0"/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92404D54-E1F0-3BEA-3D2D-3D837A481397}"/>
              </a:ext>
            </a:extLst>
          </p:cNvPr>
          <p:cNvSpPr/>
          <p:nvPr/>
        </p:nvSpPr>
        <p:spPr>
          <a:xfrm>
            <a:off x="4648200" y="5451427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768E9AA4-B116-8272-F58A-8E72CEDE20AB}"/>
              </a:ext>
            </a:extLst>
          </p:cNvPr>
          <p:cNvSpPr/>
          <p:nvPr/>
        </p:nvSpPr>
        <p:spPr>
          <a:xfrm rot="10800000">
            <a:off x="17678400" y="8056372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1" name="Picture 10" descr="A black background with a black letter x&#10;&#10;AI-generated content may be incorrect.">
            <a:extLst>
              <a:ext uri="{FF2B5EF4-FFF2-40B4-BE49-F238E27FC236}">
                <a16:creationId xmlns:a16="http://schemas.microsoft.com/office/drawing/2014/main" id="{D88DB872-E31B-D0CD-39B3-44B88B3E15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70738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7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A1BD-B19A-273F-7E23-EE3254034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2D6EBB-5D52-40B2-9565-2EE958D60BD6}"/>
              </a:ext>
            </a:extLst>
          </p:cNvPr>
          <p:cNvSpPr txBox="1"/>
          <p:nvPr/>
        </p:nvSpPr>
        <p:spPr>
          <a:xfrm>
            <a:off x="4572000" y="496229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FEC3E-642F-2CBB-C5EE-1CA04EFAEFF7}"/>
              </a:ext>
            </a:extLst>
          </p:cNvPr>
          <p:cNvSpPr txBox="1"/>
          <p:nvPr/>
        </p:nvSpPr>
        <p:spPr>
          <a:xfrm>
            <a:off x="4572000" y="496229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8448797-1D36-3B5C-F089-9A4CC0BB4138}"/>
              </a:ext>
            </a:extLst>
          </p:cNvPr>
          <p:cNvSpPr/>
          <p:nvPr/>
        </p:nvSpPr>
        <p:spPr>
          <a:xfrm>
            <a:off x="12192000" y="-608036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BE1F152-A3B9-9DD4-AA36-87B69DEEB190}"/>
              </a:ext>
            </a:extLst>
          </p:cNvPr>
          <p:cNvSpPr/>
          <p:nvPr/>
        </p:nvSpPr>
        <p:spPr>
          <a:xfrm>
            <a:off x="13529622" y="450322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 descr="A black smoke stack with a chimney&#10;&#10;AI-generated content may be incorrect.">
            <a:extLst>
              <a:ext uri="{FF2B5EF4-FFF2-40B4-BE49-F238E27FC236}">
                <a16:creationId xmlns:a16="http://schemas.microsoft.com/office/drawing/2014/main" id="{C46F0F5F-08AB-9B4D-A4EB-A58FFC228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5922" y="0"/>
            <a:ext cx="4570863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D03389-F8D4-9EB0-6449-29044DDBA50A}"/>
              </a:ext>
            </a:extLst>
          </p:cNvPr>
          <p:cNvSpPr txBox="1"/>
          <p:nvPr/>
        </p:nvSpPr>
        <p:spPr>
          <a:xfrm>
            <a:off x="4876800" y="5721879"/>
            <a:ext cx="13286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Air pollution causes respiratory diseases, cardiovascular issues, and premature deaths, with lung diseases comprising 39.5% of disability-adjusted life years (DALYs) lost in 2019. It shortens life expectancy by up to 8.2 years in Delhi and affects 544 million people nationwide. Economically, it led to $36.8 billion in losses (1.36% of GDP) in 2019 from morbidity and mortality, with northern states like Uttar Pradesh hit hardest at 2.2% of state GDP.</a:t>
            </a:r>
            <a:endParaRPr lang="en-IN" sz="4000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05E74D34-A8E5-D756-3328-129A3B7B56B1}"/>
              </a:ext>
            </a:extLst>
          </p:cNvPr>
          <p:cNvSpPr/>
          <p:nvPr/>
        </p:nvSpPr>
        <p:spPr>
          <a:xfrm>
            <a:off x="4648200" y="5527627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03E9D8DD-1CB1-7A3B-6214-FABF3A9B1B9D}"/>
              </a:ext>
            </a:extLst>
          </p:cNvPr>
          <p:cNvSpPr/>
          <p:nvPr/>
        </p:nvSpPr>
        <p:spPr>
          <a:xfrm rot="10800000">
            <a:off x="17678400" y="8056372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DF8140-44EB-562F-BF3A-88D60C6FB2B1}"/>
              </a:ext>
            </a:extLst>
          </p:cNvPr>
          <p:cNvSpPr txBox="1"/>
          <p:nvPr/>
        </p:nvSpPr>
        <p:spPr>
          <a:xfrm>
            <a:off x="4518547" y="3933585"/>
            <a:ext cx="78181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b="1" dirty="0">
                <a:latin typeface="Agency FB" panose="020B0503020202020204" pitchFamily="34" charset="0"/>
              </a:rPr>
              <a:t>Health and Economic Impacts</a:t>
            </a:r>
            <a:endParaRPr lang="en-IN" sz="6000" dirty="0">
              <a:latin typeface="Agency FB" panose="020B0503020202020204" pitchFamily="34" charset="0"/>
            </a:endParaRPr>
          </a:p>
        </p:txBody>
      </p:sp>
      <p:pic>
        <p:nvPicPr>
          <p:cNvPr id="12" name="Picture 11" descr="A black background with a black letter x&#10;&#10;AI-generated content may be incorrect.">
            <a:extLst>
              <a:ext uri="{FF2B5EF4-FFF2-40B4-BE49-F238E27FC236}">
                <a16:creationId xmlns:a16="http://schemas.microsoft.com/office/drawing/2014/main" id="{CC0DBBEE-76C2-6DD3-46E4-CBA1EB2BA6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70738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4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654E-CEB2-009D-1D8E-6F23BDEF4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6FBD25-5FCA-B989-B16F-16BE63FB2AEB}"/>
              </a:ext>
            </a:extLst>
          </p:cNvPr>
          <p:cNvSpPr txBox="1"/>
          <p:nvPr/>
        </p:nvSpPr>
        <p:spPr>
          <a:xfrm>
            <a:off x="4572000" y="496229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9F4C3-10CE-2736-2159-84AE32E93768}"/>
              </a:ext>
            </a:extLst>
          </p:cNvPr>
          <p:cNvSpPr txBox="1"/>
          <p:nvPr/>
        </p:nvSpPr>
        <p:spPr>
          <a:xfrm>
            <a:off x="4572000" y="496229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15E77D2-5A79-E65C-4DDA-42EB3056A6EF}"/>
              </a:ext>
            </a:extLst>
          </p:cNvPr>
          <p:cNvSpPr/>
          <p:nvPr/>
        </p:nvSpPr>
        <p:spPr>
          <a:xfrm>
            <a:off x="12192000" y="-608036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1E6A9D1-E98E-C092-3295-3E8C71DE6391}"/>
              </a:ext>
            </a:extLst>
          </p:cNvPr>
          <p:cNvSpPr/>
          <p:nvPr/>
        </p:nvSpPr>
        <p:spPr>
          <a:xfrm>
            <a:off x="13529622" y="450322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 descr="A black smoke stack with a chimney&#10;&#10;AI-generated content may be incorrect.">
            <a:extLst>
              <a:ext uri="{FF2B5EF4-FFF2-40B4-BE49-F238E27FC236}">
                <a16:creationId xmlns:a16="http://schemas.microsoft.com/office/drawing/2014/main" id="{018A16A7-84A5-8C1F-D51C-78A573C49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5922" y="0"/>
            <a:ext cx="4570863" cy="10287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DE655F-7E88-FE16-A9C1-8FB9DE581B66}"/>
              </a:ext>
            </a:extLst>
          </p:cNvPr>
          <p:cNvSpPr txBox="1"/>
          <p:nvPr/>
        </p:nvSpPr>
        <p:spPr>
          <a:xfrm>
            <a:off x="4554941" y="816336"/>
            <a:ext cx="46041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>
                <a:latin typeface="Agency FB" panose="020B0503020202020204" pitchFamily="34" charset="0"/>
              </a:rPr>
              <a:t>Prevention </a:t>
            </a:r>
            <a:endParaRPr lang="en-IN" sz="8800" dirty="0">
              <a:latin typeface="Agency FB" panose="020B05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DDAA0-99D6-3CFD-4727-AC5B3AFB6012}"/>
              </a:ext>
            </a:extLst>
          </p:cNvPr>
          <p:cNvSpPr txBox="1"/>
          <p:nvPr/>
        </p:nvSpPr>
        <p:spPr>
          <a:xfrm>
            <a:off x="5001394" y="2357708"/>
            <a:ext cx="13286606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Transportation Choices:</a:t>
            </a:r>
          </a:p>
          <a:p>
            <a:r>
              <a:rPr lang="en-US" sz="2400" b="1" dirty="0"/>
              <a:t>Use public transport, carpool, bike, or walk for short trips to cut vehicle emissions, a leading pollution source. Avoid idling engines and combine errands into fewer trips. Maintain vehicles with proper tire inflation and tune-ups to reduce exhaust.​</a:t>
            </a:r>
          </a:p>
          <a:p>
            <a:r>
              <a:rPr lang="en-US" sz="2800" b="1" dirty="0">
                <a:latin typeface="Arial Black" panose="020B0A04020102020204" pitchFamily="34" charset="0"/>
              </a:rPr>
              <a:t>Energy Conservation:</a:t>
            </a:r>
          </a:p>
          <a:p>
            <a:r>
              <a:rPr lang="en-US" sz="2400" b="1" dirty="0"/>
              <a:t>Turn off lights and unused appliances to lower power plant emissions from fossil fuels. </a:t>
            </a:r>
            <a:r>
              <a:rPr lang="en-US" sz="2400" b="1" dirty="0" err="1"/>
              <a:t>Opt</a:t>
            </a:r>
            <a:r>
              <a:rPr lang="en-US" sz="2400" b="1" dirty="0"/>
              <a:t> for energy-efficient appliances, ENERGY STAR products, and insulation. Use fans over air conditioners and refuel cars in the evening during high-ozone seasons.​</a:t>
            </a:r>
          </a:p>
          <a:p>
            <a:r>
              <a:rPr lang="en-US" sz="2800" b="1" dirty="0">
                <a:latin typeface="Arial Black" panose="020B0A04020102020204" pitchFamily="34" charset="0"/>
              </a:rPr>
              <a:t>Waste and Lawn Practices:</a:t>
            </a:r>
          </a:p>
          <a:p>
            <a:r>
              <a:rPr lang="en-US" sz="2400" b="1" dirty="0"/>
              <a:t>Avoid burning trash, leaves, or garbage, which releases harmful particles; mulch or compost instead. Switch to electric or hand-powered lawn tools over gas ones for lower emissions. Recycle and reuse to cut manufacturing pollution.​</a:t>
            </a:r>
          </a:p>
          <a:p>
            <a:r>
              <a:rPr lang="en-US" sz="2800" b="1" dirty="0">
                <a:latin typeface="Arial Black" panose="020B0A04020102020204" pitchFamily="34" charset="0"/>
              </a:rPr>
              <a:t>Greening Efforts:</a:t>
            </a:r>
          </a:p>
          <a:p>
            <a:r>
              <a:rPr lang="en-US" sz="2400" b="1" dirty="0"/>
              <a:t>Plant trees, which absorb pollutants like CO2 and release oxygen, aligning with healthy spacing of 400-1,000 per acre. Support afforestation and care for green spaces. Avoid firecrackers, plastics, and smoking to prevent additional releases.​</a:t>
            </a:r>
          </a:p>
          <a:p>
            <a:r>
              <a:rPr lang="en-US" sz="2800" b="1" dirty="0">
                <a:latin typeface="Arial Black" panose="020B0A04020102020204" pitchFamily="34" charset="0"/>
              </a:rPr>
              <a:t>Broader Actions:</a:t>
            </a:r>
          </a:p>
          <a:p>
            <a:r>
              <a:rPr lang="en-US" sz="2400" b="1" dirty="0"/>
              <a:t>Use chimney filters in homes and factories, low-VOC paints, and cloth bags over plastic. Advocate for clean air programs and check daily forecasts like </a:t>
            </a:r>
            <a:r>
              <a:rPr lang="en-US" sz="2400" b="1" dirty="0" err="1"/>
              <a:t>SmogWatch</a:t>
            </a:r>
            <a:r>
              <a:rPr lang="en-US" sz="2400" b="1" dirty="0"/>
              <a:t>, especially in areas like Indiana or India. Transition to renewables and EVs where feasible.</a:t>
            </a: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CF2224F8-FC34-38B7-B48E-6105F23E0173}"/>
              </a:ext>
            </a:extLst>
          </p:cNvPr>
          <p:cNvSpPr/>
          <p:nvPr/>
        </p:nvSpPr>
        <p:spPr>
          <a:xfrm>
            <a:off x="4781783" y="2129788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8D41358B-0E13-94D4-990A-B8268FE74A3D}"/>
              </a:ext>
            </a:extLst>
          </p:cNvPr>
          <p:cNvSpPr/>
          <p:nvPr/>
        </p:nvSpPr>
        <p:spPr>
          <a:xfrm rot="10800000">
            <a:off x="17678400" y="9647449"/>
            <a:ext cx="533400" cy="530273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2" name="Picture 11" descr="A black background with a black letter x&#10;&#10;AI-generated content may be incorrect.">
            <a:extLst>
              <a:ext uri="{FF2B5EF4-FFF2-40B4-BE49-F238E27FC236}">
                <a16:creationId xmlns:a16="http://schemas.microsoft.com/office/drawing/2014/main" id="{2757C9D1-2B9C-F916-F2B7-05FB7F092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1366" y="0"/>
            <a:ext cx="2780046" cy="278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85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8805-2981-389C-2279-34DC176C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FC178-F815-725C-3AF0-D90AAE92799B}"/>
              </a:ext>
            </a:extLst>
          </p:cNvPr>
          <p:cNvSpPr txBox="1"/>
          <p:nvPr/>
        </p:nvSpPr>
        <p:spPr>
          <a:xfrm>
            <a:off x="4572000" y="496229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7A0F1-96BE-F7BC-2CCD-FB62E025D260}"/>
              </a:ext>
            </a:extLst>
          </p:cNvPr>
          <p:cNvSpPr txBox="1"/>
          <p:nvPr/>
        </p:nvSpPr>
        <p:spPr>
          <a:xfrm>
            <a:off x="4572000" y="496229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DA02926-57AF-5A58-4F4A-63179514EA7B}"/>
              </a:ext>
            </a:extLst>
          </p:cNvPr>
          <p:cNvSpPr/>
          <p:nvPr/>
        </p:nvSpPr>
        <p:spPr>
          <a:xfrm>
            <a:off x="12192000" y="-608036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6CEE4CF-6160-B9D3-AEC3-2EEEF1C211E5}"/>
              </a:ext>
            </a:extLst>
          </p:cNvPr>
          <p:cNvSpPr/>
          <p:nvPr/>
        </p:nvSpPr>
        <p:spPr>
          <a:xfrm>
            <a:off x="13529622" y="450322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 descr="A black smoke stack with a chimney&#10;&#10;AI-generated content may be incorrect.">
            <a:extLst>
              <a:ext uri="{FF2B5EF4-FFF2-40B4-BE49-F238E27FC236}">
                <a16:creationId xmlns:a16="http://schemas.microsoft.com/office/drawing/2014/main" id="{B0CB18E8-BFF7-74D1-FA46-19ABC50BDB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5922" y="0"/>
            <a:ext cx="4570863" cy="10287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B861EF-2607-01E2-2693-98B95445AA60}"/>
              </a:ext>
            </a:extLst>
          </p:cNvPr>
          <p:cNvSpPr txBox="1"/>
          <p:nvPr/>
        </p:nvSpPr>
        <p:spPr>
          <a:xfrm>
            <a:off x="10863296" y="7115325"/>
            <a:ext cx="57054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spc="600" dirty="0">
                <a:latin typeface="Agency FB" panose="020B0503020202020204" pitchFamily="34" charset="0"/>
              </a:rPr>
              <a:t>Thank You ! </a:t>
            </a:r>
            <a:endParaRPr lang="en-IN" sz="8800" spc="600" dirty="0">
              <a:latin typeface="Agency FB" panose="020B0503020202020204" pitchFamily="34" charset="0"/>
            </a:endParaRPr>
          </a:p>
        </p:txBody>
      </p:sp>
      <p:pic>
        <p:nvPicPr>
          <p:cNvPr id="12" name="Picture 11" descr="A silhouette of a person with his fist in his mouth&#10;&#10;AI-generated content may be incorrect.">
            <a:extLst>
              <a:ext uri="{FF2B5EF4-FFF2-40B4-BE49-F238E27FC236}">
                <a16:creationId xmlns:a16="http://schemas.microsoft.com/office/drawing/2014/main" id="{62F02041-7E72-13BA-C6A2-AC3F1D3208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395603"/>
            <a:ext cx="5928360" cy="5928360"/>
          </a:xfrm>
          <a:prstGeom prst="rect">
            <a:avLst/>
          </a:prstGeom>
        </p:spPr>
      </p:pic>
      <p:pic>
        <p:nvPicPr>
          <p:cNvPr id="13" name="Picture 12" descr="A black background with a black letter x&#10;&#10;AI-generated content may be incorrect.">
            <a:extLst>
              <a:ext uri="{FF2B5EF4-FFF2-40B4-BE49-F238E27FC236}">
                <a16:creationId xmlns:a16="http://schemas.microsoft.com/office/drawing/2014/main" id="{3CE54A13-6112-A241-B8B0-30782C4719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70738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24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517</Words>
  <Application>Microsoft Office PowerPoint</Application>
  <PresentationFormat>Custom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 Black</vt:lpstr>
      <vt:lpstr>Agency FB</vt:lpstr>
      <vt:lpstr>Berlin Sans FB Demi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ABIJITH</dc:creator>
  <cp:lastModifiedBy>Abijith 801</cp:lastModifiedBy>
  <cp:revision>3</cp:revision>
  <dcterms:created xsi:type="dcterms:W3CDTF">2006-08-16T00:00:00Z</dcterms:created>
  <dcterms:modified xsi:type="dcterms:W3CDTF">2025-12-07T13:59:18Z</dcterms:modified>
  <dc:identifier>DAG61T0Wn0w</dc:identifier>
</cp:coreProperties>
</file>