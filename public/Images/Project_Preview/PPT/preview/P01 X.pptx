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2" r:id="rId5"/>
    <p:sldId id="259" r:id="rId6"/>
    <p:sldId id="263" r:id="rId7"/>
    <p:sldId id="265" r:id="rId8"/>
    <p:sldId id="264" r:id="rId9"/>
    <p:sldId id="266" r:id="rId10"/>
    <p:sldId id="261" r:id="rId11"/>
  </p:sldIdLst>
  <p:sldSz cx="18288000" cy="10287000"/>
  <p:notesSz cx="6858000" cy="9144000"/>
  <p:embeddedFontLst>
    <p:embeddedFont>
      <p:font typeface="Bahnschrift Condensed" panose="020B0502040204020203" pitchFamily="34" charset="0"/>
      <p:regular r:id="rId13"/>
      <p:bold r:id="rId14"/>
    </p:embeddedFont>
    <p:embeddedFont>
      <p:font typeface="BankGothic Md BT" panose="020B0807020203060204" pitchFamily="34" charset="0"/>
      <p:regular r:id="rId15"/>
    </p:embeddedFont>
    <p:embeddedFont>
      <p:font typeface="Now Light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35666"/>
    <a:srgbClr val="502366"/>
    <a:srgbClr val="21E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01A027-49BD-429C-8E81-6F28AFD56E8A}" type="datetimeFigureOut">
              <a:rPr lang="en-IN" smtClean="0"/>
              <a:t>31-03-2026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0BCE58-5348-4C78-96AA-5390F212B4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776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219200" y="-1028700"/>
            <a:ext cx="7895648" cy="11897552"/>
          </a:xfrm>
          <a:custGeom>
            <a:avLst/>
            <a:gdLst/>
            <a:ahLst/>
            <a:cxnLst/>
            <a:rect l="l" t="t" r="r" b="b"/>
            <a:pathLst>
              <a:path w="7895648" h="11897552">
                <a:moveTo>
                  <a:pt x="0" y="0"/>
                </a:moveTo>
                <a:lnTo>
                  <a:pt x="7895648" y="0"/>
                </a:lnTo>
                <a:lnTo>
                  <a:pt x="7895648" y="11897552"/>
                </a:lnTo>
                <a:lnTo>
                  <a:pt x="0" y="11897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EA22F6-57A6-56B6-6153-874DA8FC272D}"/>
              </a:ext>
            </a:extLst>
          </p:cNvPr>
          <p:cNvSpPr txBox="1"/>
          <p:nvPr/>
        </p:nvSpPr>
        <p:spPr>
          <a:xfrm>
            <a:off x="7696200" y="-266700"/>
            <a:ext cx="8686800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0" dirty="0">
                <a:solidFill>
                  <a:schemeClr val="bg1"/>
                </a:solidFill>
                <a:latin typeface="Bahnschrift Condensed" panose="020B0502040204020203" pitchFamily="34" charset="0"/>
              </a:rPr>
              <a:t>Impact of Coding in Automobiles</a:t>
            </a:r>
            <a:endParaRPr lang="en-IN" sz="15000" dirty="0">
              <a:solidFill>
                <a:schemeClr val="bg1"/>
              </a:solidFill>
              <a:latin typeface="Bahnschrift Condensed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763AA70-0F3A-A0ED-69FF-8804BBDE0D3F}"/>
              </a:ext>
            </a:extLst>
          </p:cNvPr>
          <p:cNvCxnSpPr/>
          <p:nvPr/>
        </p:nvCxnSpPr>
        <p:spPr>
          <a:xfrm>
            <a:off x="14020800" y="7886700"/>
            <a:ext cx="5334000" cy="0"/>
          </a:xfrm>
          <a:prstGeom prst="line">
            <a:avLst/>
          </a:prstGeom>
          <a:ln>
            <a:solidFill>
              <a:srgbClr val="502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C706DCD-E8F8-D1D9-244E-216AA4E2CC50}"/>
              </a:ext>
            </a:extLst>
          </p:cNvPr>
          <p:cNvCxnSpPr>
            <a:cxnSpLocks/>
          </p:cNvCxnSpPr>
          <p:nvPr/>
        </p:nvCxnSpPr>
        <p:spPr>
          <a:xfrm>
            <a:off x="14284036" y="7581900"/>
            <a:ext cx="0" cy="3886200"/>
          </a:xfrm>
          <a:prstGeom prst="line">
            <a:avLst/>
          </a:prstGeom>
          <a:ln>
            <a:solidFill>
              <a:srgbClr val="502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E1C7755-FB11-C082-279F-29E90C0E2634}"/>
              </a:ext>
            </a:extLst>
          </p:cNvPr>
          <p:cNvCxnSpPr/>
          <p:nvPr/>
        </p:nvCxnSpPr>
        <p:spPr>
          <a:xfrm>
            <a:off x="14097000" y="7945582"/>
            <a:ext cx="5334000" cy="0"/>
          </a:xfrm>
          <a:prstGeom prst="line">
            <a:avLst/>
          </a:prstGeom>
          <a:ln>
            <a:solidFill>
              <a:srgbClr val="135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36F61D-2ADC-1B8E-E878-CFDB1FA3A10F}"/>
              </a:ext>
            </a:extLst>
          </p:cNvPr>
          <p:cNvCxnSpPr>
            <a:cxnSpLocks/>
          </p:cNvCxnSpPr>
          <p:nvPr/>
        </p:nvCxnSpPr>
        <p:spPr>
          <a:xfrm>
            <a:off x="14360236" y="7640782"/>
            <a:ext cx="0" cy="3886200"/>
          </a:xfrm>
          <a:prstGeom prst="line">
            <a:avLst/>
          </a:prstGeom>
          <a:ln>
            <a:solidFill>
              <a:srgbClr val="135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478EBBCD-F5B9-B1DF-2811-E9225A1778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7350" y="0"/>
            <a:ext cx="1390650" cy="1390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-471265" y="-805276"/>
            <a:ext cx="7895648" cy="11897552"/>
          </a:xfrm>
          <a:custGeom>
            <a:avLst/>
            <a:gdLst/>
            <a:ahLst/>
            <a:cxnLst/>
            <a:rect l="l" t="t" r="r" b="b"/>
            <a:pathLst>
              <a:path w="7895648" h="11897552">
                <a:moveTo>
                  <a:pt x="0" y="0"/>
                </a:moveTo>
                <a:lnTo>
                  <a:pt x="7895648" y="0"/>
                </a:lnTo>
                <a:lnTo>
                  <a:pt x="7895648" y="11897551"/>
                </a:lnTo>
                <a:lnTo>
                  <a:pt x="0" y="118975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216C93-08BB-BB86-0E77-6666236F7B62}"/>
              </a:ext>
            </a:extLst>
          </p:cNvPr>
          <p:cNvSpPr txBox="1"/>
          <p:nvPr/>
        </p:nvSpPr>
        <p:spPr>
          <a:xfrm>
            <a:off x="8458200" y="800100"/>
            <a:ext cx="967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  <a:latin typeface="BankGothic Md BT" panose="020B0807020203060204" pitchFamily="34" charset="0"/>
              </a:rPr>
              <a:t>Table of content</a:t>
            </a:r>
            <a:endParaRPr lang="en-IN" sz="7200" dirty="0">
              <a:solidFill>
                <a:schemeClr val="bg1"/>
              </a:solidFill>
              <a:latin typeface="BankGothic Md BT" panose="020B080702020306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074DA8B-490D-E85C-7B20-09CFCD77F78F}"/>
              </a:ext>
            </a:extLst>
          </p:cNvPr>
          <p:cNvCxnSpPr/>
          <p:nvPr/>
        </p:nvCxnSpPr>
        <p:spPr>
          <a:xfrm>
            <a:off x="7239000" y="1028700"/>
            <a:ext cx="10058400" cy="0"/>
          </a:xfrm>
          <a:prstGeom prst="line">
            <a:avLst/>
          </a:prstGeom>
          <a:ln>
            <a:solidFill>
              <a:srgbClr val="502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243762-ADD2-88B5-1BCA-75867D8C1AB9}"/>
              </a:ext>
            </a:extLst>
          </p:cNvPr>
          <p:cNvCxnSpPr/>
          <p:nvPr/>
        </p:nvCxnSpPr>
        <p:spPr>
          <a:xfrm>
            <a:off x="8267700" y="1902051"/>
            <a:ext cx="10058400" cy="0"/>
          </a:xfrm>
          <a:prstGeom prst="line">
            <a:avLst/>
          </a:prstGeom>
          <a:ln>
            <a:solidFill>
              <a:srgbClr val="135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7187457-138B-CE6A-A6FB-9C81748567D2}"/>
              </a:ext>
            </a:extLst>
          </p:cNvPr>
          <p:cNvSpPr txBox="1"/>
          <p:nvPr/>
        </p:nvSpPr>
        <p:spPr>
          <a:xfrm>
            <a:off x="8290446" y="2933700"/>
            <a:ext cx="73152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INTRODUCTION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latin typeface="BankGothic Md BT" panose="020B080702020306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OBJECTIVE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latin typeface="BankGothic Md BT" panose="020B080702020306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OVERVIEW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latin typeface="BankGothic Md BT" panose="020B080702020306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FRAMEWORK</a:t>
            </a:r>
            <a:b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</a:br>
            <a:endParaRPr lang="en-US" sz="3200" dirty="0">
              <a:solidFill>
                <a:schemeClr val="bg1"/>
              </a:solidFill>
              <a:latin typeface="BankGothic Md BT" panose="020B080702020306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CHALLENGES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bg1"/>
              </a:solidFill>
              <a:latin typeface="BankGothic Md BT" panose="020B080702020306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CONCLUSION</a:t>
            </a:r>
            <a:b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</a:br>
            <a:endParaRPr lang="en-US" sz="3200" dirty="0">
              <a:solidFill>
                <a:schemeClr val="bg1"/>
              </a:solidFill>
              <a:latin typeface="BankGothic Md BT" panose="020B080702020306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REFERENCE</a:t>
            </a:r>
            <a:b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</a:br>
            <a:endParaRPr lang="en-IN" sz="3200" dirty="0">
              <a:solidFill>
                <a:schemeClr val="bg1"/>
              </a:solidFill>
              <a:latin typeface="BankGothic Md BT" panose="020B080702020306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EE53C9-89D6-6AE6-341C-E180534F528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7350" y="0"/>
            <a:ext cx="1390650" cy="13906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5400000">
            <a:off x="13654895" y="2458019"/>
            <a:ext cx="7895648" cy="11897552"/>
          </a:xfrm>
          <a:custGeom>
            <a:avLst/>
            <a:gdLst/>
            <a:ahLst/>
            <a:cxnLst/>
            <a:rect l="l" t="t" r="r" b="b"/>
            <a:pathLst>
              <a:path w="7895648" h="11897552">
                <a:moveTo>
                  <a:pt x="0" y="0"/>
                </a:moveTo>
                <a:lnTo>
                  <a:pt x="7895648" y="0"/>
                </a:lnTo>
                <a:lnTo>
                  <a:pt x="7895648" y="11897552"/>
                </a:lnTo>
                <a:lnTo>
                  <a:pt x="0" y="11897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B690E5-B78A-533C-9669-7489FBBEBEEE}"/>
              </a:ext>
            </a:extLst>
          </p:cNvPr>
          <p:cNvSpPr txBox="1"/>
          <p:nvPr/>
        </p:nvSpPr>
        <p:spPr>
          <a:xfrm>
            <a:off x="6400800" y="10391"/>
            <a:ext cx="11582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>
                <a:solidFill>
                  <a:schemeClr val="bg1"/>
                </a:solidFill>
                <a:latin typeface="BankGothic Md BT" panose="020B0807020203060204" pitchFamily="34" charset="0"/>
              </a:rPr>
              <a:t>INTRODUCTION</a:t>
            </a:r>
            <a:endParaRPr lang="en-IN" sz="9600" dirty="0">
              <a:solidFill>
                <a:schemeClr val="bg1"/>
              </a:solidFill>
              <a:latin typeface="BankGothic Md BT" panose="020B080702020306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B7B25B1-E2F4-92A5-9436-3C615740FC29}"/>
              </a:ext>
            </a:extLst>
          </p:cNvPr>
          <p:cNvCxnSpPr/>
          <p:nvPr/>
        </p:nvCxnSpPr>
        <p:spPr>
          <a:xfrm>
            <a:off x="4911436" y="266700"/>
            <a:ext cx="10058400" cy="0"/>
          </a:xfrm>
          <a:prstGeom prst="line">
            <a:avLst/>
          </a:prstGeom>
          <a:ln>
            <a:solidFill>
              <a:srgbClr val="502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147E5A4-10F2-B5D4-0B25-7A0EF43D1779}"/>
              </a:ext>
            </a:extLst>
          </p:cNvPr>
          <p:cNvCxnSpPr/>
          <p:nvPr/>
        </p:nvCxnSpPr>
        <p:spPr>
          <a:xfrm>
            <a:off x="8229600" y="1562100"/>
            <a:ext cx="10058400" cy="0"/>
          </a:xfrm>
          <a:prstGeom prst="line">
            <a:avLst/>
          </a:prstGeom>
          <a:ln>
            <a:solidFill>
              <a:srgbClr val="135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A762BF9-2A1B-4A48-ED75-3DDBE0840C17}"/>
              </a:ext>
            </a:extLst>
          </p:cNvPr>
          <p:cNvSpPr txBox="1"/>
          <p:nvPr/>
        </p:nvSpPr>
        <p:spPr>
          <a:xfrm>
            <a:off x="533400" y="2084070"/>
            <a:ext cx="99822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Coding has transformed automobiles from mechanical systems into software-defined vehicles with over </a:t>
            </a:r>
            <a:r>
              <a:rPr lang="en-US" sz="3200" dirty="0">
                <a:solidFill>
                  <a:srgbClr val="21E1FF"/>
                </a:solidFill>
                <a:latin typeface="BankGothic Md BT" panose="020B0807020203060204" pitchFamily="34" charset="0"/>
              </a:rPr>
              <a:t>100</a:t>
            </a: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 million lines of code per car, enabling features like </a:t>
            </a:r>
            <a:r>
              <a:rPr lang="en-US" sz="3200" dirty="0">
                <a:solidFill>
                  <a:srgbClr val="21E1FF"/>
                </a:solidFill>
                <a:latin typeface="BankGothic Md BT" panose="020B0807020203060204" pitchFamily="34" charset="0"/>
              </a:rPr>
              <a:t>ADAS</a:t>
            </a: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, infotainment, and </a:t>
            </a:r>
            <a:r>
              <a:rPr lang="en-US" sz="3200" dirty="0">
                <a:solidFill>
                  <a:srgbClr val="21E1FF"/>
                </a:solidFill>
                <a:latin typeface="BankGothic Md BT" panose="020B0807020203060204" pitchFamily="34" charset="0"/>
              </a:rPr>
              <a:t>OTA</a:t>
            </a: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 updates. This study highlights its importance for safety, efficiency, and innovation amid electrification and autonomy trends. The context focuses on a real-world case of </a:t>
            </a:r>
            <a:r>
              <a:rPr lang="en-US" sz="3200" dirty="0">
                <a:solidFill>
                  <a:srgbClr val="21E1FF"/>
                </a:solidFill>
                <a:latin typeface="BankGothic Md BT" panose="020B0807020203060204" pitchFamily="34" charset="0"/>
              </a:rPr>
              <a:t>AUTOSAR</a:t>
            </a: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 software integration in powertrain for autonomous vehicles.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419891-E145-2666-ABD2-F33D7A86D4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7350" y="0"/>
            <a:ext cx="1390650" cy="1390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EB55CE-86CC-87B9-4906-9D035D3B7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2F9B580-D882-C2F3-F9EA-319B63FE49A2}"/>
              </a:ext>
            </a:extLst>
          </p:cNvPr>
          <p:cNvSpPr/>
          <p:nvPr/>
        </p:nvSpPr>
        <p:spPr>
          <a:xfrm rot="-5400000">
            <a:off x="13654895" y="2458019"/>
            <a:ext cx="7895648" cy="11897552"/>
          </a:xfrm>
          <a:custGeom>
            <a:avLst/>
            <a:gdLst/>
            <a:ahLst/>
            <a:cxnLst/>
            <a:rect l="l" t="t" r="r" b="b"/>
            <a:pathLst>
              <a:path w="7895648" h="11897552">
                <a:moveTo>
                  <a:pt x="0" y="0"/>
                </a:moveTo>
                <a:lnTo>
                  <a:pt x="7895648" y="0"/>
                </a:lnTo>
                <a:lnTo>
                  <a:pt x="7895648" y="11897552"/>
                </a:lnTo>
                <a:lnTo>
                  <a:pt x="0" y="11897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E77CDC-5ED4-6136-8BAB-3831ECDFDD12}"/>
              </a:ext>
            </a:extLst>
          </p:cNvPr>
          <p:cNvSpPr txBox="1"/>
          <p:nvPr/>
        </p:nvSpPr>
        <p:spPr>
          <a:xfrm>
            <a:off x="5486400" y="10391"/>
            <a:ext cx="12496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dirty="0">
                <a:solidFill>
                  <a:schemeClr val="bg1"/>
                </a:solidFill>
                <a:latin typeface="BankGothic Md BT" panose="020B0807020203060204" pitchFamily="34" charset="0"/>
              </a:rPr>
              <a:t>Objectives of the Study</a:t>
            </a:r>
            <a:endParaRPr lang="en-IN" sz="9600" dirty="0">
              <a:solidFill>
                <a:schemeClr val="bg1"/>
              </a:solidFill>
              <a:latin typeface="BankGothic Md BT" panose="020B080702020306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5BBC4A9-B3A2-3A26-BA1C-50B7421CAB4E}"/>
              </a:ext>
            </a:extLst>
          </p:cNvPr>
          <p:cNvCxnSpPr/>
          <p:nvPr/>
        </p:nvCxnSpPr>
        <p:spPr>
          <a:xfrm>
            <a:off x="4911436" y="266700"/>
            <a:ext cx="10058400" cy="0"/>
          </a:xfrm>
          <a:prstGeom prst="line">
            <a:avLst/>
          </a:prstGeom>
          <a:ln>
            <a:solidFill>
              <a:srgbClr val="502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E6D953D-EB99-D916-AF9C-61EF923CBB73}"/>
              </a:ext>
            </a:extLst>
          </p:cNvPr>
          <p:cNvCxnSpPr/>
          <p:nvPr/>
        </p:nvCxnSpPr>
        <p:spPr>
          <a:xfrm>
            <a:off x="11963400" y="3057379"/>
            <a:ext cx="10058400" cy="0"/>
          </a:xfrm>
          <a:prstGeom prst="line">
            <a:avLst/>
          </a:prstGeom>
          <a:ln>
            <a:solidFill>
              <a:srgbClr val="135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7E509F5-1571-6DAE-8978-A81845EFA6DD}"/>
              </a:ext>
            </a:extLst>
          </p:cNvPr>
          <p:cNvSpPr txBox="1"/>
          <p:nvPr/>
        </p:nvSpPr>
        <p:spPr>
          <a:xfrm>
            <a:off x="533400" y="2084070"/>
            <a:ext cx="99822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To examine coding's role in automotive</a:t>
            </a:r>
          </a:p>
          <a:p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 embedded systems and real-time control.</a:t>
            </a:r>
          </a:p>
          <a:p>
            <a:endParaRPr lang="en-US" sz="3200" dirty="0">
              <a:solidFill>
                <a:schemeClr val="bg1"/>
              </a:solidFill>
              <a:latin typeface="BankGothic Md BT" panose="020B0807020203060204" pitchFamily="34" charset="0"/>
            </a:endParaRPr>
          </a:p>
          <a:p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2. To analyze a case study on </a:t>
            </a:r>
            <a:r>
              <a:rPr lang="en-US" sz="3200" dirty="0">
                <a:solidFill>
                  <a:srgbClr val="21E1FF"/>
                </a:solidFill>
                <a:latin typeface="BankGothic Md BT" panose="020B0807020203060204" pitchFamily="34" charset="0"/>
              </a:rPr>
              <a:t>AUTOSAR</a:t>
            </a:r>
          </a:p>
          <a:p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 stack integration for powertrain and</a:t>
            </a:r>
          </a:p>
          <a:p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 </a:t>
            </a:r>
            <a:r>
              <a:rPr lang="en-US" sz="3200" dirty="0">
                <a:solidFill>
                  <a:srgbClr val="21E1FF"/>
                </a:solidFill>
                <a:latin typeface="BankGothic Md BT" panose="020B0807020203060204" pitchFamily="34" charset="0"/>
              </a:rPr>
              <a:t>BMS</a:t>
            </a: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.</a:t>
            </a:r>
          </a:p>
          <a:p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​</a:t>
            </a:r>
          </a:p>
          <a:p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3. To identify key challenges in</a:t>
            </a:r>
          </a:p>
          <a:p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 automotive software development.</a:t>
            </a:r>
          </a:p>
          <a:p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​</a:t>
            </a:r>
          </a:p>
          <a:p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4. To evaluate technology stacks and</a:t>
            </a:r>
          </a:p>
          <a:p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 their impact on vehicle performance.</a:t>
            </a:r>
          </a:p>
          <a:p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​</a:t>
            </a:r>
          </a:p>
          <a:p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5. To recommend strategies for   </a:t>
            </a:r>
          </a:p>
          <a:p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   overcoming coding hurdles in autos.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1C63CB-3A0E-D887-B27B-936DBB0D781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7350" y="0"/>
            <a:ext cx="139065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947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4328062" y="-805276"/>
            <a:ext cx="7895648" cy="11897552"/>
          </a:xfrm>
          <a:custGeom>
            <a:avLst/>
            <a:gdLst/>
            <a:ahLst/>
            <a:cxnLst/>
            <a:rect l="l" t="t" r="r" b="b"/>
            <a:pathLst>
              <a:path w="7895648" h="11897552">
                <a:moveTo>
                  <a:pt x="0" y="0"/>
                </a:moveTo>
                <a:lnTo>
                  <a:pt x="7895648" y="0"/>
                </a:lnTo>
                <a:lnTo>
                  <a:pt x="7895648" y="11897552"/>
                </a:lnTo>
                <a:lnTo>
                  <a:pt x="0" y="11897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32A970-CC49-2B9A-836D-C230E90EBDBA}"/>
              </a:ext>
            </a:extLst>
          </p:cNvPr>
          <p:cNvSpPr txBox="1"/>
          <p:nvPr/>
        </p:nvSpPr>
        <p:spPr>
          <a:xfrm>
            <a:off x="3733800" y="3464"/>
            <a:ext cx="13563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latin typeface="BankGothic Md BT" panose="020B0807020203060204" pitchFamily="34" charset="0"/>
              </a:rPr>
              <a:t>Case Study Overview</a:t>
            </a:r>
            <a:endParaRPr lang="en-IN" sz="8800" dirty="0">
              <a:solidFill>
                <a:schemeClr val="bg1"/>
              </a:solidFill>
              <a:latin typeface="BankGothic Md BT" panose="020B080702020306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9D804DF-0FD1-B629-0854-063A67472A71}"/>
              </a:ext>
            </a:extLst>
          </p:cNvPr>
          <p:cNvCxnSpPr/>
          <p:nvPr/>
        </p:nvCxnSpPr>
        <p:spPr>
          <a:xfrm>
            <a:off x="2514600" y="266700"/>
            <a:ext cx="10058400" cy="0"/>
          </a:xfrm>
          <a:prstGeom prst="line">
            <a:avLst/>
          </a:prstGeom>
          <a:ln>
            <a:solidFill>
              <a:srgbClr val="502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C6F3D70-379D-C76C-5BA7-FE9EEFAEAAD8}"/>
              </a:ext>
            </a:extLst>
          </p:cNvPr>
          <p:cNvCxnSpPr/>
          <p:nvPr/>
        </p:nvCxnSpPr>
        <p:spPr>
          <a:xfrm>
            <a:off x="8229600" y="1485900"/>
            <a:ext cx="10058400" cy="0"/>
          </a:xfrm>
          <a:prstGeom prst="line">
            <a:avLst/>
          </a:prstGeom>
          <a:ln>
            <a:solidFill>
              <a:srgbClr val="135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1E94830-D842-7C32-4460-DB9E4AE258D1}"/>
              </a:ext>
            </a:extLst>
          </p:cNvPr>
          <p:cNvSpPr txBox="1"/>
          <p:nvPr/>
        </p:nvSpPr>
        <p:spPr>
          <a:xfrm>
            <a:off x="5791200" y="2095500"/>
            <a:ext cx="99822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This case involves a leading Tier-1 supplier partnering with </a:t>
            </a:r>
            <a:r>
              <a:rPr lang="en-US" sz="3200" dirty="0" err="1">
                <a:solidFill>
                  <a:srgbClr val="21E1FF"/>
                </a:solidFill>
                <a:latin typeface="BankGothic Md BT" panose="020B0807020203060204" pitchFamily="34" charset="0"/>
              </a:rPr>
              <a:t>Acsia</a:t>
            </a: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 Technologies for a global OEM's autonomous driving project.</a:t>
            </a:r>
          </a:p>
          <a:p>
            <a:endParaRPr lang="en-US" sz="3200" dirty="0">
              <a:solidFill>
                <a:schemeClr val="bg1"/>
              </a:solidFill>
              <a:latin typeface="BankGothic Md BT" panose="020B0807020203060204" pitchFamily="34" charset="0"/>
            </a:endParaRPr>
          </a:p>
          <a:p>
            <a:r>
              <a:rPr lang="en-US" sz="3200" dirty="0">
                <a:solidFill>
                  <a:srgbClr val="502366"/>
                </a:solidFill>
                <a:latin typeface="BankGothic Md BT" panose="020B0807020203060204" pitchFamily="34" charset="0"/>
              </a:rPr>
              <a:t>Location: </a:t>
            </a: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Global automotive supply chain, with development likely in India/Asia-Pacific.</a:t>
            </a:r>
          </a:p>
          <a:p>
            <a:endParaRPr lang="en-US" sz="3200" dirty="0">
              <a:solidFill>
                <a:schemeClr val="bg1"/>
              </a:solidFill>
              <a:latin typeface="BankGothic Md BT" panose="020B0807020203060204" pitchFamily="34" charset="0"/>
            </a:endParaRPr>
          </a:p>
          <a:p>
            <a:r>
              <a:rPr lang="en-US" sz="3200" dirty="0">
                <a:solidFill>
                  <a:srgbClr val="135666"/>
                </a:solidFill>
                <a:latin typeface="BankGothic Md BT" panose="020B0807020203060204" pitchFamily="34" charset="0"/>
              </a:rPr>
              <a:t>Duration: </a:t>
            </a: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2023 project timeline, meeting production deadlines. </a:t>
            </a:r>
          </a:p>
          <a:p>
            <a:endParaRPr lang="en-US" sz="3200" dirty="0">
              <a:solidFill>
                <a:schemeClr val="bg1"/>
              </a:solidFill>
              <a:latin typeface="BankGothic Md BT" panose="020B0807020203060204" pitchFamily="34" charset="0"/>
            </a:endParaRPr>
          </a:p>
          <a:p>
            <a:r>
              <a:rPr lang="en-US" sz="3200" dirty="0">
                <a:solidFill>
                  <a:srgbClr val="502366"/>
                </a:solidFill>
                <a:latin typeface="BankGothic Md BT" panose="020B0807020203060204" pitchFamily="34" charset="0"/>
              </a:rPr>
              <a:t>Stakeholders: </a:t>
            </a: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Tier-1 supplier, OEM, </a:t>
            </a:r>
            <a:r>
              <a:rPr lang="en-US" sz="3200" dirty="0" err="1">
                <a:solidFill>
                  <a:srgbClr val="21E1FF"/>
                </a:solidFill>
                <a:latin typeface="BankGothic Md BT" panose="020B0807020203060204" pitchFamily="34" charset="0"/>
              </a:rPr>
              <a:t>Acsia</a:t>
            </a: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 team handling AUTOSAR config, integration, testing, and </a:t>
            </a:r>
            <a:r>
              <a:rPr lang="en-US" sz="3200" dirty="0" err="1">
                <a:solidFill>
                  <a:srgbClr val="21E1FF"/>
                </a:solidFill>
                <a:latin typeface="BankGothic Md BT" panose="020B0807020203060204" pitchFamily="34" charset="0"/>
              </a:rPr>
              <a:t>FuSa</a:t>
            </a: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EA771C-A1A9-255C-3372-55A2B348D6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7350" y="0"/>
            <a:ext cx="1390650" cy="13906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9F9414-0C80-9C98-0206-AF4EFA36D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B6D18D2-BEC2-0388-F7E6-3A2175F368F3}"/>
              </a:ext>
            </a:extLst>
          </p:cNvPr>
          <p:cNvSpPr/>
          <p:nvPr/>
        </p:nvSpPr>
        <p:spPr>
          <a:xfrm rot="-5400000">
            <a:off x="13654895" y="2458019"/>
            <a:ext cx="7895648" cy="11897552"/>
          </a:xfrm>
          <a:custGeom>
            <a:avLst/>
            <a:gdLst/>
            <a:ahLst/>
            <a:cxnLst/>
            <a:rect l="l" t="t" r="r" b="b"/>
            <a:pathLst>
              <a:path w="7895648" h="11897552">
                <a:moveTo>
                  <a:pt x="0" y="0"/>
                </a:moveTo>
                <a:lnTo>
                  <a:pt x="7895648" y="0"/>
                </a:lnTo>
                <a:lnTo>
                  <a:pt x="7895648" y="11897552"/>
                </a:lnTo>
                <a:lnTo>
                  <a:pt x="0" y="11897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B15054-ED15-727C-146C-DA8872B0DF85}"/>
              </a:ext>
            </a:extLst>
          </p:cNvPr>
          <p:cNvSpPr txBox="1"/>
          <p:nvPr/>
        </p:nvSpPr>
        <p:spPr>
          <a:xfrm>
            <a:off x="6400800" y="10391"/>
            <a:ext cx="115824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6600" dirty="0">
                <a:solidFill>
                  <a:schemeClr val="bg1"/>
                </a:solidFill>
                <a:latin typeface="BankGothic Md BT" panose="020B0807020203060204" pitchFamily="34" charset="0"/>
              </a:rPr>
              <a:t>Technical Framework / Architecture</a:t>
            </a:r>
            <a:endParaRPr lang="en-IN" sz="6600" dirty="0">
              <a:solidFill>
                <a:schemeClr val="bg1"/>
              </a:solidFill>
              <a:latin typeface="BankGothic Md BT" panose="020B080702020306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2D84264-ADCF-6DC9-5769-1B50B1C6774B}"/>
              </a:ext>
            </a:extLst>
          </p:cNvPr>
          <p:cNvCxnSpPr/>
          <p:nvPr/>
        </p:nvCxnSpPr>
        <p:spPr>
          <a:xfrm>
            <a:off x="4911436" y="266700"/>
            <a:ext cx="10058400" cy="0"/>
          </a:xfrm>
          <a:prstGeom prst="line">
            <a:avLst/>
          </a:prstGeom>
          <a:ln>
            <a:solidFill>
              <a:srgbClr val="502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CA21112-2950-3F36-8E3D-56E042941D20}"/>
              </a:ext>
            </a:extLst>
          </p:cNvPr>
          <p:cNvCxnSpPr/>
          <p:nvPr/>
        </p:nvCxnSpPr>
        <p:spPr>
          <a:xfrm>
            <a:off x="10972800" y="2134049"/>
            <a:ext cx="10058400" cy="0"/>
          </a:xfrm>
          <a:prstGeom prst="line">
            <a:avLst/>
          </a:prstGeom>
          <a:ln>
            <a:solidFill>
              <a:srgbClr val="135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3F924CC-555B-681C-CC75-5D2DB5D23574}"/>
              </a:ext>
            </a:extLst>
          </p:cNvPr>
          <p:cNvSpPr txBox="1"/>
          <p:nvPr/>
        </p:nvSpPr>
        <p:spPr>
          <a:xfrm>
            <a:off x="228600" y="2725995"/>
            <a:ext cx="108966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BankGothic Md BT" panose="020B0807020203060204" pitchFamily="34" charset="0"/>
              </a:rPr>
              <a:t>System architecture centers on AUTOSAR stack for powertrain BMS, integrating Vector Boot Loader, OEM app SW, UDS diagnostics, and OBD services; tested on HIL with ASPICE V-model. </a:t>
            </a:r>
          </a:p>
          <a:p>
            <a:endParaRPr lang="en-US" sz="2800" dirty="0">
              <a:solidFill>
                <a:schemeClr val="bg1"/>
              </a:solidFill>
              <a:latin typeface="BankGothic Md BT" panose="020B0807020203060204" pitchFamily="34" charset="0"/>
            </a:endParaRPr>
          </a:p>
          <a:p>
            <a:r>
              <a:rPr lang="en-US" sz="2800" dirty="0">
                <a:solidFill>
                  <a:srgbClr val="21E1FF"/>
                </a:solidFill>
                <a:latin typeface="BankGothic Md BT" panose="020B0807020203060204" pitchFamily="34" charset="0"/>
              </a:rPr>
              <a:t>Technology stack: </a:t>
            </a:r>
            <a:r>
              <a:rPr lang="en-US" sz="2800" dirty="0">
                <a:solidFill>
                  <a:schemeClr val="bg1"/>
                </a:solidFill>
                <a:latin typeface="BankGothic Md BT" panose="020B0807020203060204" pitchFamily="34" charset="0"/>
              </a:rPr>
              <a:t>C/C++, AUTOSAR Adaptive, Vector tools (DaVinci Configurator, </a:t>
            </a:r>
            <a:r>
              <a:rPr lang="en-US" sz="2800" dirty="0" err="1">
                <a:solidFill>
                  <a:schemeClr val="bg1"/>
                </a:solidFill>
                <a:latin typeface="BankGothic Md BT" panose="020B0807020203060204" pitchFamily="34" charset="0"/>
              </a:rPr>
              <a:t>VTestStudio</a:t>
            </a:r>
            <a:r>
              <a:rPr lang="en-US" sz="2800" dirty="0">
                <a:solidFill>
                  <a:schemeClr val="bg1"/>
                </a:solidFill>
                <a:latin typeface="BankGothic Md BT" panose="020B0807020203060204" pitchFamily="34" charset="0"/>
              </a:rPr>
              <a:t>, MATLAB/Simulink for simulation. </a:t>
            </a:r>
          </a:p>
          <a:p>
            <a:endParaRPr lang="en-US" sz="2800" dirty="0">
              <a:solidFill>
                <a:schemeClr val="bg1"/>
              </a:solidFill>
              <a:latin typeface="BankGothic Md BT" panose="020B0807020203060204" pitchFamily="34" charset="0"/>
            </a:endParaRPr>
          </a:p>
          <a:p>
            <a:r>
              <a:rPr lang="en-US" sz="2800" dirty="0">
                <a:solidFill>
                  <a:srgbClr val="21E1FF"/>
                </a:solidFill>
                <a:latin typeface="BankGothic Md BT" panose="020B0807020203060204" pitchFamily="34" charset="0"/>
              </a:rPr>
              <a:t>Tools:</a:t>
            </a:r>
            <a:r>
              <a:rPr lang="en-US" sz="2800" dirty="0">
                <a:solidFill>
                  <a:schemeClr val="bg1"/>
                </a:solidFill>
                <a:latin typeface="BankGothic Md BT" panose="020B0807020203060204" pitchFamily="34" charset="0"/>
              </a:rPr>
              <a:t> QNX RTOS, ROS 2 middleware, Jenkins CI/CD; diagram </a:t>
            </a:r>
          </a:p>
          <a:p>
            <a:endParaRPr lang="en-US" sz="2800" dirty="0">
              <a:solidFill>
                <a:schemeClr val="bg1"/>
              </a:solidFill>
              <a:latin typeface="BankGothic Md BT" panose="020B0807020203060204" pitchFamily="34" charset="0"/>
            </a:endParaRPr>
          </a:p>
          <a:p>
            <a:r>
              <a:rPr lang="en-US" sz="2800" dirty="0">
                <a:solidFill>
                  <a:srgbClr val="21E1FF"/>
                </a:solidFill>
                <a:latin typeface="BankGothic Md BT" panose="020B0807020203060204" pitchFamily="34" charset="0"/>
              </a:rPr>
              <a:t>description:</a:t>
            </a:r>
            <a:r>
              <a:rPr lang="en-US" sz="2800" dirty="0">
                <a:solidFill>
                  <a:schemeClr val="bg1"/>
                </a:solidFill>
                <a:latin typeface="BankGothic Md BT" panose="020B0807020203060204" pitchFamily="34" charset="0"/>
              </a:rPr>
              <a:t> ECU layers (BSW, RTE, App) connected via CAN/Ethernet.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3A0476-DA8D-E33A-979D-1CF64B64C31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7350" y="0"/>
            <a:ext cx="139065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4383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F6001D-7EE7-C5AB-053A-AF58918FF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385094E-E5F8-ED30-D8D0-8B09C47B694A}"/>
              </a:ext>
            </a:extLst>
          </p:cNvPr>
          <p:cNvSpPr/>
          <p:nvPr/>
        </p:nvSpPr>
        <p:spPr>
          <a:xfrm rot="5400000">
            <a:off x="-4328062" y="-805276"/>
            <a:ext cx="7895648" cy="11897552"/>
          </a:xfrm>
          <a:custGeom>
            <a:avLst/>
            <a:gdLst/>
            <a:ahLst/>
            <a:cxnLst/>
            <a:rect l="l" t="t" r="r" b="b"/>
            <a:pathLst>
              <a:path w="7895648" h="11897552">
                <a:moveTo>
                  <a:pt x="0" y="0"/>
                </a:moveTo>
                <a:lnTo>
                  <a:pt x="7895648" y="0"/>
                </a:lnTo>
                <a:lnTo>
                  <a:pt x="7895648" y="11897552"/>
                </a:lnTo>
                <a:lnTo>
                  <a:pt x="0" y="11897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655430-A17E-AEAB-7EA7-1B1BAB5E2B34}"/>
              </a:ext>
            </a:extLst>
          </p:cNvPr>
          <p:cNvSpPr txBox="1"/>
          <p:nvPr/>
        </p:nvSpPr>
        <p:spPr>
          <a:xfrm>
            <a:off x="3124200" y="3464"/>
            <a:ext cx="14173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dirty="0">
                <a:solidFill>
                  <a:schemeClr val="bg1"/>
                </a:solidFill>
                <a:latin typeface="BankGothic Md BT" panose="020B0807020203060204" pitchFamily="34" charset="0"/>
              </a:rPr>
              <a:t>Challenges Identified</a:t>
            </a:r>
            <a:endParaRPr lang="en-IN" sz="8800" dirty="0">
              <a:solidFill>
                <a:schemeClr val="bg1"/>
              </a:solidFill>
              <a:latin typeface="BankGothic Md BT" panose="020B080702020306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B25329E-64BD-52C7-B6F1-F7C47BC07748}"/>
              </a:ext>
            </a:extLst>
          </p:cNvPr>
          <p:cNvCxnSpPr/>
          <p:nvPr/>
        </p:nvCxnSpPr>
        <p:spPr>
          <a:xfrm>
            <a:off x="2514600" y="266700"/>
            <a:ext cx="10058400" cy="0"/>
          </a:xfrm>
          <a:prstGeom prst="line">
            <a:avLst/>
          </a:prstGeom>
          <a:ln>
            <a:solidFill>
              <a:srgbClr val="502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5227D34-BD52-118E-2E65-D96E9DC1C9FD}"/>
              </a:ext>
            </a:extLst>
          </p:cNvPr>
          <p:cNvCxnSpPr/>
          <p:nvPr/>
        </p:nvCxnSpPr>
        <p:spPr>
          <a:xfrm>
            <a:off x="8229600" y="1485900"/>
            <a:ext cx="10058400" cy="0"/>
          </a:xfrm>
          <a:prstGeom prst="line">
            <a:avLst/>
          </a:prstGeom>
          <a:ln>
            <a:solidFill>
              <a:srgbClr val="135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F6B844C-6094-BC0C-7AFD-D60CA7750D00}"/>
              </a:ext>
            </a:extLst>
          </p:cNvPr>
          <p:cNvSpPr txBox="1"/>
          <p:nvPr/>
        </p:nvSpPr>
        <p:spPr>
          <a:xfrm>
            <a:off x="8458200" y="5495985"/>
            <a:ext cx="99822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Key issues include siloed hardware-software development causing integration bugs and delays. Cybersecurity risks from connectivity and OTA updates, plus legacy system compatibility. Compliance with </a:t>
            </a:r>
            <a:r>
              <a:rPr lang="en-US" sz="3200" dirty="0">
                <a:solidFill>
                  <a:srgbClr val="21E1FF"/>
                </a:solidFill>
                <a:latin typeface="BankGothic Md BT" panose="020B0807020203060204" pitchFamily="34" charset="0"/>
              </a:rPr>
              <a:t>ISO 26262 </a:t>
            </a: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safety and scalability for millions of vehicles; real-time constraints in ADAS/autonomy.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F2FFD5-0913-DE60-740F-D8B85475A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2055" y="1947554"/>
            <a:ext cx="6074368" cy="31959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557E9E-1FFB-80DC-2596-C3BC56AD36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7350" y="0"/>
            <a:ext cx="139065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043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9B3E59-52A7-651A-A5E6-6A0824A7F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38BA03B-89B7-FE5E-2A8E-101D8E00AC25}"/>
              </a:ext>
            </a:extLst>
          </p:cNvPr>
          <p:cNvSpPr/>
          <p:nvPr/>
        </p:nvSpPr>
        <p:spPr>
          <a:xfrm rot="-5400000">
            <a:off x="13654895" y="2458019"/>
            <a:ext cx="7895648" cy="11897552"/>
          </a:xfrm>
          <a:custGeom>
            <a:avLst/>
            <a:gdLst/>
            <a:ahLst/>
            <a:cxnLst/>
            <a:rect l="l" t="t" r="r" b="b"/>
            <a:pathLst>
              <a:path w="7895648" h="11897552">
                <a:moveTo>
                  <a:pt x="0" y="0"/>
                </a:moveTo>
                <a:lnTo>
                  <a:pt x="7895648" y="0"/>
                </a:lnTo>
                <a:lnTo>
                  <a:pt x="7895648" y="11897552"/>
                </a:lnTo>
                <a:lnTo>
                  <a:pt x="0" y="11897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724869-C400-31C3-BAFC-0DA24A8B458A}"/>
              </a:ext>
            </a:extLst>
          </p:cNvPr>
          <p:cNvSpPr txBox="1"/>
          <p:nvPr/>
        </p:nvSpPr>
        <p:spPr>
          <a:xfrm>
            <a:off x="6400800" y="10391"/>
            <a:ext cx="11582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dirty="0">
                <a:solidFill>
                  <a:schemeClr val="bg1"/>
                </a:solidFill>
                <a:latin typeface="BankGothic Md BT" panose="020B0807020203060204" pitchFamily="34" charset="0"/>
              </a:rPr>
              <a:t>Conclusion</a:t>
            </a:r>
            <a:endParaRPr lang="en-IN" sz="9600" dirty="0">
              <a:solidFill>
                <a:schemeClr val="bg1"/>
              </a:solidFill>
              <a:latin typeface="BankGothic Md BT" panose="020B080702020306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1BA02B6-CEBD-1B5B-9330-67308BC07D51}"/>
              </a:ext>
            </a:extLst>
          </p:cNvPr>
          <p:cNvCxnSpPr>
            <a:cxnSpLocks/>
          </p:cNvCxnSpPr>
          <p:nvPr/>
        </p:nvCxnSpPr>
        <p:spPr>
          <a:xfrm>
            <a:off x="9144000" y="266700"/>
            <a:ext cx="8382000" cy="0"/>
          </a:xfrm>
          <a:prstGeom prst="line">
            <a:avLst/>
          </a:prstGeom>
          <a:ln>
            <a:solidFill>
              <a:srgbClr val="502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533A98-259B-A887-64F9-06B3F0CCCA22}"/>
              </a:ext>
            </a:extLst>
          </p:cNvPr>
          <p:cNvCxnSpPr/>
          <p:nvPr/>
        </p:nvCxnSpPr>
        <p:spPr>
          <a:xfrm>
            <a:off x="11430000" y="1577220"/>
            <a:ext cx="10058400" cy="0"/>
          </a:xfrm>
          <a:prstGeom prst="line">
            <a:avLst/>
          </a:prstGeom>
          <a:ln>
            <a:solidFill>
              <a:srgbClr val="135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60AFC4C-1848-5D1F-1D31-A4C1A9810BC4}"/>
              </a:ext>
            </a:extLst>
          </p:cNvPr>
          <p:cNvSpPr txBox="1"/>
          <p:nvPr/>
        </p:nvSpPr>
        <p:spPr>
          <a:xfrm>
            <a:off x="533400" y="2084070"/>
            <a:ext cx="99822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135666"/>
                </a:solidFill>
                <a:latin typeface="BankGothic Md BT" panose="020B0807020203060204" pitchFamily="34" charset="0"/>
              </a:rPr>
              <a:t>Problem: </a:t>
            </a: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Complex software integration for autonomous powertrain amid tight deadlines and standards. </a:t>
            </a:r>
          </a:p>
          <a:p>
            <a:endParaRPr lang="en-US" sz="3200" dirty="0">
              <a:solidFill>
                <a:schemeClr val="bg1"/>
              </a:solidFill>
              <a:latin typeface="BankGothic Md BT" panose="020B0807020203060204" pitchFamily="34" charset="0"/>
            </a:endParaRPr>
          </a:p>
          <a:p>
            <a:r>
              <a:rPr lang="en-US" sz="3200" dirty="0">
                <a:solidFill>
                  <a:srgbClr val="502366"/>
                </a:solidFill>
                <a:latin typeface="BankGothic Md BT" panose="020B0807020203060204" pitchFamily="34" charset="0"/>
              </a:rPr>
              <a:t>Key findings: </a:t>
            </a: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Coding enables EV efficiency, ADAS safety, but faces scalability/cyber </a:t>
            </a:r>
          </a:p>
          <a:p>
            <a:endParaRPr lang="en-US" sz="3200" dirty="0">
              <a:solidFill>
                <a:schemeClr val="bg1"/>
              </a:solidFill>
              <a:latin typeface="BankGothic Md BT" panose="020B0807020203060204" pitchFamily="34" charset="0"/>
            </a:endParaRPr>
          </a:p>
          <a:p>
            <a:r>
              <a:rPr lang="en-US" sz="3200" dirty="0">
                <a:solidFill>
                  <a:srgbClr val="135666"/>
                </a:solidFill>
                <a:latin typeface="BankGothic Md BT" panose="020B0807020203060204" pitchFamily="34" charset="0"/>
              </a:rPr>
              <a:t>Challenges: </a:t>
            </a: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AUTOSAR met deadlines, boosted satisfaction. </a:t>
            </a:r>
          </a:p>
          <a:p>
            <a:endParaRPr lang="en-US" sz="3200" dirty="0">
              <a:solidFill>
                <a:schemeClr val="bg1"/>
              </a:solidFill>
              <a:latin typeface="BankGothic Md BT" panose="020B0807020203060204" pitchFamily="34" charset="0"/>
            </a:endParaRPr>
          </a:p>
          <a:p>
            <a:r>
              <a:rPr lang="en-US" sz="3200" dirty="0">
                <a:solidFill>
                  <a:srgbClr val="502366"/>
                </a:solidFill>
                <a:latin typeface="BankGothic Md BT" panose="020B0807020203060204" pitchFamily="34" charset="0"/>
              </a:rPr>
              <a:t>Recommendation: </a:t>
            </a: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Adopt hybrid AI-optimized C/C++ workflows, AUTOSAR, and secure SDLC for reliable SDVs.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06336D-49F7-3623-2AE5-48AE28632ED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7350" y="0"/>
            <a:ext cx="139065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189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CEF777-5B90-145A-4204-F47515506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3B3CF77-06AF-31C4-FC89-34EB183852C3}"/>
              </a:ext>
            </a:extLst>
          </p:cNvPr>
          <p:cNvSpPr/>
          <p:nvPr/>
        </p:nvSpPr>
        <p:spPr>
          <a:xfrm rot="5400000">
            <a:off x="-4328062" y="-805276"/>
            <a:ext cx="7895648" cy="11897552"/>
          </a:xfrm>
          <a:custGeom>
            <a:avLst/>
            <a:gdLst/>
            <a:ahLst/>
            <a:cxnLst/>
            <a:rect l="l" t="t" r="r" b="b"/>
            <a:pathLst>
              <a:path w="7895648" h="11897552">
                <a:moveTo>
                  <a:pt x="0" y="0"/>
                </a:moveTo>
                <a:lnTo>
                  <a:pt x="7895648" y="0"/>
                </a:lnTo>
                <a:lnTo>
                  <a:pt x="7895648" y="11897552"/>
                </a:lnTo>
                <a:lnTo>
                  <a:pt x="0" y="11897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989F1F-BDCF-5052-9073-2A89A9191A52}"/>
              </a:ext>
            </a:extLst>
          </p:cNvPr>
          <p:cNvSpPr txBox="1"/>
          <p:nvPr/>
        </p:nvSpPr>
        <p:spPr>
          <a:xfrm>
            <a:off x="3810000" y="-266700"/>
            <a:ext cx="141732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800" dirty="0">
                <a:solidFill>
                  <a:schemeClr val="bg1"/>
                </a:solidFill>
                <a:latin typeface="BankGothic Md BT" panose="020B0807020203060204" pitchFamily="34" charset="0"/>
              </a:rPr>
              <a:t>References</a:t>
            </a:r>
            <a:endParaRPr lang="en-IN" sz="13800" dirty="0">
              <a:solidFill>
                <a:schemeClr val="bg1"/>
              </a:solidFill>
              <a:latin typeface="BankGothic Md BT" panose="020B080702020306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7DDCB78-740C-7683-C4D9-E4CAD7E0E5A4}"/>
              </a:ext>
            </a:extLst>
          </p:cNvPr>
          <p:cNvCxnSpPr/>
          <p:nvPr/>
        </p:nvCxnSpPr>
        <p:spPr>
          <a:xfrm>
            <a:off x="5029200" y="266700"/>
            <a:ext cx="10058400" cy="0"/>
          </a:xfrm>
          <a:prstGeom prst="line">
            <a:avLst/>
          </a:prstGeom>
          <a:ln>
            <a:solidFill>
              <a:srgbClr val="5023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A212F72-E3B1-4D58-9088-F22F5A4A7215}"/>
              </a:ext>
            </a:extLst>
          </p:cNvPr>
          <p:cNvCxnSpPr/>
          <p:nvPr/>
        </p:nvCxnSpPr>
        <p:spPr>
          <a:xfrm>
            <a:off x="8991600" y="1714500"/>
            <a:ext cx="10058400" cy="0"/>
          </a:xfrm>
          <a:prstGeom prst="line">
            <a:avLst/>
          </a:prstGeom>
          <a:ln>
            <a:solidFill>
              <a:srgbClr val="13566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B4B6952-746C-D218-4AAD-5CC4E728E26A}"/>
              </a:ext>
            </a:extLst>
          </p:cNvPr>
          <p:cNvSpPr txBox="1"/>
          <p:nvPr/>
        </p:nvSpPr>
        <p:spPr>
          <a:xfrm>
            <a:off x="7980218" y="3358990"/>
            <a:ext cx="99822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502366"/>
                </a:solidFill>
                <a:latin typeface="BankGothic Md BT" panose="020B0807020203060204" pitchFamily="34" charset="0"/>
              </a:rPr>
              <a:t>Journals/Research: </a:t>
            </a: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ISO 26262, AUTOSAR standards docs.</a:t>
            </a:r>
          </a:p>
          <a:p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​</a:t>
            </a:r>
          </a:p>
          <a:p>
            <a:endParaRPr lang="en-US" sz="3200" dirty="0">
              <a:solidFill>
                <a:schemeClr val="bg1"/>
              </a:solidFill>
              <a:latin typeface="BankGothic Md BT" panose="020B0807020203060204" pitchFamily="34" charset="0"/>
            </a:endParaRPr>
          </a:p>
          <a:p>
            <a:r>
              <a:rPr lang="en-US" sz="3200" dirty="0">
                <a:solidFill>
                  <a:srgbClr val="135666"/>
                </a:solidFill>
                <a:latin typeface="BankGothic Md BT" panose="020B0807020203060204" pitchFamily="34" charset="0"/>
              </a:rPr>
              <a:t>Research papers: </a:t>
            </a:r>
            <a:r>
              <a:rPr lang="en-US" sz="3200" dirty="0" err="1">
                <a:solidFill>
                  <a:schemeClr val="bg1"/>
                </a:solidFill>
                <a:latin typeface="BankGothic Md BT" panose="020B0807020203060204" pitchFamily="34" charset="0"/>
              </a:rPr>
              <a:t>Apriorit</a:t>
            </a: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 on automotive trends (2024).</a:t>
            </a:r>
          </a:p>
          <a:p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​</a:t>
            </a:r>
          </a:p>
          <a:p>
            <a:endParaRPr lang="en-US" sz="3200" dirty="0">
              <a:solidFill>
                <a:schemeClr val="bg1"/>
              </a:solidFill>
              <a:latin typeface="BankGothic Md BT" panose="020B0807020203060204" pitchFamily="34" charset="0"/>
            </a:endParaRPr>
          </a:p>
          <a:p>
            <a:r>
              <a:rPr lang="en-US" sz="3200" dirty="0">
                <a:solidFill>
                  <a:srgbClr val="502366"/>
                </a:solidFill>
                <a:latin typeface="BankGothic Md BT" panose="020B0807020203060204" pitchFamily="34" charset="0"/>
              </a:rPr>
              <a:t>Websites:</a:t>
            </a: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 </a:t>
            </a:r>
            <a:r>
              <a:rPr lang="en-US" sz="3200" dirty="0" err="1">
                <a:solidFill>
                  <a:schemeClr val="bg1"/>
                </a:solidFill>
                <a:latin typeface="BankGothic Md BT" panose="020B0807020203060204" pitchFamily="34" charset="0"/>
              </a:rPr>
              <a:t>Acsia</a:t>
            </a: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 Technologies case study; </a:t>
            </a:r>
            <a:r>
              <a:rPr lang="en-US" sz="3200" dirty="0" err="1">
                <a:solidFill>
                  <a:schemeClr val="bg1"/>
                </a:solidFill>
                <a:latin typeface="BankGothic Md BT" panose="020B0807020203060204" pitchFamily="34" charset="0"/>
              </a:rPr>
              <a:t>Apriorit</a:t>
            </a: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 blog [page:0, wait full]; </a:t>
            </a:r>
            <a:r>
              <a:rPr lang="en-US" sz="3200" dirty="0" err="1">
                <a:solidFill>
                  <a:schemeClr val="bg1"/>
                </a:solidFill>
                <a:latin typeface="BankGothic Md BT" panose="020B0807020203060204" pitchFamily="34" charset="0"/>
              </a:rPr>
              <a:t>Ampheo</a:t>
            </a:r>
            <a:r>
              <a:rPr lang="en-US" sz="3200" dirty="0">
                <a:solidFill>
                  <a:schemeClr val="bg1"/>
                </a:solidFill>
                <a:latin typeface="BankGothic Md BT" panose="020B0807020203060204" pitchFamily="34" charset="0"/>
              </a:rPr>
              <a:t> embedded systems.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2E046B8-30DC-7301-7F8B-79D6664430C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7350" y="0"/>
            <a:ext cx="1390650" cy="139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87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90600" y="1158731"/>
            <a:ext cx="6193037" cy="4006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580"/>
              </a:lnSpc>
            </a:pPr>
            <a:r>
              <a:rPr lang="en-US" sz="14838" spc="-756" dirty="0">
                <a:solidFill>
                  <a:srgbClr val="FFFFFF"/>
                </a:solidFill>
                <a:latin typeface="Now Light"/>
                <a:ea typeface="Now Light"/>
                <a:cs typeface="Now Light"/>
                <a:sym typeface="Now Light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9753796" y="-805276"/>
            <a:ext cx="7895648" cy="11897552"/>
          </a:xfrm>
          <a:custGeom>
            <a:avLst/>
            <a:gdLst/>
            <a:ahLst/>
            <a:cxnLst/>
            <a:rect l="l" t="t" r="r" b="b"/>
            <a:pathLst>
              <a:path w="7895648" h="11897552">
                <a:moveTo>
                  <a:pt x="0" y="0"/>
                </a:moveTo>
                <a:lnTo>
                  <a:pt x="7895648" y="0"/>
                </a:lnTo>
                <a:lnTo>
                  <a:pt x="7895648" y="11897552"/>
                </a:lnTo>
                <a:lnTo>
                  <a:pt x="0" y="118975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3AD573-1942-065E-9B00-B68F5C7A1C93}"/>
              </a:ext>
            </a:extLst>
          </p:cNvPr>
          <p:cNvSpPr txBox="1"/>
          <p:nvPr/>
        </p:nvSpPr>
        <p:spPr>
          <a:xfrm>
            <a:off x="534734" y="6362700"/>
            <a:ext cx="921906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5400" dirty="0">
                <a:solidFill>
                  <a:srgbClr val="21E1FF"/>
                </a:solidFill>
                <a:latin typeface="BankGothic Md BT" panose="020B0807020203060204" pitchFamily="34" charset="0"/>
              </a:rPr>
              <a:t>Thank you for your attention!</a:t>
            </a:r>
          </a:p>
          <a:p>
            <a:r>
              <a:rPr lang="en-IN" sz="5400" dirty="0">
                <a:solidFill>
                  <a:srgbClr val="135666"/>
                </a:solidFill>
                <a:latin typeface="BankGothic Md BT" panose="020B0807020203060204" pitchFamily="34" charset="0"/>
              </a:rPr>
              <a:t>Q&amp;A?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4C20DA-AB29-BC3E-82DC-1B61D0811D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7350" y="0"/>
            <a:ext cx="1390650" cy="13906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485</Words>
  <Application>Microsoft Office PowerPoint</Application>
  <PresentationFormat>Custom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Now Light</vt:lpstr>
      <vt:lpstr>Arial</vt:lpstr>
      <vt:lpstr>Calibri</vt:lpstr>
      <vt:lpstr>BankGothic Md BT</vt:lpstr>
      <vt:lpstr>Bahnschrift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ABIJITH</dc:creator>
  <cp:lastModifiedBy>Abijith 801</cp:lastModifiedBy>
  <cp:revision>4</cp:revision>
  <dcterms:created xsi:type="dcterms:W3CDTF">2006-08-16T00:00:00Z</dcterms:created>
  <dcterms:modified xsi:type="dcterms:W3CDTF">2026-03-31T07:36:08Z</dcterms:modified>
  <dc:identifier>DAHDpMa_u7o</dc:identifier>
</cp:coreProperties>
</file>