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170D5-20F6-4AFE-93F0-462D0E5D7D50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9B7F9-A457-4FE2-B9A7-D2F464C512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51333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170D5-20F6-4AFE-93F0-462D0E5D7D50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9B7F9-A457-4FE2-B9A7-D2F464C512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0557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170D5-20F6-4AFE-93F0-462D0E5D7D50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9B7F9-A457-4FE2-B9A7-D2F464C512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3613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170D5-20F6-4AFE-93F0-462D0E5D7D50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9B7F9-A457-4FE2-B9A7-D2F464C512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95089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170D5-20F6-4AFE-93F0-462D0E5D7D50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9B7F9-A457-4FE2-B9A7-D2F464C512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1189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170D5-20F6-4AFE-93F0-462D0E5D7D50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9B7F9-A457-4FE2-B9A7-D2F464C512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50909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170D5-20F6-4AFE-93F0-462D0E5D7D50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9B7F9-A457-4FE2-B9A7-D2F464C512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9393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170D5-20F6-4AFE-93F0-462D0E5D7D50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9B7F9-A457-4FE2-B9A7-D2F464C512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4948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170D5-20F6-4AFE-93F0-462D0E5D7D50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9B7F9-A457-4FE2-B9A7-D2F464C512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5405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170D5-20F6-4AFE-93F0-462D0E5D7D50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9B7F9-A457-4FE2-B9A7-D2F464C512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3736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170D5-20F6-4AFE-93F0-462D0E5D7D50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9B7F9-A457-4FE2-B9A7-D2F464C512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7250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216170D5-20F6-4AFE-93F0-462D0E5D7D50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B629B7F9-A457-4FE2-B9A7-D2F464C512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753360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3" Type="http://schemas.openxmlformats.org/officeDocument/2006/relationships/image" Target="../media/image2.svg"/><Relationship Id="rId21" Type="http://schemas.openxmlformats.org/officeDocument/2006/relationships/image" Target="../media/image20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3" Type="http://schemas.openxmlformats.org/officeDocument/2006/relationships/image" Target="../media/image2.svg"/><Relationship Id="rId21" Type="http://schemas.openxmlformats.org/officeDocument/2006/relationships/image" Target="../media/image20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23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19" Type="http://schemas.openxmlformats.org/officeDocument/2006/relationships/image" Target="../media/image18.svg"/><Relationship Id="rId4" Type="http://schemas.openxmlformats.org/officeDocument/2006/relationships/image" Target="../media/image22.png"/><Relationship Id="rId9" Type="http://schemas.openxmlformats.org/officeDocument/2006/relationships/image" Target="../media/image25.sv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3" Type="http://schemas.openxmlformats.org/officeDocument/2006/relationships/image" Target="../media/image27.svg"/><Relationship Id="rId21" Type="http://schemas.openxmlformats.org/officeDocument/2006/relationships/image" Target="../media/image20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" Type="http://schemas.openxmlformats.org/officeDocument/2006/relationships/image" Target="../media/image26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23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19" Type="http://schemas.openxmlformats.org/officeDocument/2006/relationships/image" Target="../media/image18.svg"/><Relationship Id="rId4" Type="http://schemas.openxmlformats.org/officeDocument/2006/relationships/image" Target="../media/image22.png"/><Relationship Id="rId9" Type="http://schemas.openxmlformats.org/officeDocument/2006/relationships/image" Target="../media/image28.sv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3" Type="http://schemas.openxmlformats.org/officeDocument/2006/relationships/image" Target="../media/image2.svg"/><Relationship Id="rId21" Type="http://schemas.openxmlformats.org/officeDocument/2006/relationships/image" Target="../media/image20.svg"/><Relationship Id="rId7" Type="http://schemas.openxmlformats.org/officeDocument/2006/relationships/image" Target="../media/image30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11" Type="http://schemas.openxmlformats.org/officeDocument/2006/relationships/image" Target="../media/image10.svg"/><Relationship Id="rId5" Type="http://schemas.openxmlformats.org/officeDocument/2006/relationships/image" Target="../media/image23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19" Type="http://schemas.openxmlformats.org/officeDocument/2006/relationships/image" Target="../media/image18.svg"/><Relationship Id="rId4" Type="http://schemas.openxmlformats.org/officeDocument/2006/relationships/image" Target="../media/image22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32.svg"/><Relationship Id="rId18" Type="http://schemas.openxmlformats.org/officeDocument/2006/relationships/image" Target="../media/image17.png"/><Relationship Id="rId3" Type="http://schemas.openxmlformats.org/officeDocument/2006/relationships/image" Target="../media/image2.svg"/><Relationship Id="rId21" Type="http://schemas.openxmlformats.org/officeDocument/2006/relationships/image" Target="../media/image20.svg"/><Relationship Id="rId7" Type="http://schemas.openxmlformats.org/officeDocument/2006/relationships/image" Target="../media/image6.svg"/><Relationship Id="rId12" Type="http://schemas.openxmlformats.org/officeDocument/2006/relationships/image" Target="../media/image31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23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19" Type="http://schemas.openxmlformats.org/officeDocument/2006/relationships/image" Target="../media/image18.svg"/><Relationship Id="rId4" Type="http://schemas.openxmlformats.org/officeDocument/2006/relationships/image" Target="../media/image22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3" Type="http://schemas.openxmlformats.org/officeDocument/2006/relationships/image" Target="../media/image2.svg"/><Relationship Id="rId21" Type="http://schemas.openxmlformats.org/officeDocument/2006/relationships/image" Target="../media/image20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34.svg"/><Relationship Id="rId5" Type="http://schemas.openxmlformats.org/officeDocument/2006/relationships/image" Target="../media/image23.svg"/><Relationship Id="rId15" Type="http://schemas.openxmlformats.org/officeDocument/2006/relationships/image" Target="../media/image14.svg"/><Relationship Id="rId10" Type="http://schemas.openxmlformats.org/officeDocument/2006/relationships/image" Target="../media/image33.png"/><Relationship Id="rId19" Type="http://schemas.openxmlformats.org/officeDocument/2006/relationships/image" Target="../media/image18.svg"/><Relationship Id="rId4" Type="http://schemas.openxmlformats.org/officeDocument/2006/relationships/image" Target="../media/image22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3" Type="http://schemas.openxmlformats.org/officeDocument/2006/relationships/image" Target="../media/image2.svg"/><Relationship Id="rId21" Type="http://schemas.openxmlformats.org/officeDocument/2006/relationships/image" Target="../media/image20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23.svg"/><Relationship Id="rId15" Type="http://schemas.openxmlformats.org/officeDocument/2006/relationships/image" Target="../media/image36.svg"/><Relationship Id="rId10" Type="http://schemas.openxmlformats.org/officeDocument/2006/relationships/image" Target="../media/image9.png"/><Relationship Id="rId19" Type="http://schemas.openxmlformats.org/officeDocument/2006/relationships/image" Target="../media/image18.svg"/><Relationship Id="rId4" Type="http://schemas.openxmlformats.org/officeDocument/2006/relationships/image" Target="../media/image22.png"/><Relationship Id="rId9" Type="http://schemas.openxmlformats.org/officeDocument/2006/relationships/image" Target="../media/image8.svg"/><Relationship Id="rId14" Type="http://schemas.openxmlformats.org/officeDocument/2006/relationships/image" Target="../media/image35.png"/><Relationship Id="rId22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3" Type="http://schemas.openxmlformats.org/officeDocument/2006/relationships/image" Target="../media/image2.svg"/><Relationship Id="rId21" Type="http://schemas.openxmlformats.org/officeDocument/2006/relationships/image" Target="../media/image20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38.svg"/><Relationship Id="rId2" Type="http://schemas.openxmlformats.org/officeDocument/2006/relationships/image" Target="../media/image1.png"/><Relationship Id="rId16" Type="http://schemas.openxmlformats.org/officeDocument/2006/relationships/image" Target="../media/image37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23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19" Type="http://schemas.openxmlformats.org/officeDocument/2006/relationships/image" Target="../media/image18.svg"/><Relationship Id="rId4" Type="http://schemas.openxmlformats.org/officeDocument/2006/relationships/image" Target="../media/image22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39.png"/><Relationship Id="rId3" Type="http://schemas.openxmlformats.org/officeDocument/2006/relationships/image" Target="../media/image2.svg"/><Relationship Id="rId21" Type="http://schemas.openxmlformats.org/officeDocument/2006/relationships/image" Target="../media/image20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23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19" Type="http://schemas.openxmlformats.org/officeDocument/2006/relationships/image" Target="../media/image40.svg"/><Relationship Id="rId4" Type="http://schemas.openxmlformats.org/officeDocument/2006/relationships/image" Target="../media/image22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3" Type="http://schemas.openxmlformats.org/officeDocument/2006/relationships/image" Target="../media/image2.svg"/><Relationship Id="rId21" Type="http://schemas.openxmlformats.org/officeDocument/2006/relationships/image" Target="../media/image4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4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23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19" Type="http://schemas.openxmlformats.org/officeDocument/2006/relationships/image" Target="../media/image18.svg"/><Relationship Id="rId4" Type="http://schemas.openxmlformats.org/officeDocument/2006/relationships/image" Target="../media/image22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EFC2D27-9C64-C99D-6BBD-AC034ACB9E10}"/>
              </a:ext>
            </a:extLst>
          </p:cNvPr>
          <p:cNvSpPr/>
          <p:nvPr/>
        </p:nvSpPr>
        <p:spPr>
          <a:xfrm>
            <a:off x="0" y="9144"/>
            <a:ext cx="1773936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E2B80CF-F70D-F2DC-E5B1-21BC60200648}"/>
              </a:ext>
            </a:extLst>
          </p:cNvPr>
          <p:cNvSpPr/>
          <p:nvPr/>
        </p:nvSpPr>
        <p:spPr>
          <a:xfrm>
            <a:off x="0" y="16796"/>
            <a:ext cx="1773936" cy="6838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E3C4A41-E83F-F05D-BAAE-2266FE7FAAAB}"/>
              </a:ext>
            </a:extLst>
          </p:cNvPr>
          <p:cNvSpPr/>
          <p:nvPr/>
        </p:nvSpPr>
        <p:spPr>
          <a:xfrm>
            <a:off x="0" y="709803"/>
            <a:ext cx="1773936" cy="679655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03A5A80-1BA3-F363-5292-0D8304027645}"/>
              </a:ext>
            </a:extLst>
          </p:cNvPr>
          <p:cNvSpPr/>
          <p:nvPr/>
        </p:nvSpPr>
        <p:spPr>
          <a:xfrm>
            <a:off x="0" y="1357722"/>
            <a:ext cx="1773936" cy="679655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FA15A56-BAE3-CAA9-BD1A-AD4B35268311}"/>
              </a:ext>
            </a:extLst>
          </p:cNvPr>
          <p:cNvSpPr/>
          <p:nvPr/>
        </p:nvSpPr>
        <p:spPr>
          <a:xfrm>
            <a:off x="0" y="2037377"/>
            <a:ext cx="1773936" cy="679655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D11D191-BC83-C0B1-F739-B7E76C74C20F}"/>
              </a:ext>
            </a:extLst>
          </p:cNvPr>
          <p:cNvSpPr/>
          <p:nvPr/>
        </p:nvSpPr>
        <p:spPr>
          <a:xfrm>
            <a:off x="0" y="2711666"/>
            <a:ext cx="1773936" cy="679655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EE44A5C-17A1-DDBC-7B83-1BE03B66D951}"/>
              </a:ext>
            </a:extLst>
          </p:cNvPr>
          <p:cNvSpPr/>
          <p:nvPr/>
        </p:nvSpPr>
        <p:spPr>
          <a:xfrm>
            <a:off x="0" y="3385955"/>
            <a:ext cx="1773936" cy="679655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556B7E1-BC06-C820-AEC0-4F2F86E7D478}"/>
              </a:ext>
            </a:extLst>
          </p:cNvPr>
          <p:cNvSpPr/>
          <p:nvPr/>
        </p:nvSpPr>
        <p:spPr>
          <a:xfrm>
            <a:off x="0" y="4060244"/>
            <a:ext cx="1773936" cy="679655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B103698-B3B4-1304-B37A-814AE327389C}"/>
              </a:ext>
            </a:extLst>
          </p:cNvPr>
          <p:cNvSpPr/>
          <p:nvPr/>
        </p:nvSpPr>
        <p:spPr>
          <a:xfrm>
            <a:off x="0" y="4729167"/>
            <a:ext cx="1773936" cy="679655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AACAEE0-E23A-3B66-763B-11AC1B027E59}"/>
              </a:ext>
            </a:extLst>
          </p:cNvPr>
          <p:cNvSpPr/>
          <p:nvPr/>
        </p:nvSpPr>
        <p:spPr>
          <a:xfrm>
            <a:off x="0" y="5403456"/>
            <a:ext cx="1773936" cy="679655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FEC03F3-E5D3-9163-93D3-02FD90D2862A}"/>
              </a:ext>
            </a:extLst>
          </p:cNvPr>
          <p:cNvSpPr/>
          <p:nvPr/>
        </p:nvSpPr>
        <p:spPr>
          <a:xfrm>
            <a:off x="0" y="6067013"/>
            <a:ext cx="1773936" cy="790987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8" name="Graphic 47" descr="Gears with solid fill">
            <a:extLst>
              <a:ext uri="{FF2B5EF4-FFF2-40B4-BE49-F238E27FC236}">
                <a16:creationId xmlns:a16="http://schemas.microsoft.com/office/drawing/2014/main" id="{D4F15352-058C-CA4C-5F04-31C9194B81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2408" y="1373486"/>
            <a:ext cx="636422" cy="636422"/>
          </a:xfrm>
          <a:prstGeom prst="rect">
            <a:avLst/>
          </a:prstGeom>
        </p:spPr>
      </p:pic>
      <p:pic>
        <p:nvPicPr>
          <p:cNvPr id="50" name="Graphic 49" descr="Head with gears with solid fill">
            <a:extLst>
              <a:ext uri="{FF2B5EF4-FFF2-40B4-BE49-F238E27FC236}">
                <a16:creationId xmlns:a16="http://schemas.microsoft.com/office/drawing/2014/main" id="{FE8E3BB8-8B9A-F845-AB5B-1F31FFF01C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2408" y="48649"/>
            <a:ext cx="636422" cy="636422"/>
          </a:xfrm>
          <a:prstGeom prst="rect">
            <a:avLst/>
          </a:prstGeom>
        </p:spPr>
      </p:pic>
      <p:pic>
        <p:nvPicPr>
          <p:cNvPr id="52" name="Graphic 51" descr="Hourglass Finished with solid fill">
            <a:extLst>
              <a:ext uri="{FF2B5EF4-FFF2-40B4-BE49-F238E27FC236}">
                <a16:creationId xmlns:a16="http://schemas.microsoft.com/office/drawing/2014/main" id="{ABA507EB-2926-FCA1-1863-9CEE02DF7A3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1804" y="2091578"/>
            <a:ext cx="636422" cy="636422"/>
          </a:xfrm>
          <a:prstGeom prst="rect">
            <a:avLst/>
          </a:prstGeom>
        </p:spPr>
      </p:pic>
      <p:pic>
        <p:nvPicPr>
          <p:cNvPr id="54" name="Graphic 53" descr="Lightbulb with solid fill">
            <a:extLst>
              <a:ext uri="{FF2B5EF4-FFF2-40B4-BE49-F238E27FC236}">
                <a16:creationId xmlns:a16="http://schemas.microsoft.com/office/drawing/2014/main" id="{9F863A20-DD0C-7F76-FB12-B9987EFDB09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52408" y="733709"/>
            <a:ext cx="636422" cy="636422"/>
          </a:xfrm>
          <a:prstGeom prst="rect">
            <a:avLst/>
          </a:prstGeom>
        </p:spPr>
      </p:pic>
      <p:pic>
        <p:nvPicPr>
          <p:cNvPr id="56" name="Graphic 55" descr="Magnifying glass with solid fill">
            <a:extLst>
              <a:ext uri="{FF2B5EF4-FFF2-40B4-BE49-F238E27FC236}">
                <a16:creationId xmlns:a16="http://schemas.microsoft.com/office/drawing/2014/main" id="{2459BACB-C7E3-0D14-DEDE-FA606AAD72C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69520" y="3397151"/>
            <a:ext cx="636422" cy="636422"/>
          </a:xfrm>
          <a:prstGeom prst="rect">
            <a:avLst/>
          </a:prstGeom>
        </p:spPr>
      </p:pic>
      <p:pic>
        <p:nvPicPr>
          <p:cNvPr id="58" name="Graphic 57" descr="Playbook with solid fill">
            <a:extLst>
              <a:ext uri="{FF2B5EF4-FFF2-40B4-BE49-F238E27FC236}">
                <a16:creationId xmlns:a16="http://schemas.microsoft.com/office/drawing/2014/main" id="{53770154-D3F5-BFB3-A2D4-403CB09B9AF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53440" y="2731355"/>
            <a:ext cx="636422" cy="636422"/>
          </a:xfrm>
          <a:prstGeom prst="rect">
            <a:avLst/>
          </a:prstGeom>
        </p:spPr>
      </p:pic>
      <p:pic>
        <p:nvPicPr>
          <p:cNvPr id="60" name="Graphic 59" descr="Presentation with bar chart with solid fill">
            <a:extLst>
              <a:ext uri="{FF2B5EF4-FFF2-40B4-BE49-F238E27FC236}">
                <a16:creationId xmlns:a16="http://schemas.microsoft.com/office/drawing/2014/main" id="{9C9C16BD-CF79-7024-F68E-20FBB8FC23BE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69520" y="4110061"/>
            <a:ext cx="636422" cy="636422"/>
          </a:xfrm>
          <a:prstGeom prst="rect">
            <a:avLst/>
          </a:prstGeom>
        </p:spPr>
      </p:pic>
      <p:pic>
        <p:nvPicPr>
          <p:cNvPr id="62" name="Graphic 61" descr="Research with solid fill">
            <a:extLst>
              <a:ext uri="{FF2B5EF4-FFF2-40B4-BE49-F238E27FC236}">
                <a16:creationId xmlns:a16="http://schemas.microsoft.com/office/drawing/2014/main" id="{265D1C49-D706-C087-42DC-C1ED1AA5383D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25164" y="4761015"/>
            <a:ext cx="636422" cy="636422"/>
          </a:xfrm>
          <a:prstGeom prst="rect">
            <a:avLst/>
          </a:prstGeom>
        </p:spPr>
      </p:pic>
      <p:pic>
        <p:nvPicPr>
          <p:cNvPr id="64" name="Graphic 63" descr="Single gear with solid fill">
            <a:extLst>
              <a:ext uri="{FF2B5EF4-FFF2-40B4-BE49-F238E27FC236}">
                <a16:creationId xmlns:a16="http://schemas.microsoft.com/office/drawing/2014/main" id="{89171FAF-4955-1441-FB14-6B35F0E1B604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97276" y="5415768"/>
            <a:ext cx="636422" cy="636422"/>
          </a:xfrm>
          <a:prstGeom prst="rect">
            <a:avLst/>
          </a:prstGeom>
        </p:spPr>
      </p:pic>
      <p:pic>
        <p:nvPicPr>
          <p:cNvPr id="66" name="Graphic 65" descr="Target with solid fill">
            <a:extLst>
              <a:ext uri="{FF2B5EF4-FFF2-40B4-BE49-F238E27FC236}">
                <a16:creationId xmlns:a16="http://schemas.microsoft.com/office/drawing/2014/main" id="{5F26F6A0-40F5-FD4F-3F05-7F1A73AF5661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597276" y="6178032"/>
            <a:ext cx="636422" cy="636422"/>
          </a:xfrm>
          <a:prstGeom prst="rect">
            <a:avLst/>
          </a:prstGeom>
        </p:spPr>
      </p:pic>
      <p:sp>
        <p:nvSpPr>
          <p:cNvPr id="68" name="Content Placeholder 2">
            <a:extLst>
              <a:ext uri="{FF2B5EF4-FFF2-40B4-BE49-F238E27FC236}">
                <a16:creationId xmlns:a16="http://schemas.microsoft.com/office/drawing/2014/main" id="{073E8809-FB93-7175-A066-EEC1787EC4EF}"/>
              </a:ext>
            </a:extLst>
          </p:cNvPr>
          <p:cNvSpPr txBox="1">
            <a:spLocks/>
          </p:cNvSpPr>
          <p:nvPr/>
        </p:nvSpPr>
        <p:spPr>
          <a:xfrm>
            <a:off x="2188332" y="22052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defRPr sz="2000"/>
            </a:pPr>
            <a:r>
              <a:rPr lang="en-US" sz="3600" dirty="0">
                <a:latin typeface="Aptos Narrow" panose="020B0004020202020204" pitchFamily="34" charset="0"/>
              </a:rPr>
              <a:t>A micro or cottage industry is a small-scale business operated with limited manpower and investment.</a:t>
            </a:r>
          </a:p>
          <a:p>
            <a:pPr algn="just">
              <a:defRPr sz="2000"/>
            </a:pPr>
            <a:r>
              <a:rPr lang="en-US" sz="3600" dirty="0">
                <a:latin typeface="Aptos Narrow" panose="020B0004020202020204" pitchFamily="34" charset="0"/>
              </a:rPr>
              <a:t>Usually run from homes or small workshops.</a:t>
            </a:r>
          </a:p>
          <a:p>
            <a:pPr algn="just">
              <a:defRPr sz="2000"/>
            </a:pPr>
            <a:r>
              <a:rPr lang="en-US" sz="3600" dirty="0">
                <a:latin typeface="Aptos Narrow" panose="020B0004020202020204" pitchFamily="34" charset="0"/>
              </a:rPr>
              <a:t>Examples: candle making, soap making, handicrafts, pickle units, tailoring, etc.</a:t>
            </a:r>
          </a:p>
        </p:txBody>
      </p:sp>
      <p:sp>
        <p:nvSpPr>
          <p:cNvPr id="69" name="Rectangle: Single Corner Snipped 68">
            <a:extLst>
              <a:ext uri="{FF2B5EF4-FFF2-40B4-BE49-F238E27FC236}">
                <a16:creationId xmlns:a16="http://schemas.microsoft.com/office/drawing/2014/main" id="{7609A766-716F-FE5E-FC6C-F3329343ED71}"/>
              </a:ext>
            </a:extLst>
          </p:cNvPr>
          <p:cNvSpPr/>
          <p:nvPr/>
        </p:nvSpPr>
        <p:spPr>
          <a:xfrm flipH="1">
            <a:off x="3346704" y="5408388"/>
            <a:ext cx="8759952" cy="1293709"/>
          </a:xfrm>
          <a:prstGeom prst="snip1Rect">
            <a:avLst/>
          </a:prstGeom>
          <a:ln>
            <a:solidFill>
              <a:schemeClr val="tx1"/>
            </a:solidFill>
          </a:ln>
          <a:effectLst>
            <a:glow rad="101600">
              <a:schemeClr val="tx1">
                <a:alpha val="60000"/>
              </a:schemeClr>
            </a:glo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0" name="Rectangle: Single Corner Snipped 69">
            <a:extLst>
              <a:ext uri="{FF2B5EF4-FFF2-40B4-BE49-F238E27FC236}">
                <a16:creationId xmlns:a16="http://schemas.microsoft.com/office/drawing/2014/main" id="{536FB6E9-B62E-6A15-C404-F88B3376B79B}"/>
              </a:ext>
            </a:extLst>
          </p:cNvPr>
          <p:cNvSpPr/>
          <p:nvPr/>
        </p:nvSpPr>
        <p:spPr>
          <a:xfrm flipH="1">
            <a:off x="3415284" y="5458833"/>
            <a:ext cx="8622792" cy="1192817"/>
          </a:xfrm>
          <a:prstGeom prst="snip1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1" name="Title 1">
            <a:extLst>
              <a:ext uri="{FF2B5EF4-FFF2-40B4-BE49-F238E27FC236}">
                <a16:creationId xmlns:a16="http://schemas.microsoft.com/office/drawing/2014/main" id="{4873AB8D-996C-22C3-01D5-01A00291B0AF}"/>
              </a:ext>
            </a:extLst>
          </p:cNvPr>
          <p:cNvSpPr txBox="1">
            <a:spLocks/>
          </p:cNvSpPr>
          <p:nvPr/>
        </p:nvSpPr>
        <p:spPr>
          <a:xfrm>
            <a:off x="3761100" y="5483741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b="1" dirty="0">
                <a:solidFill>
                  <a:srgbClr val="FF0000"/>
                </a:solidFill>
                <a:latin typeface="Bahnschrift Condensed" panose="020B0502040204020203" pitchFamily="34" charset="0"/>
              </a:rPr>
              <a:t>SETTING UP A MICRO OR COTTAGE INDUSTRY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2A436BE-4762-4C36-8327-D454054B112D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7932" y="3429000"/>
            <a:ext cx="1869186" cy="1869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39324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E6B80-81AD-DF06-4AC2-82E36037D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D8DCDFE-C8BC-5659-E6C9-A535571C1A65}"/>
              </a:ext>
            </a:extLst>
          </p:cNvPr>
          <p:cNvSpPr/>
          <p:nvPr/>
        </p:nvSpPr>
        <p:spPr>
          <a:xfrm>
            <a:off x="0" y="9144"/>
            <a:ext cx="1773936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5A83092-123B-FF7B-0F42-9EDF897515FD}"/>
              </a:ext>
            </a:extLst>
          </p:cNvPr>
          <p:cNvSpPr/>
          <p:nvPr/>
        </p:nvSpPr>
        <p:spPr>
          <a:xfrm>
            <a:off x="0" y="16796"/>
            <a:ext cx="1773936" cy="683863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30759E2-4A4A-E3C4-E8DC-EB7B42B5CEA2}"/>
              </a:ext>
            </a:extLst>
          </p:cNvPr>
          <p:cNvSpPr/>
          <p:nvPr/>
        </p:nvSpPr>
        <p:spPr>
          <a:xfrm>
            <a:off x="0" y="709803"/>
            <a:ext cx="1773936" cy="6796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80F2EE2-1E77-5171-2B67-34A7D52E1B9F}"/>
              </a:ext>
            </a:extLst>
          </p:cNvPr>
          <p:cNvSpPr/>
          <p:nvPr/>
        </p:nvSpPr>
        <p:spPr>
          <a:xfrm>
            <a:off x="0" y="1357722"/>
            <a:ext cx="1773936" cy="679655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9AD45E1-613A-2A99-6FA0-9F0CD1554FBC}"/>
              </a:ext>
            </a:extLst>
          </p:cNvPr>
          <p:cNvSpPr/>
          <p:nvPr/>
        </p:nvSpPr>
        <p:spPr>
          <a:xfrm>
            <a:off x="0" y="2037377"/>
            <a:ext cx="1773936" cy="679655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CD5300D-0CD3-51E7-8B86-FE84D7A445F9}"/>
              </a:ext>
            </a:extLst>
          </p:cNvPr>
          <p:cNvSpPr/>
          <p:nvPr/>
        </p:nvSpPr>
        <p:spPr>
          <a:xfrm>
            <a:off x="0" y="2711666"/>
            <a:ext cx="1773936" cy="679655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ABBDB10-C0C2-0C1B-AD7F-740481512BD7}"/>
              </a:ext>
            </a:extLst>
          </p:cNvPr>
          <p:cNvSpPr/>
          <p:nvPr/>
        </p:nvSpPr>
        <p:spPr>
          <a:xfrm>
            <a:off x="0" y="3385955"/>
            <a:ext cx="1773936" cy="679655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B807699-2002-55A7-A427-557A2CA492C1}"/>
              </a:ext>
            </a:extLst>
          </p:cNvPr>
          <p:cNvSpPr/>
          <p:nvPr/>
        </p:nvSpPr>
        <p:spPr>
          <a:xfrm>
            <a:off x="0" y="4060244"/>
            <a:ext cx="1773936" cy="679655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E9C2EB4-7A04-1F94-2227-6D5193C6E081}"/>
              </a:ext>
            </a:extLst>
          </p:cNvPr>
          <p:cNvSpPr/>
          <p:nvPr/>
        </p:nvSpPr>
        <p:spPr>
          <a:xfrm>
            <a:off x="0" y="4729167"/>
            <a:ext cx="1773936" cy="679655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5978072-C02C-2C87-63A8-6073E9EB6D33}"/>
              </a:ext>
            </a:extLst>
          </p:cNvPr>
          <p:cNvSpPr/>
          <p:nvPr/>
        </p:nvSpPr>
        <p:spPr>
          <a:xfrm>
            <a:off x="0" y="5403456"/>
            <a:ext cx="1773936" cy="679655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AB55332-DB84-16C5-61AD-F0DA9507AA56}"/>
              </a:ext>
            </a:extLst>
          </p:cNvPr>
          <p:cNvSpPr/>
          <p:nvPr/>
        </p:nvSpPr>
        <p:spPr>
          <a:xfrm>
            <a:off x="0" y="6067013"/>
            <a:ext cx="1773936" cy="790987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8" name="Graphic 47" descr="Gears with solid fill">
            <a:extLst>
              <a:ext uri="{FF2B5EF4-FFF2-40B4-BE49-F238E27FC236}">
                <a16:creationId xmlns:a16="http://schemas.microsoft.com/office/drawing/2014/main" id="{31B451FE-D319-C29E-AFCF-D017526319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2408" y="1373486"/>
            <a:ext cx="636422" cy="636422"/>
          </a:xfrm>
          <a:prstGeom prst="rect">
            <a:avLst/>
          </a:prstGeom>
        </p:spPr>
      </p:pic>
      <p:pic>
        <p:nvPicPr>
          <p:cNvPr id="50" name="Graphic 49" descr="Head with gears with solid fill">
            <a:extLst>
              <a:ext uri="{FF2B5EF4-FFF2-40B4-BE49-F238E27FC236}">
                <a16:creationId xmlns:a16="http://schemas.microsoft.com/office/drawing/2014/main" id="{981B06AB-2134-6001-C0BC-4C37CF480F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2408" y="48649"/>
            <a:ext cx="636422" cy="636422"/>
          </a:xfrm>
          <a:prstGeom prst="rect">
            <a:avLst/>
          </a:prstGeom>
        </p:spPr>
      </p:pic>
      <p:pic>
        <p:nvPicPr>
          <p:cNvPr id="52" name="Graphic 51" descr="Hourglass Finished with solid fill">
            <a:extLst>
              <a:ext uri="{FF2B5EF4-FFF2-40B4-BE49-F238E27FC236}">
                <a16:creationId xmlns:a16="http://schemas.microsoft.com/office/drawing/2014/main" id="{B4B64026-7ADA-FA0A-D22C-AAC85E35214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1804" y="2091578"/>
            <a:ext cx="636422" cy="636422"/>
          </a:xfrm>
          <a:prstGeom prst="rect">
            <a:avLst/>
          </a:prstGeom>
        </p:spPr>
      </p:pic>
      <p:pic>
        <p:nvPicPr>
          <p:cNvPr id="54" name="Graphic 53" descr="Lightbulb with solid fill">
            <a:extLst>
              <a:ext uri="{FF2B5EF4-FFF2-40B4-BE49-F238E27FC236}">
                <a16:creationId xmlns:a16="http://schemas.microsoft.com/office/drawing/2014/main" id="{AC03CADA-8749-9295-2708-45664BFB7E4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52408" y="733709"/>
            <a:ext cx="636422" cy="636422"/>
          </a:xfrm>
          <a:prstGeom prst="rect">
            <a:avLst/>
          </a:prstGeom>
        </p:spPr>
      </p:pic>
      <p:pic>
        <p:nvPicPr>
          <p:cNvPr id="56" name="Graphic 55" descr="Magnifying glass with solid fill">
            <a:extLst>
              <a:ext uri="{FF2B5EF4-FFF2-40B4-BE49-F238E27FC236}">
                <a16:creationId xmlns:a16="http://schemas.microsoft.com/office/drawing/2014/main" id="{509379F7-248F-4A24-ED53-F50D6D8237A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69520" y="3397151"/>
            <a:ext cx="636422" cy="636422"/>
          </a:xfrm>
          <a:prstGeom prst="rect">
            <a:avLst/>
          </a:prstGeom>
        </p:spPr>
      </p:pic>
      <p:pic>
        <p:nvPicPr>
          <p:cNvPr id="58" name="Graphic 57" descr="Playbook with solid fill">
            <a:extLst>
              <a:ext uri="{FF2B5EF4-FFF2-40B4-BE49-F238E27FC236}">
                <a16:creationId xmlns:a16="http://schemas.microsoft.com/office/drawing/2014/main" id="{C8655DCE-BA24-EF1D-C752-45AEB08E1E3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53440" y="2731355"/>
            <a:ext cx="636422" cy="636422"/>
          </a:xfrm>
          <a:prstGeom prst="rect">
            <a:avLst/>
          </a:prstGeom>
        </p:spPr>
      </p:pic>
      <p:pic>
        <p:nvPicPr>
          <p:cNvPr id="60" name="Graphic 59" descr="Presentation with bar chart with solid fill">
            <a:extLst>
              <a:ext uri="{FF2B5EF4-FFF2-40B4-BE49-F238E27FC236}">
                <a16:creationId xmlns:a16="http://schemas.microsoft.com/office/drawing/2014/main" id="{8E7AFAA5-A7D7-DAAE-B71D-E08CFAC0F24D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69520" y="4110061"/>
            <a:ext cx="636422" cy="636422"/>
          </a:xfrm>
          <a:prstGeom prst="rect">
            <a:avLst/>
          </a:prstGeom>
        </p:spPr>
      </p:pic>
      <p:pic>
        <p:nvPicPr>
          <p:cNvPr id="62" name="Graphic 61" descr="Research with solid fill">
            <a:extLst>
              <a:ext uri="{FF2B5EF4-FFF2-40B4-BE49-F238E27FC236}">
                <a16:creationId xmlns:a16="http://schemas.microsoft.com/office/drawing/2014/main" id="{9D9E013B-C826-1CDD-3B9E-050588DF82B7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25164" y="4761015"/>
            <a:ext cx="636422" cy="636422"/>
          </a:xfrm>
          <a:prstGeom prst="rect">
            <a:avLst/>
          </a:prstGeom>
        </p:spPr>
      </p:pic>
      <p:pic>
        <p:nvPicPr>
          <p:cNvPr id="64" name="Graphic 63" descr="Single gear with solid fill">
            <a:extLst>
              <a:ext uri="{FF2B5EF4-FFF2-40B4-BE49-F238E27FC236}">
                <a16:creationId xmlns:a16="http://schemas.microsoft.com/office/drawing/2014/main" id="{846DFC8B-ECE8-C35B-9C29-3A1A95451415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97276" y="5415768"/>
            <a:ext cx="636422" cy="636422"/>
          </a:xfrm>
          <a:prstGeom prst="rect">
            <a:avLst/>
          </a:prstGeom>
        </p:spPr>
      </p:pic>
      <p:pic>
        <p:nvPicPr>
          <p:cNvPr id="66" name="Graphic 65" descr="Target with solid fill">
            <a:extLst>
              <a:ext uri="{FF2B5EF4-FFF2-40B4-BE49-F238E27FC236}">
                <a16:creationId xmlns:a16="http://schemas.microsoft.com/office/drawing/2014/main" id="{AAB48CF6-CE91-0DF2-9A49-896F731F5ECD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597276" y="6178032"/>
            <a:ext cx="636422" cy="63642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9FE8D5-3F85-C003-C407-129566B55D6B}"/>
              </a:ext>
            </a:extLst>
          </p:cNvPr>
          <p:cNvSpPr txBox="1">
            <a:spLocks/>
          </p:cNvSpPr>
          <p:nvPr/>
        </p:nvSpPr>
        <p:spPr>
          <a:xfrm>
            <a:off x="2147774" y="358727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000"/>
            </a:pPr>
            <a:r>
              <a:rPr lang="en-US" sz="3600" dirty="0">
                <a:latin typeface="Aptos Narrow" panose="020B0004020202020204" pitchFamily="34" charset="0"/>
              </a:rPr>
              <a:t>1</a:t>
            </a:r>
            <a:r>
              <a:rPr lang="en-US" sz="3600" dirty="0">
                <a:latin typeface="Aptos Narrow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lang="en-US" sz="3900" dirty="0">
                <a:latin typeface="Aptos Narrow" panose="020B0004020202020204" pitchFamily="34" charset="0"/>
                <a:cs typeface="Times New Roman" panose="02020603050405020304" pitchFamily="18" charset="0"/>
              </a:rPr>
              <a:t>Idea selection</a:t>
            </a:r>
          </a:p>
          <a:p>
            <a:pPr algn="l">
              <a:defRPr sz="2000"/>
            </a:pPr>
            <a:r>
              <a:rPr lang="en-US" sz="3900" dirty="0">
                <a:latin typeface="Aptos Narrow" panose="020B0004020202020204" pitchFamily="34" charset="0"/>
                <a:cs typeface="Times New Roman" panose="02020603050405020304" pitchFamily="18" charset="0"/>
              </a:rPr>
              <a:t>2. Market study</a:t>
            </a:r>
          </a:p>
          <a:p>
            <a:pPr algn="l">
              <a:defRPr sz="2000"/>
            </a:pPr>
            <a:r>
              <a:rPr lang="en-US" sz="3900" dirty="0">
                <a:latin typeface="Aptos Narrow" panose="020B0004020202020204" pitchFamily="34" charset="0"/>
                <a:cs typeface="Times New Roman" panose="02020603050405020304" pitchFamily="18" charset="0"/>
              </a:rPr>
              <a:t>3. Equipment setup</a:t>
            </a:r>
          </a:p>
          <a:p>
            <a:pPr algn="l">
              <a:defRPr sz="2000"/>
            </a:pPr>
            <a:r>
              <a:rPr lang="en-US" sz="3900" dirty="0">
                <a:latin typeface="Aptos Narrow" panose="020B0004020202020204" pitchFamily="34" charset="0"/>
                <a:cs typeface="Times New Roman" panose="02020603050405020304" pitchFamily="18" charset="0"/>
              </a:rPr>
              <a:t>4. Space arrangement</a:t>
            </a:r>
          </a:p>
          <a:p>
            <a:pPr algn="l">
              <a:defRPr sz="2000"/>
            </a:pPr>
            <a:r>
              <a:rPr lang="en-US" sz="3900" dirty="0">
                <a:latin typeface="Aptos Narrow" panose="020B0004020202020204" pitchFamily="34" charset="0"/>
                <a:cs typeface="Times New Roman" panose="02020603050405020304" pitchFamily="18" charset="0"/>
              </a:rPr>
              <a:t>5. License and registration</a:t>
            </a:r>
          </a:p>
          <a:p>
            <a:pPr algn="l">
              <a:defRPr sz="2000"/>
            </a:pPr>
            <a:r>
              <a:rPr lang="en-US" sz="3900" dirty="0">
                <a:latin typeface="Aptos Narrow" panose="020B0004020202020204" pitchFamily="34" charset="0"/>
                <a:cs typeface="Times New Roman" panose="02020603050405020304" pitchFamily="18" charset="0"/>
              </a:rPr>
              <a:t>6. Cost estimation</a:t>
            </a:r>
          </a:p>
          <a:p>
            <a:pPr algn="l">
              <a:defRPr sz="2000"/>
            </a:pPr>
            <a:r>
              <a:rPr lang="en-US" sz="3900" dirty="0">
                <a:latin typeface="Aptos Narrow" panose="020B0004020202020204" pitchFamily="34" charset="0"/>
                <a:cs typeface="Times New Roman" panose="02020603050405020304" pitchFamily="18" charset="0"/>
              </a:rPr>
              <a:t>7. Raw material procurement</a:t>
            </a:r>
          </a:p>
          <a:p>
            <a:pPr algn="l">
              <a:defRPr sz="2000"/>
            </a:pPr>
            <a:r>
              <a:rPr lang="en-US" sz="3900" dirty="0">
                <a:latin typeface="Aptos Narrow" panose="020B0004020202020204" pitchFamily="34" charset="0"/>
                <a:cs typeface="Times New Roman" panose="02020603050405020304" pitchFamily="18" charset="0"/>
              </a:rPr>
              <a:t>8. Pricing and sales</a:t>
            </a:r>
          </a:p>
        </p:txBody>
      </p:sp>
      <p:sp>
        <p:nvSpPr>
          <p:cNvPr id="5" name="Rectangle: Single Corner Snipped 4">
            <a:extLst>
              <a:ext uri="{FF2B5EF4-FFF2-40B4-BE49-F238E27FC236}">
                <a16:creationId xmlns:a16="http://schemas.microsoft.com/office/drawing/2014/main" id="{EAA18A85-8FC9-D092-F97D-9F0E4B9D7166}"/>
              </a:ext>
            </a:extLst>
          </p:cNvPr>
          <p:cNvSpPr/>
          <p:nvPr/>
        </p:nvSpPr>
        <p:spPr>
          <a:xfrm flipH="1">
            <a:off x="3310128" y="5436257"/>
            <a:ext cx="8759952" cy="1293709"/>
          </a:xfrm>
          <a:prstGeom prst="snip1Rect">
            <a:avLst/>
          </a:prstGeom>
          <a:ln>
            <a:solidFill>
              <a:schemeClr val="tx1"/>
            </a:solidFill>
          </a:ln>
          <a:effectLst>
            <a:glow rad="101600">
              <a:schemeClr val="tx1">
                <a:alpha val="60000"/>
              </a:schemeClr>
            </a:glo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: Single Corner Snipped 5">
            <a:extLst>
              <a:ext uri="{FF2B5EF4-FFF2-40B4-BE49-F238E27FC236}">
                <a16:creationId xmlns:a16="http://schemas.microsoft.com/office/drawing/2014/main" id="{6349206F-BA69-11C4-F8DC-9B8A88368A32}"/>
              </a:ext>
            </a:extLst>
          </p:cNvPr>
          <p:cNvSpPr/>
          <p:nvPr/>
        </p:nvSpPr>
        <p:spPr>
          <a:xfrm flipH="1">
            <a:off x="3378708" y="5486702"/>
            <a:ext cx="8622792" cy="1192817"/>
          </a:xfrm>
          <a:prstGeom prst="snip1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84D1081-1365-7E9E-04E9-E4A7535F55C6}"/>
              </a:ext>
            </a:extLst>
          </p:cNvPr>
          <p:cNvSpPr txBox="1">
            <a:spLocks/>
          </p:cNvSpPr>
          <p:nvPr/>
        </p:nvSpPr>
        <p:spPr>
          <a:xfrm>
            <a:off x="5486400" y="5413131"/>
            <a:ext cx="6967728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FF0000"/>
                </a:solidFill>
                <a:latin typeface="Bahnschrift Condensed" panose="020B0502040204020203" pitchFamily="34" charset="0"/>
              </a:rPr>
              <a:t>Key Steps in Setting Up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532E2F7-3596-4770-FFBC-D530312B7B7A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7932" y="3429000"/>
            <a:ext cx="1869186" cy="1869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2133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CB3772-FE90-5356-C348-8D9C08CCF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C6D36F5-D799-13A8-7876-B2EF0A2CC295}"/>
              </a:ext>
            </a:extLst>
          </p:cNvPr>
          <p:cNvSpPr/>
          <p:nvPr/>
        </p:nvSpPr>
        <p:spPr>
          <a:xfrm>
            <a:off x="0" y="9144"/>
            <a:ext cx="1773936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7FC0683-8B14-C296-44F3-3B8331F7DEBA}"/>
              </a:ext>
            </a:extLst>
          </p:cNvPr>
          <p:cNvSpPr/>
          <p:nvPr/>
        </p:nvSpPr>
        <p:spPr>
          <a:xfrm>
            <a:off x="0" y="16796"/>
            <a:ext cx="1773936" cy="683863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C160EC4-B2FC-B2D9-BFE0-827AA78FF5DE}"/>
              </a:ext>
            </a:extLst>
          </p:cNvPr>
          <p:cNvSpPr/>
          <p:nvPr/>
        </p:nvSpPr>
        <p:spPr>
          <a:xfrm>
            <a:off x="0" y="709803"/>
            <a:ext cx="1773936" cy="679655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CBC630D-B60A-0D23-3435-04D94F799904}"/>
              </a:ext>
            </a:extLst>
          </p:cNvPr>
          <p:cNvSpPr/>
          <p:nvPr/>
        </p:nvSpPr>
        <p:spPr>
          <a:xfrm>
            <a:off x="0" y="1357722"/>
            <a:ext cx="1773936" cy="6796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7DCC258-DED0-07C2-FBE0-D92F6628FBF7}"/>
              </a:ext>
            </a:extLst>
          </p:cNvPr>
          <p:cNvSpPr/>
          <p:nvPr/>
        </p:nvSpPr>
        <p:spPr>
          <a:xfrm>
            <a:off x="0" y="2037377"/>
            <a:ext cx="1773936" cy="679655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A8FFBD1-113B-B266-F5E0-E47B428F5B03}"/>
              </a:ext>
            </a:extLst>
          </p:cNvPr>
          <p:cNvSpPr/>
          <p:nvPr/>
        </p:nvSpPr>
        <p:spPr>
          <a:xfrm>
            <a:off x="0" y="2711666"/>
            <a:ext cx="1773936" cy="679655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0DCB86C-1A8D-5416-9187-EE44A91D73F8}"/>
              </a:ext>
            </a:extLst>
          </p:cNvPr>
          <p:cNvSpPr/>
          <p:nvPr/>
        </p:nvSpPr>
        <p:spPr>
          <a:xfrm>
            <a:off x="0" y="3385955"/>
            <a:ext cx="1773936" cy="679655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2EB9EB5-790C-2DEF-8B70-C20278551E8C}"/>
              </a:ext>
            </a:extLst>
          </p:cNvPr>
          <p:cNvSpPr/>
          <p:nvPr/>
        </p:nvSpPr>
        <p:spPr>
          <a:xfrm>
            <a:off x="0" y="4060244"/>
            <a:ext cx="1773936" cy="679655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00A8106-445C-5CDB-5C9C-05A2C9E57099}"/>
              </a:ext>
            </a:extLst>
          </p:cNvPr>
          <p:cNvSpPr/>
          <p:nvPr/>
        </p:nvSpPr>
        <p:spPr>
          <a:xfrm>
            <a:off x="0" y="4729167"/>
            <a:ext cx="1773936" cy="679655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3C9F933-8D35-B7DC-E127-22E93866DD63}"/>
              </a:ext>
            </a:extLst>
          </p:cNvPr>
          <p:cNvSpPr/>
          <p:nvPr/>
        </p:nvSpPr>
        <p:spPr>
          <a:xfrm>
            <a:off x="0" y="5403456"/>
            <a:ext cx="1773936" cy="679655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EE007CC-6A39-0ED4-4E9B-CBA7E15B7E19}"/>
              </a:ext>
            </a:extLst>
          </p:cNvPr>
          <p:cNvSpPr/>
          <p:nvPr/>
        </p:nvSpPr>
        <p:spPr>
          <a:xfrm>
            <a:off x="0" y="6067013"/>
            <a:ext cx="1773936" cy="790987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8" name="Graphic 47" descr="Gears with solid fill">
            <a:extLst>
              <a:ext uri="{FF2B5EF4-FFF2-40B4-BE49-F238E27FC236}">
                <a16:creationId xmlns:a16="http://schemas.microsoft.com/office/drawing/2014/main" id="{B62D1238-EFC8-13FA-E45F-1E502C2830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2408" y="1373486"/>
            <a:ext cx="636422" cy="636422"/>
          </a:xfrm>
          <a:prstGeom prst="rect">
            <a:avLst/>
          </a:prstGeom>
        </p:spPr>
      </p:pic>
      <p:pic>
        <p:nvPicPr>
          <p:cNvPr id="50" name="Graphic 49" descr="Head with gears with solid fill">
            <a:extLst>
              <a:ext uri="{FF2B5EF4-FFF2-40B4-BE49-F238E27FC236}">
                <a16:creationId xmlns:a16="http://schemas.microsoft.com/office/drawing/2014/main" id="{563940EC-C69E-C3A7-CB1A-4DB4A58B03E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2408" y="48649"/>
            <a:ext cx="636422" cy="636422"/>
          </a:xfrm>
          <a:prstGeom prst="rect">
            <a:avLst/>
          </a:prstGeom>
        </p:spPr>
      </p:pic>
      <p:pic>
        <p:nvPicPr>
          <p:cNvPr id="52" name="Graphic 51" descr="Hourglass Finished with solid fill">
            <a:extLst>
              <a:ext uri="{FF2B5EF4-FFF2-40B4-BE49-F238E27FC236}">
                <a16:creationId xmlns:a16="http://schemas.microsoft.com/office/drawing/2014/main" id="{7A3665C2-F272-7FA8-F25C-CC9E26118C7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1804" y="2091578"/>
            <a:ext cx="636422" cy="636422"/>
          </a:xfrm>
          <a:prstGeom prst="rect">
            <a:avLst/>
          </a:prstGeom>
        </p:spPr>
      </p:pic>
      <p:pic>
        <p:nvPicPr>
          <p:cNvPr id="54" name="Graphic 53" descr="Lightbulb with solid fill">
            <a:extLst>
              <a:ext uri="{FF2B5EF4-FFF2-40B4-BE49-F238E27FC236}">
                <a16:creationId xmlns:a16="http://schemas.microsoft.com/office/drawing/2014/main" id="{49D9F670-766B-B319-E642-84493B7BEFF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52408" y="733709"/>
            <a:ext cx="636422" cy="636422"/>
          </a:xfrm>
          <a:prstGeom prst="rect">
            <a:avLst/>
          </a:prstGeom>
        </p:spPr>
      </p:pic>
      <p:pic>
        <p:nvPicPr>
          <p:cNvPr id="56" name="Graphic 55" descr="Magnifying glass with solid fill">
            <a:extLst>
              <a:ext uri="{FF2B5EF4-FFF2-40B4-BE49-F238E27FC236}">
                <a16:creationId xmlns:a16="http://schemas.microsoft.com/office/drawing/2014/main" id="{0F018377-5D4A-59D2-BE83-5B4CF5DCFD6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69520" y="3397151"/>
            <a:ext cx="636422" cy="636422"/>
          </a:xfrm>
          <a:prstGeom prst="rect">
            <a:avLst/>
          </a:prstGeom>
        </p:spPr>
      </p:pic>
      <p:pic>
        <p:nvPicPr>
          <p:cNvPr id="58" name="Graphic 57" descr="Playbook with solid fill">
            <a:extLst>
              <a:ext uri="{FF2B5EF4-FFF2-40B4-BE49-F238E27FC236}">
                <a16:creationId xmlns:a16="http://schemas.microsoft.com/office/drawing/2014/main" id="{EB1621A6-429E-1CB2-C26F-C127F9500AC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53440" y="2731355"/>
            <a:ext cx="636422" cy="636422"/>
          </a:xfrm>
          <a:prstGeom prst="rect">
            <a:avLst/>
          </a:prstGeom>
        </p:spPr>
      </p:pic>
      <p:pic>
        <p:nvPicPr>
          <p:cNvPr id="60" name="Graphic 59" descr="Presentation with bar chart with solid fill">
            <a:extLst>
              <a:ext uri="{FF2B5EF4-FFF2-40B4-BE49-F238E27FC236}">
                <a16:creationId xmlns:a16="http://schemas.microsoft.com/office/drawing/2014/main" id="{98657260-7503-EE0A-0207-BEE292845D8A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69520" y="4110061"/>
            <a:ext cx="636422" cy="636422"/>
          </a:xfrm>
          <a:prstGeom prst="rect">
            <a:avLst/>
          </a:prstGeom>
        </p:spPr>
      </p:pic>
      <p:pic>
        <p:nvPicPr>
          <p:cNvPr id="62" name="Graphic 61" descr="Research with solid fill">
            <a:extLst>
              <a:ext uri="{FF2B5EF4-FFF2-40B4-BE49-F238E27FC236}">
                <a16:creationId xmlns:a16="http://schemas.microsoft.com/office/drawing/2014/main" id="{DF2ACD5A-5CA5-93D6-8B24-BF1C0EB53F9B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25164" y="4761015"/>
            <a:ext cx="636422" cy="636422"/>
          </a:xfrm>
          <a:prstGeom prst="rect">
            <a:avLst/>
          </a:prstGeom>
        </p:spPr>
      </p:pic>
      <p:pic>
        <p:nvPicPr>
          <p:cNvPr id="64" name="Graphic 63" descr="Single gear with solid fill">
            <a:extLst>
              <a:ext uri="{FF2B5EF4-FFF2-40B4-BE49-F238E27FC236}">
                <a16:creationId xmlns:a16="http://schemas.microsoft.com/office/drawing/2014/main" id="{9E31BD76-36A0-B3BF-3FA1-E7B8207C8C37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97276" y="5415768"/>
            <a:ext cx="636422" cy="636422"/>
          </a:xfrm>
          <a:prstGeom prst="rect">
            <a:avLst/>
          </a:prstGeom>
        </p:spPr>
      </p:pic>
      <p:pic>
        <p:nvPicPr>
          <p:cNvPr id="66" name="Graphic 65" descr="Target with solid fill">
            <a:extLst>
              <a:ext uri="{FF2B5EF4-FFF2-40B4-BE49-F238E27FC236}">
                <a16:creationId xmlns:a16="http://schemas.microsoft.com/office/drawing/2014/main" id="{09EF0E49-180E-849E-C2B3-AA78BB02D0A5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597276" y="6178032"/>
            <a:ext cx="636422" cy="63642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D2F70D-BEDA-B183-89EA-BD6AD06CA929}"/>
              </a:ext>
            </a:extLst>
          </p:cNvPr>
          <p:cNvSpPr txBox="1">
            <a:spLocks/>
          </p:cNvSpPr>
          <p:nvPr/>
        </p:nvSpPr>
        <p:spPr>
          <a:xfrm>
            <a:off x="1831106" y="-11074"/>
            <a:ext cx="8229600" cy="53831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defRPr sz="2000"/>
            </a:pPr>
            <a:r>
              <a:rPr lang="en-US" sz="3400" dirty="0">
                <a:latin typeface="Aptos Narrow" panose="020B0004020202020204" pitchFamily="34" charset="0"/>
                <a:cs typeface="Times New Roman" panose="02020603050405020304" pitchFamily="18" charset="0"/>
              </a:rPr>
              <a:t>Depends on the type of product.</a:t>
            </a:r>
          </a:p>
          <a:p>
            <a:pPr algn="just">
              <a:defRPr sz="2000"/>
            </a:pPr>
            <a:r>
              <a:rPr lang="en-US" sz="3400" dirty="0">
                <a:latin typeface="Aptos Narrow" panose="020B0004020202020204" pitchFamily="34" charset="0"/>
                <a:cs typeface="Times New Roman" panose="02020603050405020304" pitchFamily="18" charset="0"/>
              </a:rPr>
              <a:t>Choose simple, energy-efficient, and low-cost machines.</a:t>
            </a:r>
          </a:p>
          <a:p>
            <a:pPr algn="just">
              <a:defRPr sz="2000"/>
            </a:pPr>
            <a:r>
              <a:rPr lang="en-US" sz="3400" dirty="0">
                <a:latin typeface="Aptos Narrow" panose="020B0004020202020204" pitchFamily="34" charset="0"/>
                <a:cs typeface="Times New Roman" panose="02020603050405020304" pitchFamily="18" charset="0"/>
              </a:rPr>
              <a:t>Maintenance should be easy.</a:t>
            </a:r>
          </a:p>
          <a:p>
            <a:pPr algn="just">
              <a:defRPr sz="2000"/>
            </a:pPr>
            <a:r>
              <a:rPr lang="en-US" sz="3400" dirty="0">
                <a:latin typeface="Aptos Narrow" panose="020B0004020202020204" pitchFamily="34" charset="0"/>
                <a:cs typeface="Times New Roman" panose="02020603050405020304" pitchFamily="18" charset="0"/>
              </a:rPr>
              <a:t>Examples:</a:t>
            </a:r>
          </a:p>
          <a:p>
            <a:pPr algn="just">
              <a:defRPr sz="2000"/>
            </a:pPr>
            <a:r>
              <a:rPr lang="en-US" sz="3400" dirty="0">
                <a:latin typeface="Aptos Narrow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400" dirty="0">
                <a:solidFill>
                  <a:srgbClr val="FF0000"/>
                </a:solidFill>
                <a:latin typeface="Aptos Narrow" panose="020B0004020202020204" pitchFamily="34" charset="0"/>
                <a:cs typeface="Times New Roman" panose="02020603050405020304" pitchFamily="18" charset="0"/>
              </a:rPr>
              <a:t>Food processing: </a:t>
            </a:r>
            <a:r>
              <a:rPr lang="en-US" sz="3400" dirty="0">
                <a:latin typeface="Aptos Narrow" panose="020B0004020202020204" pitchFamily="34" charset="0"/>
                <a:cs typeface="Times New Roman" panose="02020603050405020304" pitchFamily="18" charset="0"/>
              </a:rPr>
              <a:t>Mixers, grinders, sealing machines</a:t>
            </a:r>
          </a:p>
          <a:p>
            <a:pPr algn="just">
              <a:defRPr sz="2000"/>
            </a:pPr>
            <a:r>
              <a:rPr lang="en-US" sz="3400" dirty="0">
                <a:solidFill>
                  <a:srgbClr val="FF0000"/>
                </a:solidFill>
                <a:latin typeface="Aptos Narrow" panose="020B0004020202020204" pitchFamily="34" charset="0"/>
                <a:cs typeface="Times New Roman" panose="02020603050405020304" pitchFamily="18" charset="0"/>
              </a:rPr>
              <a:t>Textile: </a:t>
            </a:r>
            <a:r>
              <a:rPr lang="en-US" sz="3400" dirty="0">
                <a:latin typeface="Aptos Narrow" panose="020B0004020202020204" pitchFamily="34" charset="0"/>
                <a:cs typeface="Times New Roman" panose="02020603050405020304" pitchFamily="18" charset="0"/>
              </a:rPr>
              <a:t>Sewing machines, cutting tables</a:t>
            </a:r>
          </a:p>
          <a:p>
            <a:pPr algn="just">
              <a:defRPr sz="2000"/>
            </a:pPr>
            <a:r>
              <a:rPr lang="en-US" sz="3400" dirty="0">
                <a:solidFill>
                  <a:srgbClr val="FF0000"/>
                </a:solidFill>
                <a:latin typeface="Aptos Narrow" panose="020B0004020202020204" pitchFamily="34" charset="0"/>
                <a:cs typeface="Times New Roman" panose="02020603050405020304" pitchFamily="18" charset="0"/>
              </a:rPr>
              <a:t>Soap making: </a:t>
            </a:r>
            <a:r>
              <a:rPr lang="en-US" sz="3400" dirty="0">
                <a:latin typeface="Aptos Narrow" panose="020B0004020202020204" pitchFamily="34" charset="0"/>
                <a:cs typeface="Times New Roman" panose="02020603050405020304" pitchFamily="18" charset="0"/>
              </a:rPr>
              <a:t>Heating pan, molds, cutter</a:t>
            </a:r>
          </a:p>
        </p:txBody>
      </p:sp>
      <p:sp>
        <p:nvSpPr>
          <p:cNvPr id="5" name="Rectangle: Single Corner Snipped 4">
            <a:extLst>
              <a:ext uri="{FF2B5EF4-FFF2-40B4-BE49-F238E27FC236}">
                <a16:creationId xmlns:a16="http://schemas.microsoft.com/office/drawing/2014/main" id="{275F5695-1ED2-6D9D-CB25-DB01F10794BE}"/>
              </a:ext>
            </a:extLst>
          </p:cNvPr>
          <p:cNvSpPr/>
          <p:nvPr/>
        </p:nvSpPr>
        <p:spPr>
          <a:xfrm flipH="1">
            <a:off x="3374136" y="5496058"/>
            <a:ext cx="8759952" cy="1293709"/>
          </a:xfrm>
          <a:prstGeom prst="snip1Rect">
            <a:avLst/>
          </a:prstGeom>
          <a:ln>
            <a:solidFill>
              <a:schemeClr val="tx1"/>
            </a:solidFill>
          </a:ln>
          <a:effectLst>
            <a:glow rad="101600">
              <a:schemeClr val="tx1">
                <a:alpha val="60000"/>
              </a:schemeClr>
            </a:glo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: Single Corner Snipped 5">
            <a:extLst>
              <a:ext uri="{FF2B5EF4-FFF2-40B4-BE49-F238E27FC236}">
                <a16:creationId xmlns:a16="http://schemas.microsoft.com/office/drawing/2014/main" id="{61B57E18-FE09-582B-665A-F4DC02B27DB4}"/>
              </a:ext>
            </a:extLst>
          </p:cNvPr>
          <p:cNvSpPr/>
          <p:nvPr/>
        </p:nvSpPr>
        <p:spPr>
          <a:xfrm flipH="1">
            <a:off x="3442716" y="5546503"/>
            <a:ext cx="8622792" cy="1192817"/>
          </a:xfrm>
          <a:prstGeom prst="snip1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F1723DC-3E3B-84E1-3876-A89B98401E51}"/>
              </a:ext>
            </a:extLst>
          </p:cNvPr>
          <p:cNvSpPr txBox="1">
            <a:spLocks/>
          </p:cNvSpPr>
          <p:nvPr/>
        </p:nvSpPr>
        <p:spPr>
          <a:xfrm>
            <a:off x="7731292" y="5463295"/>
            <a:ext cx="4956048" cy="123503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7400" dirty="0">
                <a:solidFill>
                  <a:srgbClr val="FF0000"/>
                </a:solidFill>
                <a:latin typeface="Bahnschrift Condensed" panose="020B0502040204020203" pitchFamily="34" charset="0"/>
              </a:rPr>
              <a:t>Equipment</a:t>
            </a:r>
            <a:endParaRPr lang="en-IN" dirty="0">
              <a:solidFill>
                <a:srgbClr val="FF0000"/>
              </a:solidFill>
              <a:latin typeface="Bahnschrift Condensed" panose="020B0502040204020203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345B1A4-43CF-5EEB-7813-317ABDA7CEE7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7932" y="3429000"/>
            <a:ext cx="1869186" cy="1869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3474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CE1BC-5F37-EB11-B9CA-793586532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F7E8EEE-4443-7FD5-AA2F-9728F18FAEAB}"/>
              </a:ext>
            </a:extLst>
          </p:cNvPr>
          <p:cNvSpPr/>
          <p:nvPr/>
        </p:nvSpPr>
        <p:spPr>
          <a:xfrm>
            <a:off x="0" y="9144"/>
            <a:ext cx="1773936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08AEE78-B859-33D7-8424-043D132B72B6}"/>
              </a:ext>
            </a:extLst>
          </p:cNvPr>
          <p:cNvSpPr/>
          <p:nvPr/>
        </p:nvSpPr>
        <p:spPr>
          <a:xfrm>
            <a:off x="0" y="16796"/>
            <a:ext cx="1773936" cy="683863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2DE821F-596E-A755-3D21-1EC33A48FCC5}"/>
              </a:ext>
            </a:extLst>
          </p:cNvPr>
          <p:cNvSpPr/>
          <p:nvPr/>
        </p:nvSpPr>
        <p:spPr>
          <a:xfrm>
            <a:off x="0" y="709803"/>
            <a:ext cx="1773936" cy="679655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A68A5FF-A518-C7E2-4E6B-8E845677F934}"/>
              </a:ext>
            </a:extLst>
          </p:cNvPr>
          <p:cNvSpPr/>
          <p:nvPr/>
        </p:nvSpPr>
        <p:spPr>
          <a:xfrm>
            <a:off x="0" y="1357722"/>
            <a:ext cx="1773936" cy="679655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6BA46CF-84E3-65FC-B36B-E889D4303BF7}"/>
              </a:ext>
            </a:extLst>
          </p:cNvPr>
          <p:cNvSpPr/>
          <p:nvPr/>
        </p:nvSpPr>
        <p:spPr>
          <a:xfrm>
            <a:off x="0" y="2037377"/>
            <a:ext cx="1773936" cy="6796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1C848C8-9E97-B427-FBEE-97721AF1FB41}"/>
              </a:ext>
            </a:extLst>
          </p:cNvPr>
          <p:cNvSpPr/>
          <p:nvPr/>
        </p:nvSpPr>
        <p:spPr>
          <a:xfrm>
            <a:off x="0" y="2711666"/>
            <a:ext cx="1773936" cy="679655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42B372D-7DC2-C5FB-740A-5362E4DB58E8}"/>
              </a:ext>
            </a:extLst>
          </p:cNvPr>
          <p:cNvSpPr/>
          <p:nvPr/>
        </p:nvSpPr>
        <p:spPr>
          <a:xfrm>
            <a:off x="0" y="3385955"/>
            <a:ext cx="1773936" cy="679655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CCAC98E-E7B6-CF4C-E2AE-21B4CDE19EB2}"/>
              </a:ext>
            </a:extLst>
          </p:cNvPr>
          <p:cNvSpPr/>
          <p:nvPr/>
        </p:nvSpPr>
        <p:spPr>
          <a:xfrm>
            <a:off x="0" y="4060244"/>
            <a:ext cx="1773936" cy="679655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816751B-0B3D-DE09-5141-68F8D23E4C50}"/>
              </a:ext>
            </a:extLst>
          </p:cNvPr>
          <p:cNvSpPr/>
          <p:nvPr/>
        </p:nvSpPr>
        <p:spPr>
          <a:xfrm>
            <a:off x="0" y="4729167"/>
            <a:ext cx="1773936" cy="679655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4BC3A19-6520-4588-0775-38BCDC290F3A}"/>
              </a:ext>
            </a:extLst>
          </p:cNvPr>
          <p:cNvSpPr/>
          <p:nvPr/>
        </p:nvSpPr>
        <p:spPr>
          <a:xfrm>
            <a:off x="0" y="5403456"/>
            <a:ext cx="1773936" cy="679655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480FFBC-C748-F26A-CCA5-579CA52D73A4}"/>
              </a:ext>
            </a:extLst>
          </p:cNvPr>
          <p:cNvSpPr/>
          <p:nvPr/>
        </p:nvSpPr>
        <p:spPr>
          <a:xfrm>
            <a:off x="0" y="6067013"/>
            <a:ext cx="1773936" cy="790987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8" name="Graphic 47" descr="Gears with solid fill">
            <a:extLst>
              <a:ext uri="{FF2B5EF4-FFF2-40B4-BE49-F238E27FC236}">
                <a16:creationId xmlns:a16="http://schemas.microsoft.com/office/drawing/2014/main" id="{959A696F-5D60-470D-27FF-030B4B00C6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2408" y="1373486"/>
            <a:ext cx="636422" cy="636422"/>
          </a:xfrm>
          <a:prstGeom prst="rect">
            <a:avLst/>
          </a:prstGeom>
        </p:spPr>
      </p:pic>
      <p:pic>
        <p:nvPicPr>
          <p:cNvPr id="50" name="Graphic 49" descr="Head with gears with solid fill">
            <a:extLst>
              <a:ext uri="{FF2B5EF4-FFF2-40B4-BE49-F238E27FC236}">
                <a16:creationId xmlns:a16="http://schemas.microsoft.com/office/drawing/2014/main" id="{CA25F256-56C5-8A06-8C99-2E433959D2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2408" y="48649"/>
            <a:ext cx="636422" cy="636422"/>
          </a:xfrm>
          <a:prstGeom prst="rect">
            <a:avLst/>
          </a:prstGeom>
        </p:spPr>
      </p:pic>
      <p:pic>
        <p:nvPicPr>
          <p:cNvPr id="52" name="Graphic 51" descr="Hourglass Finished with solid fill">
            <a:extLst>
              <a:ext uri="{FF2B5EF4-FFF2-40B4-BE49-F238E27FC236}">
                <a16:creationId xmlns:a16="http://schemas.microsoft.com/office/drawing/2014/main" id="{BB359C23-40BC-7A72-95BA-C2D1A051B5D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1804" y="2091578"/>
            <a:ext cx="636422" cy="636422"/>
          </a:xfrm>
          <a:prstGeom prst="rect">
            <a:avLst/>
          </a:prstGeom>
        </p:spPr>
      </p:pic>
      <p:pic>
        <p:nvPicPr>
          <p:cNvPr id="54" name="Graphic 53" descr="Lightbulb with solid fill">
            <a:extLst>
              <a:ext uri="{FF2B5EF4-FFF2-40B4-BE49-F238E27FC236}">
                <a16:creationId xmlns:a16="http://schemas.microsoft.com/office/drawing/2014/main" id="{893CAFB3-983E-B10B-D98D-F33283CAFB3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52408" y="733709"/>
            <a:ext cx="636422" cy="636422"/>
          </a:xfrm>
          <a:prstGeom prst="rect">
            <a:avLst/>
          </a:prstGeom>
        </p:spPr>
      </p:pic>
      <p:pic>
        <p:nvPicPr>
          <p:cNvPr id="56" name="Graphic 55" descr="Magnifying glass with solid fill">
            <a:extLst>
              <a:ext uri="{FF2B5EF4-FFF2-40B4-BE49-F238E27FC236}">
                <a16:creationId xmlns:a16="http://schemas.microsoft.com/office/drawing/2014/main" id="{F4221189-6731-419F-91B9-1878D210597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69520" y="3397151"/>
            <a:ext cx="636422" cy="636422"/>
          </a:xfrm>
          <a:prstGeom prst="rect">
            <a:avLst/>
          </a:prstGeom>
        </p:spPr>
      </p:pic>
      <p:pic>
        <p:nvPicPr>
          <p:cNvPr id="58" name="Graphic 57" descr="Playbook with solid fill">
            <a:extLst>
              <a:ext uri="{FF2B5EF4-FFF2-40B4-BE49-F238E27FC236}">
                <a16:creationId xmlns:a16="http://schemas.microsoft.com/office/drawing/2014/main" id="{B7C0533C-7300-1FF6-5B75-AD55EE4B663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53440" y="2731355"/>
            <a:ext cx="636422" cy="636422"/>
          </a:xfrm>
          <a:prstGeom prst="rect">
            <a:avLst/>
          </a:prstGeom>
        </p:spPr>
      </p:pic>
      <p:pic>
        <p:nvPicPr>
          <p:cNvPr id="60" name="Graphic 59" descr="Presentation with bar chart with solid fill">
            <a:extLst>
              <a:ext uri="{FF2B5EF4-FFF2-40B4-BE49-F238E27FC236}">
                <a16:creationId xmlns:a16="http://schemas.microsoft.com/office/drawing/2014/main" id="{1216024C-0B41-D768-E7ED-5C843F0FF5D7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69520" y="4110061"/>
            <a:ext cx="636422" cy="636422"/>
          </a:xfrm>
          <a:prstGeom prst="rect">
            <a:avLst/>
          </a:prstGeom>
        </p:spPr>
      </p:pic>
      <p:pic>
        <p:nvPicPr>
          <p:cNvPr id="62" name="Graphic 61" descr="Research with solid fill">
            <a:extLst>
              <a:ext uri="{FF2B5EF4-FFF2-40B4-BE49-F238E27FC236}">
                <a16:creationId xmlns:a16="http://schemas.microsoft.com/office/drawing/2014/main" id="{F4E7F21C-5920-239B-9DF2-7C4C9F84E4C3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25164" y="4761015"/>
            <a:ext cx="636422" cy="636422"/>
          </a:xfrm>
          <a:prstGeom prst="rect">
            <a:avLst/>
          </a:prstGeom>
        </p:spPr>
      </p:pic>
      <p:pic>
        <p:nvPicPr>
          <p:cNvPr id="64" name="Graphic 63" descr="Single gear with solid fill">
            <a:extLst>
              <a:ext uri="{FF2B5EF4-FFF2-40B4-BE49-F238E27FC236}">
                <a16:creationId xmlns:a16="http://schemas.microsoft.com/office/drawing/2014/main" id="{43A691FA-948F-0DEC-C4EC-2FE12A039E14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97276" y="5415768"/>
            <a:ext cx="636422" cy="636422"/>
          </a:xfrm>
          <a:prstGeom prst="rect">
            <a:avLst/>
          </a:prstGeom>
        </p:spPr>
      </p:pic>
      <p:pic>
        <p:nvPicPr>
          <p:cNvPr id="66" name="Graphic 65" descr="Target with solid fill">
            <a:extLst>
              <a:ext uri="{FF2B5EF4-FFF2-40B4-BE49-F238E27FC236}">
                <a16:creationId xmlns:a16="http://schemas.microsoft.com/office/drawing/2014/main" id="{AB10F828-81F5-A7CB-1732-47825F90A3EF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597276" y="6178032"/>
            <a:ext cx="636422" cy="63642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FDE8E4-E1AF-3847-CAED-C9F14D2312BA}"/>
              </a:ext>
            </a:extLst>
          </p:cNvPr>
          <p:cNvSpPr txBox="1">
            <a:spLocks/>
          </p:cNvSpPr>
          <p:nvPr/>
        </p:nvSpPr>
        <p:spPr>
          <a:xfrm>
            <a:off x="1902644" y="16796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000"/>
            </a:pPr>
            <a:r>
              <a:rPr lang="en-US" sz="3400" dirty="0">
                <a:latin typeface="Aptos Narrow" panose="020B0004020202020204" pitchFamily="34" charset="0"/>
                <a:cs typeface="Times New Roman" panose="02020603050405020304" pitchFamily="18" charset="0"/>
              </a:rPr>
              <a:t>Generally 200–500 sq. ft. is sufficient.</a:t>
            </a:r>
          </a:p>
          <a:p>
            <a:pPr algn="l">
              <a:defRPr sz="2000"/>
            </a:pPr>
            <a:r>
              <a:rPr lang="en-US" sz="3400" dirty="0">
                <a:latin typeface="Aptos Narrow" panose="020B0004020202020204" pitchFamily="34" charset="0"/>
                <a:cs typeface="Times New Roman" panose="02020603050405020304" pitchFamily="18" charset="0"/>
              </a:rPr>
              <a:t>Can use home premises, shed, or rented building.</a:t>
            </a:r>
          </a:p>
          <a:p>
            <a:pPr algn="l">
              <a:defRPr sz="2000"/>
            </a:pPr>
            <a:r>
              <a:rPr lang="en-US" sz="3400" dirty="0">
                <a:latin typeface="Aptos Narrow" panose="020B0004020202020204" pitchFamily="34" charset="0"/>
                <a:cs typeface="Times New Roman" panose="02020603050405020304" pitchFamily="18" charset="0"/>
              </a:rPr>
              <a:t>Space should have:</a:t>
            </a:r>
          </a:p>
          <a:p>
            <a:pPr marL="442913" algn="l">
              <a:defRPr sz="2000"/>
            </a:pPr>
            <a:r>
              <a:rPr lang="en-US" sz="3400" dirty="0">
                <a:latin typeface="Aptos Narrow" panose="020B0004020202020204" pitchFamily="34" charset="0"/>
                <a:cs typeface="Times New Roman" panose="02020603050405020304" pitchFamily="18" charset="0"/>
              </a:rPr>
              <a:t>• Proper ventilation</a:t>
            </a:r>
          </a:p>
          <a:p>
            <a:pPr marL="442913" algn="l">
              <a:defRPr sz="2000"/>
            </a:pPr>
            <a:r>
              <a:rPr lang="en-US" sz="3400" dirty="0">
                <a:latin typeface="Aptos Narrow" panose="020B0004020202020204" pitchFamily="34" charset="0"/>
                <a:cs typeface="Times New Roman" panose="02020603050405020304" pitchFamily="18" charset="0"/>
              </a:rPr>
              <a:t>• Water and electricity supply</a:t>
            </a:r>
          </a:p>
          <a:p>
            <a:pPr marL="442913" algn="l">
              <a:defRPr sz="2000"/>
            </a:pPr>
            <a:r>
              <a:rPr lang="en-US" sz="3400" dirty="0">
                <a:latin typeface="Aptos Narrow" panose="020B0004020202020204" pitchFamily="34" charset="0"/>
                <a:cs typeface="Times New Roman" panose="02020603050405020304" pitchFamily="18" charset="0"/>
              </a:rPr>
              <a:t>• Separate area for production and storage</a:t>
            </a:r>
          </a:p>
        </p:txBody>
      </p:sp>
      <p:sp>
        <p:nvSpPr>
          <p:cNvPr id="5" name="Rectangle: Single Corner Snipped 4">
            <a:extLst>
              <a:ext uri="{FF2B5EF4-FFF2-40B4-BE49-F238E27FC236}">
                <a16:creationId xmlns:a16="http://schemas.microsoft.com/office/drawing/2014/main" id="{92C82871-E074-EFBA-0B98-C4753292B8F3}"/>
              </a:ext>
            </a:extLst>
          </p:cNvPr>
          <p:cNvSpPr/>
          <p:nvPr/>
        </p:nvSpPr>
        <p:spPr>
          <a:xfrm flipH="1">
            <a:off x="3310128" y="5395671"/>
            <a:ext cx="8759952" cy="1293709"/>
          </a:xfrm>
          <a:prstGeom prst="snip1Rect">
            <a:avLst/>
          </a:prstGeom>
          <a:ln>
            <a:solidFill>
              <a:schemeClr val="tx1"/>
            </a:solidFill>
          </a:ln>
          <a:effectLst>
            <a:glow rad="101600">
              <a:schemeClr val="tx1">
                <a:alpha val="60000"/>
              </a:schemeClr>
            </a:glo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: Single Corner Snipped 5">
            <a:extLst>
              <a:ext uri="{FF2B5EF4-FFF2-40B4-BE49-F238E27FC236}">
                <a16:creationId xmlns:a16="http://schemas.microsoft.com/office/drawing/2014/main" id="{F089B556-7140-E301-A959-1A8967196A0B}"/>
              </a:ext>
            </a:extLst>
          </p:cNvPr>
          <p:cNvSpPr/>
          <p:nvPr/>
        </p:nvSpPr>
        <p:spPr>
          <a:xfrm flipH="1">
            <a:off x="3378708" y="5446116"/>
            <a:ext cx="8622792" cy="1192817"/>
          </a:xfrm>
          <a:prstGeom prst="snip1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CA1A70E-78CB-FD64-AB0B-B8FCA5FDF135}"/>
              </a:ext>
            </a:extLst>
          </p:cNvPr>
          <p:cNvSpPr txBox="1">
            <a:spLocks/>
          </p:cNvSpPr>
          <p:nvPr/>
        </p:nvSpPr>
        <p:spPr>
          <a:xfrm>
            <a:off x="5745804" y="5471024"/>
            <a:ext cx="695826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>
                <a:solidFill>
                  <a:srgbClr val="FF0000"/>
                </a:solidFill>
                <a:latin typeface="Bahnschrift Condensed" panose="020B0502040204020203" pitchFamily="34" charset="0"/>
              </a:rPr>
              <a:t>Space Requirements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5A1D2E6-91C6-B0BA-AF24-CF50FDEBD5B3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7932" y="3429000"/>
            <a:ext cx="1869186" cy="1869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0240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A4A0D-2EC4-56B4-DA15-0D067431F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70E81D0-6174-4C18-2BF6-18560AD4DD03}"/>
              </a:ext>
            </a:extLst>
          </p:cNvPr>
          <p:cNvSpPr/>
          <p:nvPr/>
        </p:nvSpPr>
        <p:spPr>
          <a:xfrm>
            <a:off x="0" y="9144"/>
            <a:ext cx="1773936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8E6828C-F3D0-33DC-E4F1-709FBBDDFE0C}"/>
              </a:ext>
            </a:extLst>
          </p:cNvPr>
          <p:cNvSpPr/>
          <p:nvPr/>
        </p:nvSpPr>
        <p:spPr>
          <a:xfrm>
            <a:off x="0" y="16796"/>
            <a:ext cx="1773936" cy="683863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758FD27-7A93-8A32-C431-BA2F8349B52C}"/>
              </a:ext>
            </a:extLst>
          </p:cNvPr>
          <p:cNvSpPr/>
          <p:nvPr/>
        </p:nvSpPr>
        <p:spPr>
          <a:xfrm>
            <a:off x="0" y="709803"/>
            <a:ext cx="1773936" cy="679655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8284BD7-787A-2C71-5C00-6E8DFA9DB0F8}"/>
              </a:ext>
            </a:extLst>
          </p:cNvPr>
          <p:cNvSpPr/>
          <p:nvPr/>
        </p:nvSpPr>
        <p:spPr>
          <a:xfrm>
            <a:off x="0" y="1357722"/>
            <a:ext cx="1773936" cy="679655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164F3A7-BEB6-199F-A82C-97A4E2988042}"/>
              </a:ext>
            </a:extLst>
          </p:cNvPr>
          <p:cNvSpPr/>
          <p:nvPr/>
        </p:nvSpPr>
        <p:spPr>
          <a:xfrm>
            <a:off x="0" y="2037377"/>
            <a:ext cx="1773936" cy="679655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17C3A92-CB90-1345-C400-38336275FDE3}"/>
              </a:ext>
            </a:extLst>
          </p:cNvPr>
          <p:cNvSpPr/>
          <p:nvPr/>
        </p:nvSpPr>
        <p:spPr>
          <a:xfrm>
            <a:off x="0" y="2711666"/>
            <a:ext cx="1773936" cy="6796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6C488DA-AF11-F9DB-535C-3BDB300083F0}"/>
              </a:ext>
            </a:extLst>
          </p:cNvPr>
          <p:cNvSpPr/>
          <p:nvPr/>
        </p:nvSpPr>
        <p:spPr>
          <a:xfrm>
            <a:off x="0" y="3385955"/>
            <a:ext cx="1773936" cy="679655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BAFEA5F-1881-9FEF-E272-1C93D16CA8C0}"/>
              </a:ext>
            </a:extLst>
          </p:cNvPr>
          <p:cNvSpPr/>
          <p:nvPr/>
        </p:nvSpPr>
        <p:spPr>
          <a:xfrm>
            <a:off x="0" y="4060244"/>
            <a:ext cx="1773936" cy="679655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B0686ED-3A63-CB8D-CE0A-57C7FF2D0EE5}"/>
              </a:ext>
            </a:extLst>
          </p:cNvPr>
          <p:cNvSpPr/>
          <p:nvPr/>
        </p:nvSpPr>
        <p:spPr>
          <a:xfrm>
            <a:off x="0" y="4729167"/>
            <a:ext cx="1773936" cy="679655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085DDD4-E50E-0B43-D016-7D41D2D4B8B3}"/>
              </a:ext>
            </a:extLst>
          </p:cNvPr>
          <p:cNvSpPr/>
          <p:nvPr/>
        </p:nvSpPr>
        <p:spPr>
          <a:xfrm>
            <a:off x="0" y="5403456"/>
            <a:ext cx="1773936" cy="679655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561DF98-A973-C26D-D26E-91854B80413F}"/>
              </a:ext>
            </a:extLst>
          </p:cNvPr>
          <p:cNvSpPr/>
          <p:nvPr/>
        </p:nvSpPr>
        <p:spPr>
          <a:xfrm>
            <a:off x="0" y="6067013"/>
            <a:ext cx="1773936" cy="790987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8" name="Graphic 47" descr="Gears with solid fill">
            <a:extLst>
              <a:ext uri="{FF2B5EF4-FFF2-40B4-BE49-F238E27FC236}">
                <a16:creationId xmlns:a16="http://schemas.microsoft.com/office/drawing/2014/main" id="{C7048F41-07F9-A118-4D69-1C96C8D11D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2408" y="1373486"/>
            <a:ext cx="636422" cy="636422"/>
          </a:xfrm>
          <a:prstGeom prst="rect">
            <a:avLst/>
          </a:prstGeom>
        </p:spPr>
      </p:pic>
      <p:pic>
        <p:nvPicPr>
          <p:cNvPr id="50" name="Graphic 49" descr="Head with gears with solid fill">
            <a:extLst>
              <a:ext uri="{FF2B5EF4-FFF2-40B4-BE49-F238E27FC236}">
                <a16:creationId xmlns:a16="http://schemas.microsoft.com/office/drawing/2014/main" id="{3E001B21-FF15-30C4-6493-0C90E755E81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2408" y="48649"/>
            <a:ext cx="636422" cy="636422"/>
          </a:xfrm>
          <a:prstGeom prst="rect">
            <a:avLst/>
          </a:prstGeom>
        </p:spPr>
      </p:pic>
      <p:pic>
        <p:nvPicPr>
          <p:cNvPr id="52" name="Graphic 51" descr="Hourglass Finished with solid fill">
            <a:extLst>
              <a:ext uri="{FF2B5EF4-FFF2-40B4-BE49-F238E27FC236}">
                <a16:creationId xmlns:a16="http://schemas.microsoft.com/office/drawing/2014/main" id="{7BE7AC76-38A0-CB6B-8110-9F12D1871EA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1804" y="2091578"/>
            <a:ext cx="636422" cy="636422"/>
          </a:xfrm>
          <a:prstGeom prst="rect">
            <a:avLst/>
          </a:prstGeom>
        </p:spPr>
      </p:pic>
      <p:pic>
        <p:nvPicPr>
          <p:cNvPr id="54" name="Graphic 53" descr="Lightbulb with solid fill">
            <a:extLst>
              <a:ext uri="{FF2B5EF4-FFF2-40B4-BE49-F238E27FC236}">
                <a16:creationId xmlns:a16="http://schemas.microsoft.com/office/drawing/2014/main" id="{B8144223-CFCA-9E64-FE6F-D73B5D067C7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52408" y="733709"/>
            <a:ext cx="636422" cy="636422"/>
          </a:xfrm>
          <a:prstGeom prst="rect">
            <a:avLst/>
          </a:prstGeom>
        </p:spPr>
      </p:pic>
      <p:pic>
        <p:nvPicPr>
          <p:cNvPr id="56" name="Graphic 55" descr="Magnifying glass with solid fill">
            <a:extLst>
              <a:ext uri="{FF2B5EF4-FFF2-40B4-BE49-F238E27FC236}">
                <a16:creationId xmlns:a16="http://schemas.microsoft.com/office/drawing/2014/main" id="{2DEF192E-5E24-7D9A-72A0-6D8C446839B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69520" y="3397151"/>
            <a:ext cx="636422" cy="636422"/>
          </a:xfrm>
          <a:prstGeom prst="rect">
            <a:avLst/>
          </a:prstGeom>
        </p:spPr>
      </p:pic>
      <p:pic>
        <p:nvPicPr>
          <p:cNvPr id="58" name="Graphic 57" descr="Playbook with solid fill">
            <a:extLst>
              <a:ext uri="{FF2B5EF4-FFF2-40B4-BE49-F238E27FC236}">
                <a16:creationId xmlns:a16="http://schemas.microsoft.com/office/drawing/2014/main" id="{3B6C94BD-D3B8-87DF-25EF-043239FF814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53440" y="2731355"/>
            <a:ext cx="636422" cy="636422"/>
          </a:xfrm>
          <a:prstGeom prst="rect">
            <a:avLst/>
          </a:prstGeom>
        </p:spPr>
      </p:pic>
      <p:pic>
        <p:nvPicPr>
          <p:cNvPr id="60" name="Graphic 59" descr="Presentation with bar chart with solid fill">
            <a:extLst>
              <a:ext uri="{FF2B5EF4-FFF2-40B4-BE49-F238E27FC236}">
                <a16:creationId xmlns:a16="http://schemas.microsoft.com/office/drawing/2014/main" id="{0A421019-9784-5614-5DE1-9753D3847409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69520" y="4110061"/>
            <a:ext cx="636422" cy="636422"/>
          </a:xfrm>
          <a:prstGeom prst="rect">
            <a:avLst/>
          </a:prstGeom>
        </p:spPr>
      </p:pic>
      <p:pic>
        <p:nvPicPr>
          <p:cNvPr id="62" name="Graphic 61" descr="Research with solid fill">
            <a:extLst>
              <a:ext uri="{FF2B5EF4-FFF2-40B4-BE49-F238E27FC236}">
                <a16:creationId xmlns:a16="http://schemas.microsoft.com/office/drawing/2014/main" id="{4D02FB9C-75AD-377A-6DA1-EC1AD7797A24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25164" y="4761015"/>
            <a:ext cx="636422" cy="636422"/>
          </a:xfrm>
          <a:prstGeom prst="rect">
            <a:avLst/>
          </a:prstGeom>
        </p:spPr>
      </p:pic>
      <p:pic>
        <p:nvPicPr>
          <p:cNvPr id="64" name="Graphic 63" descr="Single gear with solid fill">
            <a:extLst>
              <a:ext uri="{FF2B5EF4-FFF2-40B4-BE49-F238E27FC236}">
                <a16:creationId xmlns:a16="http://schemas.microsoft.com/office/drawing/2014/main" id="{A0540A8B-FDF3-8A64-FD80-08A2C9E23E2D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97276" y="5415768"/>
            <a:ext cx="636422" cy="636422"/>
          </a:xfrm>
          <a:prstGeom prst="rect">
            <a:avLst/>
          </a:prstGeom>
        </p:spPr>
      </p:pic>
      <p:pic>
        <p:nvPicPr>
          <p:cNvPr id="66" name="Graphic 65" descr="Target with solid fill">
            <a:extLst>
              <a:ext uri="{FF2B5EF4-FFF2-40B4-BE49-F238E27FC236}">
                <a16:creationId xmlns:a16="http://schemas.microsoft.com/office/drawing/2014/main" id="{3067C31D-684D-4C17-C58E-C0C9BD8072FC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597276" y="6178032"/>
            <a:ext cx="636422" cy="63642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25D677-FA09-8500-826B-F2D6C313BC1E}"/>
              </a:ext>
            </a:extLst>
          </p:cNvPr>
          <p:cNvSpPr txBox="1">
            <a:spLocks/>
          </p:cNvSpPr>
          <p:nvPr/>
        </p:nvSpPr>
        <p:spPr>
          <a:xfrm>
            <a:off x="1981200" y="23505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defRPr sz="2000"/>
            </a:pPr>
            <a:r>
              <a:rPr lang="en-US" sz="3400" dirty="0">
                <a:latin typeface="Aptos Narrow" panose="020B0004020202020204" pitchFamily="34" charset="0"/>
                <a:cs typeface="Times New Roman" panose="02020603050405020304" pitchFamily="18" charset="0"/>
              </a:rPr>
              <a:t>Legal registration ensures trust and government benefits.</a:t>
            </a:r>
          </a:p>
          <a:p>
            <a:pPr algn="just">
              <a:defRPr sz="2000"/>
            </a:pPr>
            <a:r>
              <a:rPr lang="en-US" sz="3400" dirty="0">
                <a:latin typeface="Aptos Narrow" panose="020B0004020202020204" pitchFamily="34" charset="0"/>
                <a:cs typeface="Times New Roman" panose="02020603050405020304" pitchFamily="18" charset="0"/>
              </a:rPr>
              <a:t>Common requirements:</a:t>
            </a:r>
          </a:p>
          <a:p>
            <a:pPr marL="633413" algn="just">
              <a:defRPr sz="2000"/>
            </a:pPr>
            <a:r>
              <a:rPr lang="en-US" sz="3400" dirty="0">
                <a:latin typeface="Aptos Narrow" panose="020B0004020202020204" pitchFamily="34" charset="0"/>
                <a:cs typeface="Times New Roman" panose="02020603050405020304" pitchFamily="18" charset="0"/>
              </a:rPr>
              <a:t>1. Udyam/MSME Registration – for small industries</a:t>
            </a:r>
          </a:p>
          <a:p>
            <a:pPr marL="633413" algn="just">
              <a:defRPr sz="2000"/>
            </a:pPr>
            <a:r>
              <a:rPr lang="en-US" sz="3400" dirty="0">
                <a:latin typeface="Aptos Narrow" panose="020B0004020202020204" pitchFamily="34" charset="0"/>
                <a:cs typeface="Times New Roman" panose="02020603050405020304" pitchFamily="18" charset="0"/>
              </a:rPr>
              <a:t>2. GST Registration – for taxation</a:t>
            </a:r>
          </a:p>
          <a:p>
            <a:pPr marL="633413" algn="just">
              <a:defRPr sz="2000"/>
            </a:pPr>
            <a:r>
              <a:rPr lang="en-US" sz="3400" dirty="0">
                <a:latin typeface="Aptos Narrow" panose="020B0004020202020204" pitchFamily="34" charset="0"/>
                <a:cs typeface="Times New Roman" panose="02020603050405020304" pitchFamily="18" charset="0"/>
              </a:rPr>
              <a:t>3. Local trade license – from municipality</a:t>
            </a:r>
          </a:p>
          <a:p>
            <a:pPr marL="633413" algn="just">
              <a:defRPr sz="2000"/>
            </a:pPr>
            <a:r>
              <a:rPr lang="en-US" sz="3400" dirty="0">
                <a:latin typeface="Aptos Narrow" panose="020B0004020202020204" pitchFamily="34" charset="0"/>
                <a:cs typeface="Times New Roman" panose="02020603050405020304" pitchFamily="18" charset="0"/>
              </a:rPr>
              <a:t>4. Pollution </a:t>
            </a:r>
            <a:r>
              <a:rPr lang="en-US" sz="3700" dirty="0">
                <a:latin typeface="Aptos Narrow" panose="020B0004020202020204" pitchFamily="34" charset="0"/>
                <a:cs typeface="Times New Roman" panose="02020603050405020304" pitchFamily="18" charset="0"/>
              </a:rPr>
              <a:t>control NOC – if applicable</a:t>
            </a:r>
          </a:p>
          <a:p>
            <a:pPr marL="633413" algn="just">
              <a:defRPr sz="2000"/>
            </a:pPr>
            <a:r>
              <a:rPr lang="en-US" sz="3700" dirty="0">
                <a:latin typeface="Aptos Narrow" panose="020B0004020202020204" pitchFamily="34" charset="0"/>
                <a:cs typeface="Times New Roman" panose="02020603050405020304" pitchFamily="18" charset="0"/>
              </a:rPr>
              <a:t>5. FSSAI – for food-based unit</a:t>
            </a:r>
            <a:r>
              <a:rPr lang="en-US" sz="2000" dirty="0">
                <a:latin typeface="Aptos Narrow" panose="020B0004020202020204" pitchFamily="34" charset="0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5" name="Rectangle: Single Corner Snipped 4">
            <a:extLst>
              <a:ext uri="{FF2B5EF4-FFF2-40B4-BE49-F238E27FC236}">
                <a16:creationId xmlns:a16="http://schemas.microsoft.com/office/drawing/2014/main" id="{CDA5272F-C52A-86F9-25BA-453E511B89F4}"/>
              </a:ext>
            </a:extLst>
          </p:cNvPr>
          <p:cNvSpPr/>
          <p:nvPr/>
        </p:nvSpPr>
        <p:spPr>
          <a:xfrm flipH="1">
            <a:off x="3346704" y="5436257"/>
            <a:ext cx="8759952" cy="1293709"/>
          </a:xfrm>
          <a:prstGeom prst="snip1Rect">
            <a:avLst/>
          </a:prstGeom>
          <a:ln>
            <a:solidFill>
              <a:schemeClr val="tx1"/>
            </a:solidFill>
          </a:ln>
          <a:effectLst>
            <a:glow rad="101600">
              <a:schemeClr val="tx1">
                <a:alpha val="60000"/>
              </a:schemeClr>
            </a:glo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: Single Corner Snipped 5">
            <a:extLst>
              <a:ext uri="{FF2B5EF4-FFF2-40B4-BE49-F238E27FC236}">
                <a16:creationId xmlns:a16="http://schemas.microsoft.com/office/drawing/2014/main" id="{C0FD3716-2300-53ED-D2C9-B7D499F2940C}"/>
              </a:ext>
            </a:extLst>
          </p:cNvPr>
          <p:cNvSpPr/>
          <p:nvPr/>
        </p:nvSpPr>
        <p:spPr>
          <a:xfrm flipH="1">
            <a:off x="3415284" y="5486702"/>
            <a:ext cx="8622792" cy="1192817"/>
          </a:xfrm>
          <a:prstGeom prst="snip1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056FDAA-ABB6-7685-E922-76FDB82AE522}"/>
              </a:ext>
            </a:extLst>
          </p:cNvPr>
          <p:cNvSpPr txBox="1">
            <a:spLocks/>
          </p:cNvSpPr>
          <p:nvPr/>
        </p:nvSpPr>
        <p:spPr>
          <a:xfrm>
            <a:off x="4892040" y="5586964"/>
            <a:ext cx="7638288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>
                <a:solidFill>
                  <a:srgbClr val="FF0000"/>
                </a:solidFill>
                <a:latin typeface="Bahnschrift Condensed" panose="020B0502040204020203" pitchFamily="34" charset="0"/>
              </a:rPr>
              <a:t>Licenses and Registration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B15A475-3EC7-DD5E-EA01-6CD488E04209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7932" y="3429000"/>
            <a:ext cx="1869186" cy="1869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5132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D21060-C492-CA2B-EEEB-1EF02D8D1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8841649-1148-FE35-360B-9B12A342B319}"/>
              </a:ext>
            </a:extLst>
          </p:cNvPr>
          <p:cNvSpPr/>
          <p:nvPr/>
        </p:nvSpPr>
        <p:spPr>
          <a:xfrm>
            <a:off x="0" y="9144"/>
            <a:ext cx="1773936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7DCBE2D-0E35-597F-FE75-32F3BAA9A9DA}"/>
              </a:ext>
            </a:extLst>
          </p:cNvPr>
          <p:cNvSpPr/>
          <p:nvPr/>
        </p:nvSpPr>
        <p:spPr>
          <a:xfrm>
            <a:off x="0" y="16796"/>
            <a:ext cx="1773936" cy="683863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EFF9DE0-131E-6EFE-A6FF-F915DA28060F}"/>
              </a:ext>
            </a:extLst>
          </p:cNvPr>
          <p:cNvSpPr/>
          <p:nvPr/>
        </p:nvSpPr>
        <p:spPr>
          <a:xfrm>
            <a:off x="0" y="709803"/>
            <a:ext cx="1773936" cy="679655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808AFF5-FB4C-1375-F7AB-625AF8ADC641}"/>
              </a:ext>
            </a:extLst>
          </p:cNvPr>
          <p:cNvSpPr/>
          <p:nvPr/>
        </p:nvSpPr>
        <p:spPr>
          <a:xfrm>
            <a:off x="0" y="1357722"/>
            <a:ext cx="1773936" cy="679655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D458037-C646-0A0F-C0B0-C74CE114F4BF}"/>
              </a:ext>
            </a:extLst>
          </p:cNvPr>
          <p:cNvSpPr/>
          <p:nvPr/>
        </p:nvSpPr>
        <p:spPr>
          <a:xfrm>
            <a:off x="0" y="2037377"/>
            <a:ext cx="1773936" cy="679655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719CA8B-E7C4-F041-4979-06DC379CBF02}"/>
              </a:ext>
            </a:extLst>
          </p:cNvPr>
          <p:cNvSpPr/>
          <p:nvPr/>
        </p:nvSpPr>
        <p:spPr>
          <a:xfrm>
            <a:off x="0" y="2711666"/>
            <a:ext cx="1773936" cy="679655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6038B50-7661-2AED-49C8-F158EC40BAA8}"/>
              </a:ext>
            </a:extLst>
          </p:cNvPr>
          <p:cNvSpPr/>
          <p:nvPr/>
        </p:nvSpPr>
        <p:spPr>
          <a:xfrm>
            <a:off x="0" y="3385955"/>
            <a:ext cx="1773936" cy="6796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6FD7F15-6846-D95F-213E-6199334E7751}"/>
              </a:ext>
            </a:extLst>
          </p:cNvPr>
          <p:cNvSpPr/>
          <p:nvPr/>
        </p:nvSpPr>
        <p:spPr>
          <a:xfrm>
            <a:off x="0" y="4060244"/>
            <a:ext cx="1773936" cy="679655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D97E1B5-2B26-F65D-7110-9B342D3AA3BC}"/>
              </a:ext>
            </a:extLst>
          </p:cNvPr>
          <p:cNvSpPr/>
          <p:nvPr/>
        </p:nvSpPr>
        <p:spPr>
          <a:xfrm>
            <a:off x="0" y="4729167"/>
            <a:ext cx="1773936" cy="679655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E30E957-054A-6D1C-364F-73856550FBEC}"/>
              </a:ext>
            </a:extLst>
          </p:cNvPr>
          <p:cNvSpPr/>
          <p:nvPr/>
        </p:nvSpPr>
        <p:spPr>
          <a:xfrm>
            <a:off x="0" y="5403456"/>
            <a:ext cx="1773936" cy="679655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91CD725-4622-55EA-3F3D-117EAAC590C0}"/>
              </a:ext>
            </a:extLst>
          </p:cNvPr>
          <p:cNvSpPr/>
          <p:nvPr/>
        </p:nvSpPr>
        <p:spPr>
          <a:xfrm>
            <a:off x="0" y="6067013"/>
            <a:ext cx="1773936" cy="790987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8" name="Graphic 47" descr="Gears with solid fill">
            <a:extLst>
              <a:ext uri="{FF2B5EF4-FFF2-40B4-BE49-F238E27FC236}">
                <a16:creationId xmlns:a16="http://schemas.microsoft.com/office/drawing/2014/main" id="{2BF08640-A2EC-BD9C-179C-43E5AD443B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2408" y="1373486"/>
            <a:ext cx="636422" cy="636422"/>
          </a:xfrm>
          <a:prstGeom prst="rect">
            <a:avLst/>
          </a:prstGeom>
        </p:spPr>
      </p:pic>
      <p:pic>
        <p:nvPicPr>
          <p:cNvPr id="50" name="Graphic 49" descr="Head with gears with solid fill">
            <a:extLst>
              <a:ext uri="{FF2B5EF4-FFF2-40B4-BE49-F238E27FC236}">
                <a16:creationId xmlns:a16="http://schemas.microsoft.com/office/drawing/2014/main" id="{607E65AD-FEF3-EDD3-B982-F211A7F0C2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2408" y="48649"/>
            <a:ext cx="636422" cy="636422"/>
          </a:xfrm>
          <a:prstGeom prst="rect">
            <a:avLst/>
          </a:prstGeom>
        </p:spPr>
      </p:pic>
      <p:pic>
        <p:nvPicPr>
          <p:cNvPr id="52" name="Graphic 51" descr="Hourglass Finished with solid fill">
            <a:extLst>
              <a:ext uri="{FF2B5EF4-FFF2-40B4-BE49-F238E27FC236}">
                <a16:creationId xmlns:a16="http://schemas.microsoft.com/office/drawing/2014/main" id="{1658216C-6295-3AAF-E636-444D8D59EB5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1804" y="2091578"/>
            <a:ext cx="636422" cy="636422"/>
          </a:xfrm>
          <a:prstGeom prst="rect">
            <a:avLst/>
          </a:prstGeom>
        </p:spPr>
      </p:pic>
      <p:pic>
        <p:nvPicPr>
          <p:cNvPr id="54" name="Graphic 53" descr="Lightbulb with solid fill">
            <a:extLst>
              <a:ext uri="{FF2B5EF4-FFF2-40B4-BE49-F238E27FC236}">
                <a16:creationId xmlns:a16="http://schemas.microsoft.com/office/drawing/2014/main" id="{9727687C-8D6B-162E-2421-074C73B9227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52408" y="733709"/>
            <a:ext cx="636422" cy="636422"/>
          </a:xfrm>
          <a:prstGeom prst="rect">
            <a:avLst/>
          </a:prstGeom>
        </p:spPr>
      </p:pic>
      <p:pic>
        <p:nvPicPr>
          <p:cNvPr id="56" name="Graphic 55" descr="Magnifying glass with solid fill">
            <a:extLst>
              <a:ext uri="{FF2B5EF4-FFF2-40B4-BE49-F238E27FC236}">
                <a16:creationId xmlns:a16="http://schemas.microsoft.com/office/drawing/2014/main" id="{254A705D-39F5-89CD-777C-23598ECFFD9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69520" y="3397151"/>
            <a:ext cx="636422" cy="636422"/>
          </a:xfrm>
          <a:prstGeom prst="rect">
            <a:avLst/>
          </a:prstGeom>
        </p:spPr>
      </p:pic>
      <p:pic>
        <p:nvPicPr>
          <p:cNvPr id="58" name="Graphic 57" descr="Playbook with solid fill">
            <a:extLst>
              <a:ext uri="{FF2B5EF4-FFF2-40B4-BE49-F238E27FC236}">
                <a16:creationId xmlns:a16="http://schemas.microsoft.com/office/drawing/2014/main" id="{41F0D056-ADB6-0460-F2DA-D9FE6F81058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53440" y="2731355"/>
            <a:ext cx="636422" cy="636422"/>
          </a:xfrm>
          <a:prstGeom prst="rect">
            <a:avLst/>
          </a:prstGeom>
        </p:spPr>
      </p:pic>
      <p:pic>
        <p:nvPicPr>
          <p:cNvPr id="60" name="Graphic 59" descr="Presentation with bar chart with solid fill">
            <a:extLst>
              <a:ext uri="{FF2B5EF4-FFF2-40B4-BE49-F238E27FC236}">
                <a16:creationId xmlns:a16="http://schemas.microsoft.com/office/drawing/2014/main" id="{18A11569-7627-2ABE-86E2-BA0BE1830BC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69520" y="4110061"/>
            <a:ext cx="636422" cy="636422"/>
          </a:xfrm>
          <a:prstGeom prst="rect">
            <a:avLst/>
          </a:prstGeom>
        </p:spPr>
      </p:pic>
      <p:pic>
        <p:nvPicPr>
          <p:cNvPr id="62" name="Graphic 61" descr="Research with solid fill">
            <a:extLst>
              <a:ext uri="{FF2B5EF4-FFF2-40B4-BE49-F238E27FC236}">
                <a16:creationId xmlns:a16="http://schemas.microsoft.com/office/drawing/2014/main" id="{89614A04-8920-359F-5066-7634E59CA641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25164" y="4761015"/>
            <a:ext cx="636422" cy="636422"/>
          </a:xfrm>
          <a:prstGeom prst="rect">
            <a:avLst/>
          </a:prstGeom>
        </p:spPr>
      </p:pic>
      <p:pic>
        <p:nvPicPr>
          <p:cNvPr id="64" name="Graphic 63" descr="Single gear with solid fill">
            <a:extLst>
              <a:ext uri="{FF2B5EF4-FFF2-40B4-BE49-F238E27FC236}">
                <a16:creationId xmlns:a16="http://schemas.microsoft.com/office/drawing/2014/main" id="{84229777-14A3-F456-3B9C-AFA293D7A719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97276" y="5415768"/>
            <a:ext cx="636422" cy="636422"/>
          </a:xfrm>
          <a:prstGeom prst="rect">
            <a:avLst/>
          </a:prstGeom>
        </p:spPr>
      </p:pic>
      <p:pic>
        <p:nvPicPr>
          <p:cNvPr id="66" name="Graphic 65" descr="Target with solid fill">
            <a:extLst>
              <a:ext uri="{FF2B5EF4-FFF2-40B4-BE49-F238E27FC236}">
                <a16:creationId xmlns:a16="http://schemas.microsoft.com/office/drawing/2014/main" id="{8CA91ABB-2436-8A6C-110D-FD2664A32ED2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597276" y="6178032"/>
            <a:ext cx="636422" cy="636422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31CB862-FECA-C8C9-B468-AC5729193FF9}"/>
              </a:ext>
            </a:extLst>
          </p:cNvPr>
          <p:cNvSpPr txBox="1">
            <a:spLocks/>
          </p:cNvSpPr>
          <p:nvPr/>
        </p:nvSpPr>
        <p:spPr>
          <a:xfrm>
            <a:off x="1981200" y="48649"/>
            <a:ext cx="7748016" cy="54624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000"/>
            </a:pPr>
            <a:r>
              <a:rPr lang="en-US" sz="3400" dirty="0">
                <a:latin typeface="Aptos Narrow" panose="020B0004020202020204" pitchFamily="34" charset="0"/>
                <a:cs typeface="Times New Roman" panose="02020603050405020304" pitchFamily="18" charset="0"/>
              </a:rPr>
              <a:t>Include fixed and variable costs:</a:t>
            </a:r>
          </a:p>
          <a:p>
            <a:pPr marL="530225" algn="l">
              <a:defRPr sz="2000"/>
            </a:pPr>
            <a:r>
              <a:rPr lang="en-US" sz="3400" dirty="0">
                <a:latin typeface="Aptos Narrow" panose="020B0004020202020204" pitchFamily="34" charset="0"/>
                <a:cs typeface="Times New Roman" panose="02020603050405020304" pitchFamily="18" charset="0"/>
              </a:rPr>
              <a:t>• Fixed: Land, building, equipment</a:t>
            </a:r>
          </a:p>
          <a:p>
            <a:pPr marL="530225" algn="l">
              <a:defRPr sz="2000"/>
            </a:pPr>
            <a:r>
              <a:rPr lang="en-US" sz="3400" dirty="0">
                <a:latin typeface="Aptos Narrow" panose="020B0004020202020204" pitchFamily="34" charset="0"/>
                <a:cs typeface="Times New Roman" panose="02020603050405020304" pitchFamily="18" charset="0"/>
              </a:rPr>
              <a:t>• Variable: Raw materials, labor, power, packaging</a:t>
            </a:r>
          </a:p>
          <a:p>
            <a:pPr algn="l">
              <a:defRPr sz="2000"/>
            </a:pPr>
            <a:r>
              <a:rPr lang="en-US" sz="3400" dirty="0">
                <a:latin typeface="Aptos Narrow" panose="020B0004020202020204" pitchFamily="34" charset="0"/>
                <a:cs typeface="Times New Roman" panose="02020603050405020304" pitchFamily="18" charset="0"/>
              </a:rPr>
              <a:t>Add contingency (10%) for unexpected expenses.</a:t>
            </a:r>
          </a:p>
          <a:p>
            <a:pPr algn="l">
              <a:defRPr sz="2000"/>
            </a:pPr>
            <a:r>
              <a:rPr lang="en-US" sz="3400" dirty="0">
                <a:latin typeface="Aptos Narrow" panose="020B0004020202020204" pitchFamily="34" charset="0"/>
                <a:cs typeface="Times New Roman" panose="02020603050405020304" pitchFamily="18" charset="0"/>
              </a:rPr>
              <a:t>Formula: </a:t>
            </a:r>
          </a:p>
        </p:txBody>
      </p:sp>
      <p:sp>
        <p:nvSpPr>
          <p:cNvPr id="7" name="Rectangle: Single Corner Snipped 6">
            <a:extLst>
              <a:ext uri="{FF2B5EF4-FFF2-40B4-BE49-F238E27FC236}">
                <a16:creationId xmlns:a16="http://schemas.microsoft.com/office/drawing/2014/main" id="{CDAC560A-FA5F-A1CD-78A9-801A9BAC89D4}"/>
              </a:ext>
            </a:extLst>
          </p:cNvPr>
          <p:cNvSpPr/>
          <p:nvPr/>
        </p:nvSpPr>
        <p:spPr>
          <a:xfrm flipH="1">
            <a:off x="3282696" y="5397437"/>
            <a:ext cx="8759952" cy="1293709"/>
          </a:xfrm>
          <a:prstGeom prst="snip1Rect">
            <a:avLst/>
          </a:prstGeom>
          <a:ln>
            <a:solidFill>
              <a:schemeClr val="tx1"/>
            </a:solidFill>
          </a:ln>
          <a:effectLst>
            <a:glow rad="101600">
              <a:schemeClr val="tx1">
                <a:alpha val="60000"/>
              </a:schemeClr>
            </a:glo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: Single Corner Snipped 7">
            <a:extLst>
              <a:ext uri="{FF2B5EF4-FFF2-40B4-BE49-F238E27FC236}">
                <a16:creationId xmlns:a16="http://schemas.microsoft.com/office/drawing/2014/main" id="{2DD126D3-5E39-D940-B491-CC8E37C8C149}"/>
              </a:ext>
            </a:extLst>
          </p:cNvPr>
          <p:cNvSpPr/>
          <p:nvPr/>
        </p:nvSpPr>
        <p:spPr>
          <a:xfrm flipH="1">
            <a:off x="3351276" y="5447882"/>
            <a:ext cx="8622792" cy="1192817"/>
          </a:xfrm>
          <a:prstGeom prst="snip1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C5E43CDF-1099-C359-DD5D-EA3F0F613B71}"/>
              </a:ext>
            </a:extLst>
          </p:cNvPr>
          <p:cNvSpPr txBox="1">
            <a:spLocks/>
          </p:cNvSpPr>
          <p:nvPr/>
        </p:nvSpPr>
        <p:spPr>
          <a:xfrm>
            <a:off x="7461504" y="5573370"/>
            <a:ext cx="4730496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>
                <a:solidFill>
                  <a:srgbClr val="FF0000"/>
                </a:solidFill>
                <a:latin typeface="Bahnschrift Condensed" panose="020B0502040204020203" pitchFamily="34" charset="0"/>
                <a:cs typeface="Times New Roman" panose="02020603050405020304" pitchFamily="18" charset="0"/>
              </a:rPr>
              <a:t>Cost Estimation</a:t>
            </a:r>
          </a:p>
        </p:txBody>
      </p:sp>
      <p:sp>
        <p:nvSpPr>
          <p:cNvPr id="11" name="Flowchart: Process 10">
            <a:extLst>
              <a:ext uri="{FF2B5EF4-FFF2-40B4-BE49-F238E27FC236}">
                <a16:creationId xmlns:a16="http://schemas.microsoft.com/office/drawing/2014/main" id="{339DA4E9-7A6D-C5BD-EC19-25B25E305594}"/>
              </a:ext>
            </a:extLst>
          </p:cNvPr>
          <p:cNvSpPr/>
          <p:nvPr/>
        </p:nvSpPr>
        <p:spPr>
          <a:xfrm>
            <a:off x="2343456" y="3949008"/>
            <a:ext cx="8031480" cy="906975"/>
          </a:xfrm>
          <a:prstGeom prst="flowChartProcess">
            <a:avLst/>
          </a:prstGeom>
          <a:ln>
            <a:solidFill>
              <a:schemeClr val="tx1"/>
            </a:solidFill>
          </a:ln>
          <a:scene3d>
            <a:camera prst="perspectiveAbove"/>
            <a:lightRig rig="threePt" dir="t"/>
          </a:scene3d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7507B72-467E-EC13-3777-9908354801E1}"/>
              </a:ext>
            </a:extLst>
          </p:cNvPr>
          <p:cNvSpPr txBox="1"/>
          <p:nvPr/>
        </p:nvSpPr>
        <p:spPr>
          <a:xfrm>
            <a:off x="2712720" y="4135884"/>
            <a:ext cx="72237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i="1" dirty="0">
                <a:latin typeface="Agency FB" panose="020B0503020202020204" pitchFamily="34" charset="0"/>
                <a:cs typeface="Times New Roman" panose="02020603050405020304" pitchFamily="18" charset="0"/>
              </a:rPr>
              <a:t>Total Cost = </a:t>
            </a:r>
            <a:r>
              <a:rPr lang="en-US" sz="3200" i="1" dirty="0">
                <a:solidFill>
                  <a:srgbClr val="FF0000"/>
                </a:solidFill>
                <a:latin typeface="Agency FB" panose="020B0503020202020204" pitchFamily="34" charset="0"/>
                <a:cs typeface="Times New Roman" panose="02020603050405020304" pitchFamily="18" charset="0"/>
              </a:rPr>
              <a:t>Fixed Cost + Variable Cost + Contingency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549AF88-DD70-8896-6C38-7F1384141913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7932" y="3429000"/>
            <a:ext cx="1869186" cy="1869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8799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589C8-BD6A-49E0-C99C-0023E4D20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628A6EE-0957-36B9-59FF-3FEF62A30765}"/>
              </a:ext>
            </a:extLst>
          </p:cNvPr>
          <p:cNvSpPr/>
          <p:nvPr/>
        </p:nvSpPr>
        <p:spPr>
          <a:xfrm>
            <a:off x="0" y="9144"/>
            <a:ext cx="1773936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0CFE9BE-CA98-6C07-FAD2-DEF20921C736}"/>
              </a:ext>
            </a:extLst>
          </p:cNvPr>
          <p:cNvSpPr/>
          <p:nvPr/>
        </p:nvSpPr>
        <p:spPr>
          <a:xfrm>
            <a:off x="0" y="16796"/>
            <a:ext cx="1773936" cy="683863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7ADD5A2-FAAD-424C-C519-38795686C5EE}"/>
              </a:ext>
            </a:extLst>
          </p:cNvPr>
          <p:cNvSpPr/>
          <p:nvPr/>
        </p:nvSpPr>
        <p:spPr>
          <a:xfrm>
            <a:off x="0" y="709803"/>
            <a:ext cx="1773936" cy="679655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4DB311B-BE9D-A89B-9B14-DE71351548A9}"/>
              </a:ext>
            </a:extLst>
          </p:cNvPr>
          <p:cNvSpPr/>
          <p:nvPr/>
        </p:nvSpPr>
        <p:spPr>
          <a:xfrm>
            <a:off x="0" y="1357722"/>
            <a:ext cx="1773936" cy="679655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9476349-67A6-BB3D-EA86-C3515341FB85}"/>
              </a:ext>
            </a:extLst>
          </p:cNvPr>
          <p:cNvSpPr/>
          <p:nvPr/>
        </p:nvSpPr>
        <p:spPr>
          <a:xfrm>
            <a:off x="0" y="2037377"/>
            <a:ext cx="1773936" cy="679655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D3464D2-46E2-1179-51B3-C062BC8A740E}"/>
              </a:ext>
            </a:extLst>
          </p:cNvPr>
          <p:cNvSpPr/>
          <p:nvPr/>
        </p:nvSpPr>
        <p:spPr>
          <a:xfrm>
            <a:off x="0" y="2711666"/>
            <a:ext cx="1773936" cy="679655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F5BF0B4-7950-E3AF-617F-200DEF12DA34}"/>
              </a:ext>
            </a:extLst>
          </p:cNvPr>
          <p:cNvSpPr/>
          <p:nvPr/>
        </p:nvSpPr>
        <p:spPr>
          <a:xfrm>
            <a:off x="0" y="3385955"/>
            <a:ext cx="1773936" cy="679655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E2B9959-D1C0-44E1-49C7-545BAD1922F8}"/>
              </a:ext>
            </a:extLst>
          </p:cNvPr>
          <p:cNvSpPr/>
          <p:nvPr/>
        </p:nvSpPr>
        <p:spPr>
          <a:xfrm>
            <a:off x="0" y="4060244"/>
            <a:ext cx="1773936" cy="6796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7E9F928-A939-4773-8C48-A9A418278C48}"/>
              </a:ext>
            </a:extLst>
          </p:cNvPr>
          <p:cNvSpPr/>
          <p:nvPr/>
        </p:nvSpPr>
        <p:spPr>
          <a:xfrm>
            <a:off x="0" y="4729167"/>
            <a:ext cx="1773936" cy="679655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C46C5DA-29CA-716B-DF8B-495DFC80773B}"/>
              </a:ext>
            </a:extLst>
          </p:cNvPr>
          <p:cNvSpPr/>
          <p:nvPr/>
        </p:nvSpPr>
        <p:spPr>
          <a:xfrm>
            <a:off x="0" y="5403456"/>
            <a:ext cx="1773936" cy="679655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9633C3A-FF63-8E70-C70C-18B4606B202D}"/>
              </a:ext>
            </a:extLst>
          </p:cNvPr>
          <p:cNvSpPr/>
          <p:nvPr/>
        </p:nvSpPr>
        <p:spPr>
          <a:xfrm>
            <a:off x="0" y="6067013"/>
            <a:ext cx="1773936" cy="790987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8" name="Graphic 47" descr="Gears with solid fill">
            <a:extLst>
              <a:ext uri="{FF2B5EF4-FFF2-40B4-BE49-F238E27FC236}">
                <a16:creationId xmlns:a16="http://schemas.microsoft.com/office/drawing/2014/main" id="{2B42DCAC-98F4-83A4-E7ED-5D53FA83C6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2408" y="1373486"/>
            <a:ext cx="636422" cy="636422"/>
          </a:xfrm>
          <a:prstGeom prst="rect">
            <a:avLst/>
          </a:prstGeom>
        </p:spPr>
      </p:pic>
      <p:pic>
        <p:nvPicPr>
          <p:cNvPr id="50" name="Graphic 49" descr="Head with gears with solid fill">
            <a:extLst>
              <a:ext uri="{FF2B5EF4-FFF2-40B4-BE49-F238E27FC236}">
                <a16:creationId xmlns:a16="http://schemas.microsoft.com/office/drawing/2014/main" id="{A8CD12AC-A8E0-2C22-4351-37177AE553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2408" y="48649"/>
            <a:ext cx="636422" cy="636422"/>
          </a:xfrm>
          <a:prstGeom prst="rect">
            <a:avLst/>
          </a:prstGeom>
        </p:spPr>
      </p:pic>
      <p:pic>
        <p:nvPicPr>
          <p:cNvPr id="52" name="Graphic 51" descr="Hourglass Finished with solid fill">
            <a:extLst>
              <a:ext uri="{FF2B5EF4-FFF2-40B4-BE49-F238E27FC236}">
                <a16:creationId xmlns:a16="http://schemas.microsoft.com/office/drawing/2014/main" id="{7F5EBB28-9A0E-2405-2567-C94F6E7F737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1804" y="2091578"/>
            <a:ext cx="636422" cy="636422"/>
          </a:xfrm>
          <a:prstGeom prst="rect">
            <a:avLst/>
          </a:prstGeom>
        </p:spPr>
      </p:pic>
      <p:pic>
        <p:nvPicPr>
          <p:cNvPr id="54" name="Graphic 53" descr="Lightbulb with solid fill">
            <a:extLst>
              <a:ext uri="{FF2B5EF4-FFF2-40B4-BE49-F238E27FC236}">
                <a16:creationId xmlns:a16="http://schemas.microsoft.com/office/drawing/2014/main" id="{66B945B6-88FD-3144-0E90-9FF4015F139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52408" y="733709"/>
            <a:ext cx="636422" cy="636422"/>
          </a:xfrm>
          <a:prstGeom prst="rect">
            <a:avLst/>
          </a:prstGeom>
        </p:spPr>
      </p:pic>
      <p:pic>
        <p:nvPicPr>
          <p:cNvPr id="56" name="Graphic 55" descr="Magnifying glass with solid fill">
            <a:extLst>
              <a:ext uri="{FF2B5EF4-FFF2-40B4-BE49-F238E27FC236}">
                <a16:creationId xmlns:a16="http://schemas.microsoft.com/office/drawing/2014/main" id="{F060ADAF-FA92-7D67-1111-0B0CAAB3B6B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69520" y="3397151"/>
            <a:ext cx="636422" cy="636422"/>
          </a:xfrm>
          <a:prstGeom prst="rect">
            <a:avLst/>
          </a:prstGeom>
        </p:spPr>
      </p:pic>
      <p:pic>
        <p:nvPicPr>
          <p:cNvPr id="58" name="Graphic 57" descr="Playbook with solid fill">
            <a:extLst>
              <a:ext uri="{FF2B5EF4-FFF2-40B4-BE49-F238E27FC236}">
                <a16:creationId xmlns:a16="http://schemas.microsoft.com/office/drawing/2014/main" id="{86AA6018-A840-9631-25C4-C700D6E3979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53440" y="2731355"/>
            <a:ext cx="636422" cy="636422"/>
          </a:xfrm>
          <a:prstGeom prst="rect">
            <a:avLst/>
          </a:prstGeom>
        </p:spPr>
      </p:pic>
      <p:pic>
        <p:nvPicPr>
          <p:cNvPr id="60" name="Graphic 59" descr="Presentation with bar chart with solid fill">
            <a:extLst>
              <a:ext uri="{FF2B5EF4-FFF2-40B4-BE49-F238E27FC236}">
                <a16:creationId xmlns:a16="http://schemas.microsoft.com/office/drawing/2014/main" id="{28E3C9DA-36BE-0CA7-9EC0-E30ED68D498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69520" y="4110061"/>
            <a:ext cx="636422" cy="636422"/>
          </a:xfrm>
          <a:prstGeom prst="rect">
            <a:avLst/>
          </a:prstGeom>
        </p:spPr>
      </p:pic>
      <p:pic>
        <p:nvPicPr>
          <p:cNvPr id="62" name="Graphic 61" descr="Research with solid fill">
            <a:extLst>
              <a:ext uri="{FF2B5EF4-FFF2-40B4-BE49-F238E27FC236}">
                <a16:creationId xmlns:a16="http://schemas.microsoft.com/office/drawing/2014/main" id="{FFBCDD43-23DB-12EC-226A-145FFE204023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25164" y="4761015"/>
            <a:ext cx="636422" cy="636422"/>
          </a:xfrm>
          <a:prstGeom prst="rect">
            <a:avLst/>
          </a:prstGeom>
        </p:spPr>
      </p:pic>
      <p:pic>
        <p:nvPicPr>
          <p:cNvPr id="64" name="Graphic 63" descr="Single gear with solid fill">
            <a:extLst>
              <a:ext uri="{FF2B5EF4-FFF2-40B4-BE49-F238E27FC236}">
                <a16:creationId xmlns:a16="http://schemas.microsoft.com/office/drawing/2014/main" id="{467AD20F-B8A2-2745-1B9A-6C42C45732D6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97276" y="5415768"/>
            <a:ext cx="636422" cy="636422"/>
          </a:xfrm>
          <a:prstGeom prst="rect">
            <a:avLst/>
          </a:prstGeom>
        </p:spPr>
      </p:pic>
      <p:pic>
        <p:nvPicPr>
          <p:cNvPr id="66" name="Graphic 65" descr="Target with solid fill">
            <a:extLst>
              <a:ext uri="{FF2B5EF4-FFF2-40B4-BE49-F238E27FC236}">
                <a16:creationId xmlns:a16="http://schemas.microsoft.com/office/drawing/2014/main" id="{4BA8BA00-5804-CF1B-955E-9A9C20409A51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597276" y="6178032"/>
            <a:ext cx="636422" cy="63642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53D545-B89C-9852-66D6-3981DF099934}"/>
              </a:ext>
            </a:extLst>
          </p:cNvPr>
          <p:cNvSpPr txBox="1">
            <a:spLocks/>
          </p:cNvSpPr>
          <p:nvPr/>
        </p:nvSpPr>
        <p:spPr>
          <a:xfrm>
            <a:off x="2121408" y="146807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defRPr sz="2000"/>
            </a:pPr>
            <a:r>
              <a:rPr lang="en-US" sz="3400" dirty="0">
                <a:latin typeface="Aptos Narrow" panose="020B0004020202020204" pitchFamily="34" charset="0"/>
                <a:cs typeface="Times New Roman" panose="02020603050405020304" pitchFamily="18" charset="0"/>
              </a:rPr>
              <a:t>Identify reliable local suppliers.</a:t>
            </a:r>
          </a:p>
          <a:p>
            <a:pPr algn="just">
              <a:defRPr sz="2000"/>
            </a:pPr>
            <a:r>
              <a:rPr lang="en-US" sz="3400" dirty="0">
                <a:latin typeface="Aptos Narrow" panose="020B0004020202020204" pitchFamily="34" charset="0"/>
                <a:cs typeface="Times New Roman" panose="02020603050405020304" pitchFamily="18" charset="0"/>
              </a:rPr>
              <a:t>Buy in bulk to reduce cost.</a:t>
            </a:r>
          </a:p>
          <a:p>
            <a:pPr algn="just">
              <a:defRPr sz="2000"/>
            </a:pPr>
            <a:r>
              <a:rPr lang="en-US" sz="3400" dirty="0">
                <a:latin typeface="Aptos Narrow" panose="020B0004020202020204" pitchFamily="34" charset="0"/>
                <a:cs typeface="Times New Roman" panose="02020603050405020304" pitchFamily="18" charset="0"/>
              </a:rPr>
              <a:t>Maintain inventory for continuous production.</a:t>
            </a:r>
          </a:p>
          <a:p>
            <a:pPr algn="just">
              <a:defRPr sz="2000"/>
            </a:pPr>
            <a:r>
              <a:rPr lang="en-US" sz="3400" dirty="0">
                <a:latin typeface="Aptos Narrow" panose="020B0004020202020204" pitchFamily="34" charset="0"/>
                <a:cs typeface="Times New Roman" panose="02020603050405020304" pitchFamily="18" charset="0"/>
              </a:rPr>
              <a:t>Ensure quality, purity, and consistency of raw materials.</a:t>
            </a:r>
          </a:p>
        </p:txBody>
      </p:sp>
      <p:sp>
        <p:nvSpPr>
          <p:cNvPr id="5" name="Rectangle: Single Corner Snipped 4">
            <a:extLst>
              <a:ext uri="{FF2B5EF4-FFF2-40B4-BE49-F238E27FC236}">
                <a16:creationId xmlns:a16="http://schemas.microsoft.com/office/drawing/2014/main" id="{411AEDE4-1832-47B3-8860-FAE936E1ABD2}"/>
              </a:ext>
            </a:extLst>
          </p:cNvPr>
          <p:cNvSpPr/>
          <p:nvPr/>
        </p:nvSpPr>
        <p:spPr>
          <a:xfrm flipH="1">
            <a:off x="3310128" y="5420159"/>
            <a:ext cx="8759952" cy="1293709"/>
          </a:xfrm>
          <a:prstGeom prst="snip1Rect">
            <a:avLst/>
          </a:prstGeom>
          <a:ln>
            <a:solidFill>
              <a:schemeClr val="tx1"/>
            </a:solidFill>
          </a:ln>
          <a:effectLst>
            <a:glow rad="101600">
              <a:schemeClr val="tx1">
                <a:alpha val="60000"/>
              </a:schemeClr>
            </a:glo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: Single Corner Snipped 5">
            <a:extLst>
              <a:ext uri="{FF2B5EF4-FFF2-40B4-BE49-F238E27FC236}">
                <a16:creationId xmlns:a16="http://schemas.microsoft.com/office/drawing/2014/main" id="{1D6D2D92-0DD9-7E6B-3591-13F7A49889D3}"/>
              </a:ext>
            </a:extLst>
          </p:cNvPr>
          <p:cNvSpPr/>
          <p:nvPr/>
        </p:nvSpPr>
        <p:spPr>
          <a:xfrm flipH="1">
            <a:off x="3378708" y="5470604"/>
            <a:ext cx="8622792" cy="1192817"/>
          </a:xfrm>
          <a:prstGeom prst="snip1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75B55A2-1BE8-77D2-8C3E-98E08F215B3A}"/>
              </a:ext>
            </a:extLst>
          </p:cNvPr>
          <p:cNvSpPr txBox="1">
            <a:spLocks/>
          </p:cNvSpPr>
          <p:nvPr/>
        </p:nvSpPr>
        <p:spPr>
          <a:xfrm>
            <a:off x="4718304" y="5521051"/>
            <a:ext cx="7610856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>
                <a:solidFill>
                  <a:srgbClr val="FF0000"/>
                </a:solidFill>
                <a:latin typeface="Bahnschrift Condensed" panose="020B0502040204020203" pitchFamily="34" charset="0"/>
                <a:cs typeface="Times New Roman" panose="02020603050405020304" pitchFamily="18" charset="0"/>
              </a:rPr>
              <a:t>Raw Material Procurement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23F548A-9E2A-43B2-A0DD-D55661F20205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7932" y="3429000"/>
            <a:ext cx="1869186" cy="1869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6684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38EB98-8206-4D7A-B503-A808B5B03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3B344EA-D9A1-5DEB-516C-AC9C6F5AA161}"/>
              </a:ext>
            </a:extLst>
          </p:cNvPr>
          <p:cNvSpPr/>
          <p:nvPr/>
        </p:nvSpPr>
        <p:spPr>
          <a:xfrm>
            <a:off x="0" y="9144"/>
            <a:ext cx="1773936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1AB52F1-DF39-4E1E-0321-66CCD2914AD5}"/>
              </a:ext>
            </a:extLst>
          </p:cNvPr>
          <p:cNvSpPr/>
          <p:nvPr/>
        </p:nvSpPr>
        <p:spPr>
          <a:xfrm>
            <a:off x="0" y="16796"/>
            <a:ext cx="1773936" cy="683863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0E04DF0-50BA-9ADC-E50B-D4F3F7C5CF5C}"/>
              </a:ext>
            </a:extLst>
          </p:cNvPr>
          <p:cNvSpPr/>
          <p:nvPr/>
        </p:nvSpPr>
        <p:spPr>
          <a:xfrm>
            <a:off x="0" y="709803"/>
            <a:ext cx="1773936" cy="679655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BECBD07-C41D-6E17-FBDC-61A8F50C44F0}"/>
              </a:ext>
            </a:extLst>
          </p:cNvPr>
          <p:cNvSpPr/>
          <p:nvPr/>
        </p:nvSpPr>
        <p:spPr>
          <a:xfrm>
            <a:off x="0" y="1357722"/>
            <a:ext cx="1773936" cy="679655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096BE6D-ED57-6B02-9970-B592C905BE44}"/>
              </a:ext>
            </a:extLst>
          </p:cNvPr>
          <p:cNvSpPr/>
          <p:nvPr/>
        </p:nvSpPr>
        <p:spPr>
          <a:xfrm>
            <a:off x="0" y="2037377"/>
            <a:ext cx="1773936" cy="679655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A5542B0-5420-EAA1-AA03-125E5BCA9C68}"/>
              </a:ext>
            </a:extLst>
          </p:cNvPr>
          <p:cNvSpPr/>
          <p:nvPr/>
        </p:nvSpPr>
        <p:spPr>
          <a:xfrm>
            <a:off x="0" y="2711666"/>
            <a:ext cx="1773936" cy="679655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A10CC59-D1FA-968F-5C84-54119E78CD2F}"/>
              </a:ext>
            </a:extLst>
          </p:cNvPr>
          <p:cNvSpPr/>
          <p:nvPr/>
        </p:nvSpPr>
        <p:spPr>
          <a:xfrm>
            <a:off x="0" y="3385955"/>
            <a:ext cx="1773936" cy="679655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1E035C2-4690-E37B-2209-51F58525FD46}"/>
              </a:ext>
            </a:extLst>
          </p:cNvPr>
          <p:cNvSpPr/>
          <p:nvPr/>
        </p:nvSpPr>
        <p:spPr>
          <a:xfrm>
            <a:off x="0" y="4060244"/>
            <a:ext cx="1773936" cy="679655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462F632-2A01-646A-1996-9EAB0DB0FD00}"/>
              </a:ext>
            </a:extLst>
          </p:cNvPr>
          <p:cNvSpPr/>
          <p:nvPr/>
        </p:nvSpPr>
        <p:spPr>
          <a:xfrm>
            <a:off x="0" y="4729167"/>
            <a:ext cx="1773936" cy="6796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5E6BE0C-B121-5D3F-181C-3C750CEA4724}"/>
              </a:ext>
            </a:extLst>
          </p:cNvPr>
          <p:cNvSpPr/>
          <p:nvPr/>
        </p:nvSpPr>
        <p:spPr>
          <a:xfrm>
            <a:off x="0" y="5403456"/>
            <a:ext cx="1773936" cy="679655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CC80AD3-A01A-E396-C07B-CFE9A7C06990}"/>
              </a:ext>
            </a:extLst>
          </p:cNvPr>
          <p:cNvSpPr/>
          <p:nvPr/>
        </p:nvSpPr>
        <p:spPr>
          <a:xfrm>
            <a:off x="0" y="6067013"/>
            <a:ext cx="1773936" cy="790987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8" name="Graphic 47" descr="Gears with solid fill">
            <a:extLst>
              <a:ext uri="{FF2B5EF4-FFF2-40B4-BE49-F238E27FC236}">
                <a16:creationId xmlns:a16="http://schemas.microsoft.com/office/drawing/2014/main" id="{03ECC40C-5B2D-D58D-BDBD-3452BFE996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2408" y="1373486"/>
            <a:ext cx="636422" cy="636422"/>
          </a:xfrm>
          <a:prstGeom prst="rect">
            <a:avLst/>
          </a:prstGeom>
        </p:spPr>
      </p:pic>
      <p:pic>
        <p:nvPicPr>
          <p:cNvPr id="50" name="Graphic 49" descr="Head with gears with solid fill">
            <a:extLst>
              <a:ext uri="{FF2B5EF4-FFF2-40B4-BE49-F238E27FC236}">
                <a16:creationId xmlns:a16="http://schemas.microsoft.com/office/drawing/2014/main" id="{2501C107-CEC9-2187-E619-2BB88566A9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2408" y="48649"/>
            <a:ext cx="636422" cy="636422"/>
          </a:xfrm>
          <a:prstGeom prst="rect">
            <a:avLst/>
          </a:prstGeom>
        </p:spPr>
      </p:pic>
      <p:pic>
        <p:nvPicPr>
          <p:cNvPr id="52" name="Graphic 51" descr="Hourglass Finished with solid fill">
            <a:extLst>
              <a:ext uri="{FF2B5EF4-FFF2-40B4-BE49-F238E27FC236}">
                <a16:creationId xmlns:a16="http://schemas.microsoft.com/office/drawing/2014/main" id="{3EE71F96-2A66-1529-1A89-F0855A60519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1804" y="2091578"/>
            <a:ext cx="636422" cy="636422"/>
          </a:xfrm>
          <a:prstGeom prst="rect">
            <a:avLst/>
          </a:prstGeom>
        </p:spPr>
      </p:pic>
      <p:pic>
        <p:nvPicPr>
          <p:cNvPr id="54" name="Graphic 53" descr="Lightbulb with solid fill">
            <a:extLst>
              <a:ext uri="{FF2B5EF4-FFF2-40B4-BE49-F238E27FC236}">
                <a16:creationId xmlns:a16="http://schemas.microsoft.com/office/drawing/2014/main" id="{83E4FB4F-BFED-BE09-72BB-E6FE131CFEE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52408" y="733709"/>
            <a:ext cx="636422" cy="636422"/>
          </a:xfrm>
          <a:prstGeom prst="rect">
            <a:avLst/>
          </a:prstGeom>
        </p:spPr>
      </p:pic>
      <p:pic>
        <p:nvPicPr>
          <p:cNvPr id="56" name="Graphic 55" descr="Magnifying glass with solid fill">
            <a:extLst>
              <a:ext uri="{FF2B5EF4-FFF2-40B4-BE49-F238E27FC236}">
                <a16:creationId xmlns:a16="http://schemas.microsoft.com/office/drawing/2014/main" id="{3E0887CB-E9DD-355D-BD10-A71F7CBEF24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69520" y="3397151"/>
            <a:ext cx="636422" cy="636422"/>
          </a:xfrm>
          <a:prstGeom prst="rect">
            <a:avLst/>
          </a:prstGeom>
        </p:spPr>
      </p:pic>
      <p:pic>
        <p:nvPicPr>
          <p:cNvPr id="58" name="Graphic 57" descr="Playbook with solid fill">
            <a:extLst>
              <a:ext uri="{FF2B5EF4-FFF2-40B4-BE49-F238E27FC236}">
                <a16:creationId xmlns:a16="http://schemas.microsoft.com/office/drawing/2014/main" id="{B57EE74E-2C15-A18E-236A-B3FB2D1EB65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53440" y="2731355"/>
            <a:ext cx="636422" cy="636422"/>
          </a:xfrm>
          <a:prstGeom prst="rect">
            <a:avLst/>
          </a:prstGeom>
        </p:spPr>
      </p:pic>
      <p:pic>
        <p:nvPicPr>
          <p:cNvPr id="60" name="Graphic 59" descr="Presentation with bar chart with solid fill">
            <a:extLst>
              <a:ext uri="{FF2B5EF4-FFF2-40B4-BE49-F238E27FC236}">
                <a16:creationId xmlns:a16="http://schemas.microsoft.com/office/drawing/2014/main" id="{30CCFF33-5518-34D4-4B3A-43A3A44CCFA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69520" y="4110061"/>
            <a:ext cx="636422" cy="636422"/>
          </a:xfrm>
          <a:prstGeom prst="rect">
            <a:avLst/>
          </a:prstGeom>
        </p:spPr>
      </p:pic>
      <p:pic>
        <p:nvPicPr>
          <p:cNvPr id="62" name="Graphic 61" descr="Research with solid fill">
            <a:extLst>
              <a:ext uri="{FF2B5EF4-FFF2-40B4-BE49-F238E27FC236}">
                <a16:creationId xmlns:a16="http://schemas.microsoft.com/office/drawing/2014/main" id="{1DB0482D-1530-A1CD-5C3E-68C6A002E77F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25164" y="4761015"/>
            <a:ext cx="636422" cy="636422"/>
          </a:xfrm>
          <a:prstGeom prst="rect">
            <a:avLst/>
          </a:prstGeom>
        </p:spPr>
      </p:pic>
      <p:pic>
        <p:nvPicPr>
          <p:cNvPr id="64" name="Graphic 63" descr="Single gear with solid fill">
            <a:extLst>
              <a:ext uri="{FF2B5EF4-FFF2-40B4-BE49-F238E27FC236}">
                <a16:creationId xmlns:a16="http://schemas.microsoft.com/office/drawing/2014/main" id="{D1B35C2A-8F18-F650-B580-115733353721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97276" y="5415768"/>
            <a:ext cx="636422" cy="636422"/>
          </a:xfrm>
          <a:prstGeom prst="rect">
            <a:avLst/>
          </a:prstGeom>
        </p:spPr>
      </p:pic>
      <p:pic>
        <p:nvPicPr>
          <p:cNvPr id="66" name="Graphic 65" descr="Target with solid fill">
            <a:extLst>
              <a:ext uri="{FF2B5EF4-FFF2-40B4-BE49-F238E27FC236}">
                <a16:creationId xmlns:a16="http://schemas.microsoft.com/office/drawing/2014/main" id="{520C11A1-69B6-E608-FE5D-5FADC3B51111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597276" y="6178032"/>
            <a:ext cx="636422" cy="63642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3E8ED3-5636-FF17-1737-147040E77E8B}"/>
              </a:ext>
            </a:extLst>
          </p:cNvPr>
          <p:cNvSpPr txBox="1">
            <a:spLocks/>
          </p:cNvSpPr>
          <p:nvPr/>
        </p:nvSpPr>
        <p:spPr>
          <a:xfrm>
            <a:off x="2048256" y="212164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000"/>
            </a:pPr>
            <a:r>
              <a:rPr lang="en-US" sz="3400" dirty="0">
                <a:latin typeface="Aptos Narrow" panose="020B0004020202020204" pitchFamily="34" charset="0"/>
                <a:cs typeface="Times New Roman" panose="02020603050405020304" pitchFamily="18" charset="0"/>
              </a:rPr>
              <a:t>Determine cost per unit: Total Cost ÷ No. of Units Produced</a:t>
            </a:r>
          </a:p>
          <a:p>
            <a:pPr algn="l">
              <a:defRPr sz="2000"/>
            </a:pPr>
            <a:r>
              <a:rPr lang="en-US" sz="3400" dirty="0">
                <a:latin typeface="Aptos Narrow" panose="020B0004020202020204" pitchFamily="34" charset="0"/>
                <a:cs typeface="Times New Roman" panose="02020603050405020304" pitchFamily="18" charset="0"/>
              </a:rPr>
              <a:t>Add desired profit margin (10–20%).</a:t>
            </a:r>
          </a:p>
          <a:p>
            <a:pPr algn="l">
              <a:defRPr sz="2000"/>
            </a:pPr>
            <a:r>
              <a:rPr lang="en-US" sz="3400" dirty="0">
                <a:latin typeface="Aptos Narrow" panose="020B0004020202020204" pitchFamily="34" charset="0"/>
                <a:cs typeface="Times New Roman" panose="02020603050405020304" pitchFamily="18" charset="0"/>
              </a:rPr>
              <a:t>Compare with market prices.</a:t>
            </a:r>
          </a:p>
          <a:p>
            <a:pPr algn="l">
              <a:defRPr sz="2000"/>
            </a:pPr>
            <a:r>
              <a:rPr lang="en-US" sz="3400" dirty="0">
                <a:latin typeface="Aptos Narrow" panose="020B0004020202020204" pitchFamily="34" charset="0"/>
                <a:cs typeface="Times New Roman" panose="02020603050405020304" pitchFamily="18" charset="0"/>
              </a:rPr>
              <a:t>Example: Total cost ₹10,000 / 500 units = ₹20 → Selling price ₹25.</a:t>
            </a:r>
          </a:p>
        </p:txBody>
      </p:sp>
      <p:sp>
        <p:nvSpPr>
          <p:cNvPr id="5" name="Rectangle: Single Corner Snipped 4">
            <a:extLst>
              <a:ext uri="{FF2B5EF4-FFF2-40B4-BE49-F238E27FC236}">
                <a16:creationId xmlns:a16="http://schemas.microsoft.com/office/drawing/2014/main" id="{608795AC-7EDF-75ED-1CFF-54F9224B0D61}"/>
              </a:ext>
            </a:extLst>
          </p:cNvPr>
          <p:cNvSpPr/>
          <p:nvPr/>
        </p:nvSpPr>
        <p:spPr>
          <a:xfrm flipH="1">
            <a:off x="3310128" y="5420159"/>
            <a:ext cx="8759952" cy="1293709"/>
          </a:xfrm>
          <a:prstGeom prst="snip1Rect">
            <a:avLst/>
          </a:prstGeom>
          <a:ln>
            <a:solidFill>
              <a:schemeClr val="tx1"/>
            </a:solidFill>
          </a:ln>
          <a:effectLst>
            <a:glow rad="101600">
              <a:schemeClr val="tx1">
                <a:alpha val="60000"/>
              </a:schemeClr>
            </a:glo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: Single Corner Snipped 5">
            <a:extLst>
              <a:ext uri="{FF2B5EF4-FFF2-40B4-BE49-F238E27FC236}">
                <a16:creationId xmlns:a16="http://schemas.microsoft.com/office/drawing/2014/main" id="{E8377997-9040-504A-D08F-88804EF1C933}"/>
              </a:ext>
            </a:extLst>
          </p:cNvPr>
          <p:cNvSpPr/>
          <p:nvPr/>
        </p:nvSpPr>
        <p:spPr>
          <a:xfrm flipH="1">
            <a:off x="3378708" y="5470604"/>
            <a:ext cx="8622792" cy="1192817"/>
          </a:xfrm>
          <a:prstGeom prst="snip1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1233019-DE38-D852-ABE1-2C0BF96BFE63}"/>
              </a:ext>
            </a:extLst>
          </p:cNvPr>
          <p:cNvSpPr txBox="1">
            <a:spLocks/>
          </p:cNvSpPr>
          <p:nvPr/>
        </p:nvSpPr>
        <p:spPr>
          <a:xfrm>
            <a:off x="6684264" y="5415768"/>
            <a:ext cx="6016752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>
                <a:solidFill>
                  <a:srgbClr val="FF0000"/>
                </a:solidFill>
                <a:latin typeface="Bahnschrift Condensed" panose="020B0502040204020203" pitchFamily="34" charset="0"/>
                <a:cs typeface="Times New Roman" panose="02020603050405020304" pitchFamily="18" charset="0"/>
              </a:rPr>
              <a:t>Pricing Strategy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5E14D8A-22C4-7DDD-16F0-71EC076C5DC1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7932" y="3429000"/>
            <a:ext cx="1869186" cy="1869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0447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11EDA6-4062-8218-C050-544141844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CB05D5B-820E-4E4F-54E8-5A4EAF017CDD}"/>
              </a:ext>
            </a:extLst>
          </p:cNvPr>
          <p:cNvSpPr/>
          <p:nvPr/>
        </p:nvSpPr>
        <p:spPr>
          <a:xfrm>
            <a:off x="0" y="9144"/>
            <a:ext cx="1773936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F3D86F7-2F8C-B1DF-763E-3321AC041D5E}"/>
              </a:ext>
            </a:extLst>
          </p:cNvPr>
          <p:cNvSpPr/>
          <p:nvPr/>
        </p:nvSpPr>
        <p:spPr>
          <a:xfrm>
            <a:off x="0" y="16796"/>
            <a:ext cx="1773936" cy="683863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218974B-FE38-EE96-84CE-B9EF85DDB4EE}"/>
              </a:ext>
            </a:extLst>
          </p:cNvPr>
          <p:cNvSpPr/>
          <p:nvPr/>
        </p:nvSpPr>
        <p:spPr>
          <a:xfrm>
            <a:off x="0" y="709803"/>
            <a:ext cx="1773936" cy="679655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53F700E-E216-F5D5-7BEC-AF53704E0E3D}"/>
              </a:ext>
            </a:extLst>
          </p:cNvPr>
          <p:cNvSpPr/>
          <p:nvPr/>
        </p:nvSpPr>
        <p:spPr>
          <a:xfrm>
            <a:off x="0" y="1357722"/>
            <a:ext cx="1773936" cy="679655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CD86D76-7EE4-2FC9-CC99-72A72B9FF56E}"/>
              </a:ext>
            </a:extLst>
          </p:cNvPr>
          <p:cNvSpPr/>
          <p:nvPr/>
        </p:nvSpPr>
        <p:spPr>
          <a:xfrm>
            <a:off x="0" y="2037377"/>
            <a:ext cx="1773936" cy="679655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39057D6-E53F-3B95-310D-5E383B398ABF}"/>
              </a:ext>
            </a:extLst>
          </p:cNvPr>
          <p:cNvSpPr/>
          <p:nvPr/>
        </p:nvSpPr>
        <p:spPr>
          <a:xfrm>
            <a:off x="0" y="2711666"/>
            <a:ext cx="1773936" cy="679655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1CB2BAF-01C4-75CD-433F-0A4C95364E44}"/>
              </a:ext>
            </a:extLst>
          </p:cNvPr>
          <p:cNvSpPr/>
          <p:nvPr/>
        </p:nvSpPr>
        <p:spPr>
          <a:xfrm>
            <a:off x="0" y="3385955"/>
            <a:ext cx="1773936" cy="679655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3623EE5-ECA5-3AB4-310E-4C94153FADC3}"/>
              </a:ext>
            </a:extLst>
          </p:cNvPr>
          <p:cNvSpPr/>
          <p:nvPr/>
        </p:nvSpPr>
        <p:spPr>
          <a:xfrm>
            <a:off x="0" y="4060244"/>
            <a:ext cx="1773936" cy="679655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F2EE936-DF29-DB1C-2FFB-BB0D6A159823}"/>
              </a:ext>
            </a:extLst>
          </p:cNvPr>
          <p:cNvSpPr/>
          <p:nvPr/>
        </p:nvSpPr>
        <p:spPr>
          <a:xfrm>
            <a:off x="0" y="4729167"/>
            <a:ext cx="1773936" cy="679655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210622A-C2DF-8CF1-6BFA-4A5FD02ED890}"/>
              </a:ext>
            </a:extLst>
          </p:cNvPr>
          <p:cNvSpPr/>
          <p:nvPr/>
        </p:nvSpPr>
        <p:spPr>
          <a:xfrm>
            <a:off x="0" y="5403456"/>
            <a:ext cx="1773936" cy="6796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C4C9DD0-DAB9-9A43-4B50-FEFB43D599C6}"/>
              </a:ext>
            </a:extLst>
          </p:cNvPr>
          <p:cNvSpPr/>
          <p:nvPr/>
        </p:nvSpPr>
        <p:spPr>
          <a:xfrm>
            <a:off x="0" y="6067013"/>
            <a:ext cx="1773936" cy="790987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8" name="Graphic 47" descr="Gears with solid fill">
            <a:extLst>
              <a:ext uri="{FF2B5EF4-FFF2-40B4-BE49-F238E27FC236}">
                <a16:creationId xmlns:a16="http://schemas.microsoft.com/office/drawing/2014/main" id="{EF5624BA-28E5-F038-BCC2-6FEADD07E0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2408" y="1373486"/>
            <a:ext cx="636422" cy="636422"/>
          </a:xfrm>
          <a:prstGeom prst="rect">
            <a:avLst/>
          </a:prstGeom>
        </p:spPr>
      </p:pic>
      <p:pic>
        <p:nvPicPr>
          <p:cNvPr id="50" name="Graphic 49" descr="Head with gears with solid fill">
            <a:extLst>
              <a:ext uri="{FF2B5EF4-FFF2-40B4-BE49-F238E27FC236}">
                <a16:creationId xmlns:a16="http://schemas.microsoft.com/office/drawing/2014/main" id="{C4557512-41E0-112F-B243-E3A3E72F9F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2408" y="48649"/>
            <a:ext cx="636422" cy="636422"/>
          </a:xfrm>
          <a:prstGeom prst="rect">
            <a:avLst/>
          </a:prstGeom>
        </p:spPr>
      </p:pic>
      <p:pic>
        <p:nvPicPr>
          <p:cNvPr id="52" name="Graphic 51" descr="Hourglass Finished with solid fill">
            <a:extLst>
              <a:ext uri="{FF2B5EF4-FFF2-40B4-BE49-F238E27FC236}">
                <a16:creationId xmlns:a16="http://schemas.microsoft.com/office/drawing/2014/main" id="{E9CB24E0-4221-7711-AF24-D91AAF12136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1804" y="2091578"/>
            <a:ext cx="636422" cy="636422"/>
          </a:xfrm>
          <a:prstGeom prst="rect">
            <a:avLst/>
          </a:prstGeom>
        </p:spPr>
      </p:pic>
      <p:pic>
        <p:nvPicPr>
          <p:cNvPr id="54" name="Graphic 53" descr="Lightbulb with solid fill">
            <a:extLst>
              <a:ext uri="{FF2B5EF4-FFF2-40B4-BE49-F238E27FC236}">
                <a16:creationId xmlns:a16="http://schemas.microsoft.com/office/drawing/2014/main" id="{B996FD5F-F675-6A14-9240-6B296FA9465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52408" y="733709"/>
            <a:ext cx="636422" cy="636422"/>
          </a:xfrm>
          <a:prstGeom prst="rect">
            <a:avLst/>
          </a:prstGeom>
        </p:spPr>
      </p:pic>
      <p:pic>
        <p:nvPicPr>
          <p:cNvPr id="56" name="Graphic 55" descr="Magnifying glass with solid fill">
            <a:extLst>
              <a:ext uri="{FF2B5EF4-FFF2-40B4-BE49-F238E27FC236}">
                <a16:creationId xmlns:a16="http://schemas.microsoft.com/office/drawing/2014/main" id="{774F9798-5691-C3A1-F6FD-A9C3EC68E3C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69520" y="3397151"/>
            <a:ext cx="636422" cy="636422"/>
          </a:xfrm>
          <a:prstGeom prst="rect">
            <a:avLst/>
          </a:prstGeom>
        </p:spPr>
      </p:pic>
      <p:pic>
        <p:nvPicPr>
          <p:cNvPr id="58" name="Graphic 57" descr="Playbook with solid fill">
            <a:extLst>
              <a:ext uri="{FF2B5EF4-FFF2-40B4-BE49-F238E27FC236}">
                <a16:creationId xmlns:a16="http://schemas.microsoft.com/office/drawing/2014/main" id="{FB99F31E-11BC-247D-ECF4-AE6102E1479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53440" y="2731355"/>
            <a:ext cx="636422" cy="636422"/>
          </a:xfrm>
          <a:prstGeom prst="rect">
            <a:avLst/>
          </a:prstGeom>
        </p:spPr>
      </p:pic>
      <p:pic>
        <p:nvPicPr>
          <p:cNvPr id="60" name="Graphic 59" descr="Presentation with bar chart with solid fill">
            <a:extLst>
              <a:ext uri="{FF2B5EF4-FFF2-40B4-BE49-F238E27FC236}">
                <a16:creationId xmlns:a16="http://schemas.microsoft.com/office/drawing/2014/main" id="{99CA270A-1FC3-915C-B0B1-2E0B125B2F0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69520" y="4110061"/>
            <a:ext cx="636422" cy="636422"/>
          </a:xfrm>
          <a:prstGeom prst="rect">
            <a:avLst/>
          </a:prstGeom>
        </p:spPr>
      </p:pic>
      <p:pic>
        <p:nvPicPr>
          <p:cNvPr id="62" name="Graphic 61" descr="Research with solid fill">
            <a:extLst>
              <a:ext uri="{FF2B5EF4-FFF2-40B4-BE49-F238E27FC236}">
                <a16:creationId xmlns:a16="http://schemas.microsoft.com/office/drawing/2014/main" id="{C115EBC2-A20B-A128-3C28-350C6EA6E2A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25164" y="4761015"/>
            <a:ext cx="636422" cy="636422"/>
          </a:xfrm>
          <a:prstGeom prst="rect">
            <a:avLst/>
          </a:prstGeom>
        </p:spPr>
      </p:pic>
      <p:pic>
        <p:nvPicPr>
          <p:cNvPr id="64" name="Graphic 63" descr="Single gear with solid fill">
            <a:extLst>
              <a:ext uri="{FF2B5EF4-FFF2-40B4-BE49-F238E27FC236}">
                <a16:creationId xmlns:a16="http://schemas.microsoft.com/office/drawing/2014/main" id="{275E5B2D-7AAC-8A92-1B31-E85B8E1C296B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97276" y="5415768"/>
            <a:ext cx="636422" cy="636422"/>
          </a:xfrm>
          <a:prstGeom prst="rect">
            <a:avLst/>
          </a:prstGeom>
        </p:spPr>
      </p:pic>
      <p:pic>
        <p:nvPicPr>
          <p:cNvPr id="66" name="Graphic 65" descr="Target with solid fill">
            <a:extLst>
              <a:ext uri="{FF2B5EF4-FFF2-40B4-BE49-F238E27FC236}">
                <a16:creationId xmlns:a16="http://schemas.microsoft.com/office/drawing/2014/main" id="{C12F60AF-4111-F823-51F1-34901513260D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597276" y="6178032"/>
            <a:ext cx="636422" cy="63642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F7EFB6-7D0B-16CC-90BA-DB398AB9A47C}"/>
              </a:ext>
            </a:extLst>
          </p:cNvPr>
          <p:cNvSpPr txBox="1">
            <a:spLocks/>
          </p:cNvSpPr>
          <p:nvPr/>
        </p:nvSpPr>
        <p:spPr>
          <a:xfrm>
            <a:off x="1981200" y="358727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000"/>
            </a:pPr>
            <a:r>
              <a:rPr lang="en-US" sz="3400" dirty="0">
                <a:latin typeface="Aptos Narrow" panose="020B0004020202020204" pitchFamily="34" charset="0"/>
                <a:cs typeface="Times New Roman" panose="02020603050405020304" pitchFamily="18" charset="0"/>
              </a:rPr>
              <a:t>Use local fairs, exhibitions, and online platforms (Amazon, </a:t>
            </a:r>
            <a:r>
              <a:rPr lang="en-US" sz="3400" dirty="0" err="1">
                <a:latin typeface="Aptos Narrow" panose="020B0004020202020204" pitchFamily="34" charset="0"/>
                <a:cs typeface="Times New Roman" panose="02020603050405020304" pitchFamily="18" charset="0"/>
              </a:rPr>
              <a:t>Meesho</a:t>
            </a:r>
            <a:r>
              <a:rPr lang="en-US" sz="3400" dirty="0">
                <a:latin typeface="Aptos Narrow" panose="020B0004020202020204" pitchFamily="34" charset="0"/>
                <a:cs typeface="Times New Roman" panose="02020603050405020304" pitchFamily="18" charset="0"/>
              </a:rPr>
              <a:t>).</a:t>
            </a:r>
          </a:p>
          <a:p>
            <a:pPr algn="l">
              <a:defRPr sz="2000"/>
            </a:pPr>
            <a:r>
              <a:rPr lang="en-US" sz="3400" dirty="0">
                <a:latin typeface="Aptos Narrow" panose="020B0004020202020204" pitchFamily="34" charset="0"/>
                <a:cs typeface="Times New Roman" panose="02020603050405020304" pitchFamily="18" charset="0"/>
              </a:rPr>
              <a:t>Attractive packaging and branding increase value.</a:t>
            </a:r>
          </a:p>
          <a:p>
            <a:pPr algn="l">
              <a:defRPr sz="2000"/>
            </a:pPr>
            <a:r>
              <a:rPr lang="en-US" sz="3400" dirty="0">
                <a:latin typeface="Aptos Narrow" panose="020B0004020202020204" pitchFamily="34" charset="0"/>
                <a:cs typeface="Times New Roman" panose="02020603050405020304" pitchFamily="18" charset="0"/>
              </a:rPr>
              <a:t>Customer satisfaction ensures repeat orders.</a:t>
            </a:r>
          </a:p>
        </p:txBody>
      </p:sp>
      <p:sp>
        <p:nvSpPr>
          <p:cNvPr id="5" name="Rectangle: Single Corner Snipped 4">
            <a:extLst>
              <a:ext uri="{FF2B5EF4-FFF2-40B4-BE49-F238E27FC236}">
                <a16:creationId xmlns:a16="http://schemas.microsoft.com/office/drawing/2014/main" id="{02B42CAE-2192-5273-3AFE-BEB35F4A8D96}"/>
              </a:ext>
            </a:extLst>
          </p:cNvPr>
          <p:cNvSpPr/>
          <p:nvPr/>
        </p:nvSpPr>
        <p:spPr>
          <a:xfrm flipH="1">
            <a:off x="3300984" y="5420159"/>
            <a:ext cx="8759952" cy="1293709"/>
          </a:xfrm>
          <a:prstGeom prst="snip1Rect">
            <a:avLst/>
          </a:prstGeom>
          <a:ln>
            <a:solidFill>
              <a:schemeClr val="tx1"/>
            </a:solidFill>
          </a:ln>
          <a:effectLst>
            <a:glow rad="101600">
              <a:schemeClr val="tx1">
                <a:alpha val="60000"/>
              </a:schemeClr>
            </a:glo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: Single Corner Snipped 5">
            <a:extLst>
              <a:ext uri="{FF2B5EF4-FFF2-40B4-BE49-F238E27FC236}">
                <a16:creationId xmlns:a16="http://schemas.microsoft.com/office/drawing/2014/main" id="{A465D7AD-55D3-B70A-E088-CB6B501F989D}"/>
              </a:ext>
            </a:extLst>
          </p:cNvPr>
          <p:cNvSpPr/>
          <p:nvPr/>
        </p:nvSpPr>
        <p:spPr>
          <a:xfrm flipH="1">
            <a:off x="3369564" y="5470604"/>
            <a:ext cx="8622792" cy="1192817"/>
          </a:xfrm>
          <a:prstGeom prst="snip1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BC2BCA2-B97D-1752-6ECF-44B9BFDBEDE2}"/>
              </a:ext>
            </a:extLst>
          </p:cNvPr>
          <p:cNvSpPr txBox="1">
            <a:spLocks/>
          </p:cNvSpPr>
          <p:nvPr/>
        </p:nvSpPr>
        <p:spPr>
          <a:xfrm>
            <a:off x="4946904" y="5488579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>
                <a:solidFill>
                  <a:srgbClr val="FF0000"/>
                </a:solidFill>
                <a:latin typeface="Bahnschrift Condensed" panose="020B0502040204020203" pitchFamily="34" charset="0"/>
                <a:cs typeface="Times New Roman" panose="02020603050405020304" pitchFamily="18" charset="0"/>
              </a:rPr>
              <a:t>Marketing and Sales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ECE4FC2-E885-E581-CE35-4A96740021E4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7932" y="3429000"/>
            <a:ext cx="1869186" cy="1869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2649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950EF3-05B9-D42F-7DAD-CCBE3324B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5F5C118-FA0A-E9E8-E2BB-43740FE499D7}"/>
              </a:ext>
            </a:extLst>
          </p:cNvPr>
          <p:cNvSpPr/>
          <p:nvPr/>
        </p:nvSpPr>
        <p:spPr>
          <a:xfrm>
            <a:off x="0" y="9144"/>
            <a:ext cx="1773936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BA446D4-184D-B59C-9A88-3EE970C465E0}"/>
              </a:ext>
            </a:extLst>
          </p:cNvPr>
          <p:cNvSpPr/>
          <p:nvPr/>
        </p:nvSpPr>
        <p:spPr>
          <a:xfrm>
            <a:off x="0" y="16796"/>
            <a:ext cx="1773936" cy="683863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6AC5BF6-B608-A507-7E5B-B432291783CA}"/>
              </a:ext>
            </a:extLst>
          </p:cNvPr>
          <p:cNvSpPr/>
          <p:nvPr/>
        </p:nvSpPr>
        <p:spPr>
          <a:xfrm>
            <a:off x="0" y="709803"/>
            <a:ext cx="1773936" cy="679655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3841803-E57A-6C73-E2DA-95D5B21251DA}"/>
              </a:ext>
            </a:extLst>
          </p:cNvPr>
          <p:cNvSpPr/>
          <p:nvPr/>
        </p:nvSpPr>
        <p:spPr>
          <a:xfrm>
            <a:off x="0" y="1357722"/>
            <a:ext cx="1773936" cy="679655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8DA8991-EC3B-A4DA-C6FE-E0703B92D9AD}"/>
              </a:ext>
            </a:extLst>
          </p:cNvPr>
          <p:cNvSpPr/>
          <p:nvPr/>
        </p:nvSpPr>
        <p:spPr>
          <a:xfrm>
            <a:off x="0" y="2037377"/>
            <a:ext cx="1773936" cy="679655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7AE13CE-B190-D53E-2F59-DB233610B7C9}"/>
              </a:ext>
            </a:extLst>
          </p:cNvPr>
          <p:cNvSpPr/>
          <p:nvPr/>
        </p:nvSpPr>
        <p:spPr>
          <a:xfrm>
            <a:off x="0" y="2711666"/>
            <a:ext cx="1773936" cy="679655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6EBB043-B1CF-4C88-46D6-86B4A20ED165}"/>
              </a:ext>
            </a:extLst>
          </p:cNvPr>
          <p:cNvSpPr/>
          <p:nvPr/>
        </p:nvSpPr>
        <p:spPr>
          <a:xfrm>
            <a:off x="0" y="3385955"/>
            <a:ext cx="1773936" cy="679655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8F03E73-258A-E456-E646-9995762BDA85}"/>
              </a:ext>
            </a:extLst>
          </p:cNvPr>
          <p:cNvSpPr/>
          <p:nvPr/>
        </p:nvSpPr>
        <p:spPr>
          <a:xfrm>
            <a:off x="0" y="4060244"/>
            <a:ext cx="1773936" cy="679655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28262AE-AE73-6B6E-8378-F304EE8D8EDE}"/>
              </a:ext>
            </a:extLst>
          </p:cNvPr>
          <p:cNvSpPr/>
          <p:nvPr/>
        </p:nvSpPr>
        <p:spPr>
          <a:xfrm>
            <a:off x="0" y="4729167"/>
            <a:ext cx="1773936" cy="679655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EB518E7-89BD-0379-C146-45A1AC41A7E9}"/>
              </a:ext>
            </a:extLst>
          </p:cNvPr>
          <p:cNvSpPr/>
          <p:nvPr/>
        </p:nvSpPr>
        <p:spPr>
          <a:xfrm>
            <a:off x="0" y="5403456"/>
            <a:ext cx="1773936" cy="679655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B31B821-0CA9-29FB-82AD-E7E5F93601E8}"/>
              </a:ext>
            </a:extLst>
          </p:cNvPr>
          <p:cNvSpPr/>
          <p:nvPr/>
        </p:nvSpPr>
        <p:spPr>
          <a:xfrm>
            <a:off x="0" y="6083111"/>
            <a:ext cx="1773936" cy="790987"/>
          </a:xfrm>
          <a:prstGeom prst="rect">
            <a:avLst/>
          </a:prstGeom>
          <a:solidFill>
            <a:schemeClr val="tx2">
              <a:lumMod val="1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8" name="Graphic 47" descr="Gears with solid fill">
            <a:extLst>
              <a:ext uri="{FF2B5EF4-FFF2-40B4-BE49-F238E27FC236}">
                <a16:creationId xmlns:a16="http://schemas.microsoft.com/office/drawing/2014/main" id="{BB52E118-B617-93A3-3A2F-D65255E163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2408" y="1373486"/>
            <a:ext cx="636422" cy="636422"/>
          </a:xfrm>
          <a:prstGeom prst="rect">
            <a:avLst/>
          </a:prstGeom>
        </p:spPr>
      </p:pic>
      <p:pic>
        <p:nvPicPr>
          <p:cNvPr id="50" name="Graphic 49" descr="Head with gears with solid fill">
            <a:extLst>
              <a:ext uri="{FF2B5EF4-FFF2-40B4-BE49-F238E27FC236}">
                <a16:creationId xmlns:a16="http://schemas.microsoft.com/office/drawing/2014/main" id="{AB39684B-AC20-CAB8-17F9-9D022FD3916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2408" y="48649"/>
            <a:ext cx="636422" cy="636422"/>
          </a:xfrm>
          <a:prstGeom prst="rect">
            <a:avLst/>
          </a:prstGeom>
        </p:spPr>
      </p:pic>
      <p:pic>
        <p:nvPicPr>
          <p:cNvPr id="52" name="Graphic 51" descr="Hourglass Finished with solid fill">
            <a:extLst>
              <a:ext uri="{FF2B5EF4-FFF2-40B4-BE49-F238E27FC236}">
                <a16:creationId xmlns:a16="http://schemas.microsoft.com/office/drawing/2014/main" id="{8B9A8ED4-35E4-C1E1-3433-AC5218BE991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1804" y="2091578"/>
            <a:ext cx="636422" cy="636422"/>
          </a:xfrm>
          <a:prstGeom prst="rect">
            <a:avLst/>
          </a:prstGeom>
        </p:spPr>
      </p:pic>
      <p:pic>
        <p:nvPicPr>
          <p:cNvPr id="54" name="Graphic 53" descr="Lightbulb with solid fill">
            <a:extLst>
              <a:ext uri="{FF2B5EF4-FFF2-40B4-BE49-F238E27FC236}">
                <a16:creationId xmlns:a16="http://schemas.microsoft.com/office/drawing/2014/main" id="{EF0FA409-193C-3439-9557-9E9D86F2ADE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52408" y="733709"/>
            <a:ext cx="636422" cy="636422"/>
          </a:xfrm>
          <a:prstGeom prst="rect">
            <a:avLst/>
          </a:prstGeom>
        </p:spPr>
      </p:pic>
      <p:pic>
        <p:nvPicPr>
          <p:cNvPr id="56" name="Graphic 55" descr="Magnifying glass with solid fill">
            <a:extLst>
              <a:ext uri="{FF2B5EF4-FFF2-40B4-BE49-F238E27FC236}">
                <a16:creationId xmlns:a16="http://schemas.microsoft.com/office/drawing/2014/main" id="{85DCDCB8-6840-FD2A-BCF2-A863EB9AE96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69520" y="3397151"/>
            <a:ext cx="636422" cy="636422"/>
          </a:xfrm>
          <a:prstGeom prst="rect">
            <a:avLst/>
          </a:prstGeom>
        </p:spPr>
      </p:pic>
      <p:pic>
        <p:nvPicPr>
          <p:cNvPr id="58" name="Graphic 57" descr="Playbook with solid fill">
            <a:extLst>
              <a:ext uri="{FF2B5EF4-FFF2-40B4-BE49-F238E27FC236}">
                <a16:creationId xmlns:a16="http://schemas.microsoft.com/office/drawing/2014/main" id="{49DCD486-FE27-3368-E663-A1830F0C88D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53440" y="2731355"/>
            <a:ext cx="636422" cy="636422"/>
          </a:xfrm>
          <a:prstGeom prst="rect">
            <a:avLst/>
          </a:prstGeom>
        </p:spPr>
      </p:pic>
      <p:pic>
        <p:nvPicPr>
          <p:cNvPr id="60" name="Graphic 59" descr="Presentation with bar chart with solid fill">
            <a:extLst>
              <a:ext uri="{FF2B5EF4-FFF2-40B4-BE49-F238E27FC236}">
                <a16:creationId xmlns:a16="http://schemas.microsoft.com/office/drawing/2014/main" id="{E9708562-B504-7CF8-E2CD-128D8ECB2320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69520" y="4110061"/>
            <a:ext cx="636422" cy="636422"/>
          </a:xfrm>
          <a:prstGeom prst="rect">
            <a:avLst/>
          </a:prstGeom>
        </p:spPr>
      </p:pic>
      <p:pic>
        <p:nvPicPr>
          <p:cNvPr id="62" name="Graphic 61" descr="Research with solid fill">
            <a:extLst>
              <a:ext uri="{FF2B5EF4-FFF2-40B4-BE49-F238E27FC236}">
                <a16:creationId xmlns:a16="http://schemas.microsoft.com/office/drawing/2014/main" id="{477E5465-666D-E5AD-1F67-56DAE17676F6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25164" y="4761015"/>
            <a:ext cx="636422" cy="636422"/>
          </a:xfrm>
          <a:prstGeom prst="rect">
            <a:avLst/>
          </a:prstGeom>
        </p:spPr>
      </p:pic>
      <p:pic>
        <p:nvPicPr>
          <p:cNvPr id="64" name="Graphic 63" descr="Single gear with solid fill">
            <a:extLst>
              <a:ext uri="{FF2B5EF4-FFF2-40B4-BE49-F238E27FC236}">
                <a16:creationId xmlns:a16="http://schemas.microsoft.com/office/drawing/2014/main" id="{3C4B20ED-2F3C-FFF0-657D-AC4E6328E38B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97276" y="5415768"/>
            <a:ext cx="636422" cy="636422"/>
          </a:xfrm>
          <a:prstGeom prst="rect">
            <a:avLst/>
          </a:prstGeom>
        </p:spPr>
      </p:pic>
      <p:pic>
        <p:nvPicPr>
          <p:cNvPr id="66" name="Graphic 65" descr="Target with solid fill">
            <a:extLst>
              <a:ext uri="{FF2B5EF4-FFF2-40B4-BE49-F238E27FC236}">
                <a16:creationId xmlns:a16="http://schemas.microsoft.com/office/drawing/2014/main" id="{79741A70-30F5-33ED-1969-659409618DFE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597276" y="6178032"/>
            <a:ext cx="636422" cy="63642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20E11-7289-A5C0-06B4-6A88CD226082}"/>
              </a:ext>
            </a:extLst>
          </p:cNvPr>
          <p:cNvSpPr txBox="1">
            <a:spLocks/>
          </p:cNvSpPr>
          <p:nvPr/>
        </p:nvSpPr>
        <p:spPr>
          <a:xfrm>
            <a:off x="2054352" y="358727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2000"/>
            </a:pPr>
            <a:r>
              <a:rPr lang="en-US" sz="3400" dirty="0">
                <a:latin typeface="Aptos Narrow" panose="020B0004020202020204" pitchFamily="34" charset="0"/>
                <a:cs typeface="Times New Roman" panose="02020603050405020304" pitchFamily="18" charset="0"/>
              </a:rPr>
              <a:t> Plan the product and process.</a:t>
            </a:r>
          </a:p>
          <a:p>
            <a:pPr algn="l">
              <a:defRPr sz="2000"/>
            </a:pPr>
            <a:r>
              <a:rPr lang="en-US" sz="3400" dirty="0">
                <a:latin typeface="Aptos Narrow" panose="020B0004020202020204" pitchFamily="34" charset="0"/>
                <a:cs typeface="Times New Roman" panose="02020603050405020304" pitchFamily="18" charset="0"/>
              </a:rPr>
              <a:t>Arrange small-scale equipment and workspace.</a:t>
            </a:r>
          </a:p>
          <a:p>
            <a:pPr algn="l">
              <a:defRPr sz="2000"/>
            </a:pPr>
            <a:r>
              <a:rPr lang="en-US" sz="3400" dirty="0">
                <a:latin typeface="Aptos Narrow" panose="020B0004020202020204" pitchFamily="34" charset="0"/>
                <a:cs typeface="Times New Roman" panose="02020603050405020304" pitchFamily="18" charset="0"/>
              </a:rPr>
              <a:t>Obtain necessary licenses.</a:t>
            </a:r>
          </a:p>
          <a:p>
            <a:pPr algn="l">
              <a:defRPr sz="2000"/>
            </a:pPr>
            <a:r>
              <a:rPr lang="en-US" sz="3400" dirty="0">
                <a:latin typeface="Aptos Narrow" panose="020B0004020202020204" pitchFamily="34" charset="0"/>
                <a:cs typeface="Times New Roman" panose="02020603050405020304" pitchFamily="18" charset="0"/>
              </a:rPr>
              <a:t>Estimate total cost and fix competitive price.</a:t>
            </a:r>
          </a:p>
          <a:p>
            <a:pPr algn="l">
              <a:defRPr sz="2000"/>
            </a:pPr>
            <a:r>
              <a:rPr lang="en-US" sz="3400" dirty="0">
                <a:latin typeface="Aptos Narrow" panose="020B0004020202020204" pitchFamily="34" charset="0"/>
                <a:cs typeface="Times New Roman" panose="02020603050405020304" pitchFamily="18" charset="0"/>
              </a:rPr>
              <a:t>Focus on quality and customer trust.</a:t>
            </a:r>
          </a:p>
        </p:txBody>
      </p:sp>
      <p:sp>
        <p:nvSpPr>
          <p:cNvPr id="5" name="Rectangle: Single Corner Snipped 4">
            <a:extLst>
              <a:ext uri="{FF2B5EF4-FFF2-40B4-BE49-F238E27FC236}">
                <a16:creationId xmlns:a16="http://schemas.microsoft.com/office/drawing/2014/main" id="{C72E6689-7F5E-6EE3-9546-2A47EB128FB0}"/>
              </a:ext>
            </a:extLst>
          </p:cNvPr>
          <p:cNvSpPr/>
          <p:nvPr/>
        </p:nvSpPr>
        <p:spPr>
          <a:xfrm flipH="1">
            <a:off x="3328416" y="5444876"/>
            <a:ext cx="8759952" cy="1293709"/>
          </a:xfrm>
          <a:prstGeom prst="snip1Rect">
            <a:avLst/>
          </a:prstGeom>
          <a:ln>
            <a:solidFill>
              <a:schemeClr val="tx1"/>
            </a:solidFill>
          </a:ln>
          <a:effectLst>
            <a:glow rad="101600">
              <a:schemeClr val="tx1">
                <a:alpha val="60000"/>
              </a:schemeClr>
            </a:glo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: Single Corner Snipped 5">
            <a:extLst>
              <a:ext uri="{FF2B5EF4-FFF2-40B4-BE49-F238E27FC236}">
                <a16:creationId xmlns:a16="http://schemas.microsoft.com/office/drawing/2014/main" id="{F7000D18-A59B-29EF-3EDB-7DEF87EF3976}"/>
              </a:ext>
            </a:extLst>
          </p:cNvPr>
          <p:cNvSpPr/>
          <p:nvPr/>
        </p:nvSpPr>
        <p:spPr>
          <a:xfrm flipH="1">
            <a:off x="3396996" y="5495321"/>
            <a:ext cx="8622792" cy="1192817"/>
          </a:xfrm>
          <a:prstGeom prst="snip1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40B08B9-9119-48A7-5DEB-4D4F590E6BD8}"/>
              </a:ext>
            </a:extLst>
          </p:cNvPr>
          <p:cNvSpPr txBox="1">
            <a:spLocks/>
          </p:cNvSpPr>
          <p:nvPr/>
        </p:nvSpPr>
        <p:spPr>
          <a:xfrm>
            <a:off x="7610856" y="5353243"/>
            <a:ext cx="5513832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>
                <a:solidFill>
                  <a:srgbClr val="FF0000"/>
                </a:solidFill>
                <a:latin typeface="Bahnschrift Condensed" panose="020B0502040204020203" pitchFamily="34" charset="0"/>
              </a:rPr>
              <a:t>Summary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79D5A30-BB50-F1A4-82FE-DA5718DDA3DF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7932" y="3429000"/>
            <a:ext cx="1869186" cy="1869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4430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42</TotalTime>
  <Words>421</Words>
  <Application>Microsoft Office PowerPoint</Application>
  <PresentationFormat>Widescreen</PresentationFormat>
  <Paragraphs>63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Agency FB</vt:lpstr>
      <vt:lpstr>Aptos</vt:lpstr>
      <vt:lpstr>Aptos Display</vt:lpstr>
      <vt:lpstr>Aptos Narrow</vt:lpstr>
      <vt:lpstr>Arial</vt:lpstr>
      <vt:lpstr>Bahnschrift Condensed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Abijith 801</dc:creator>
  <cp:lastModifiedBy>Abijith 801</cp:lastModifiedBy>
  <cp:revision>2</cp:revision>
  <dcterms:created xsi:type="dcterms:W3CDTF">2026-01-12T07:07:46Z</dcterms:created>
  <dcterms:modified xsi:type="dcterms:W3CDTF">2026-02-01T09:41:10Z</dcterms:modified>
</cp:coreProperties>
</file>