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2" r:id="rId4"/>
    <p:sldId id="268" r:id="rId5"/>
    <p:sldId id="263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64C"/>
    <a:srgbClr val="5D9C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C3F113-D611-EE46-7538-985C340E5C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F91461-3BAD-3AC6-C3E5-7130723FC74C}"/>
              </a:ext>
            </a:extLst>
          </p:cNvPr>
          <p:cNvSpPr/>
          <p:nvPr/>
        </p:nvSpPr>
        <p:spPr>
          <a:xfrm>
            <a:off x="7882128" y="5440680"/>
            <a:ext cx="4206240" cy="1252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028A0-F790-FDD5-5F33-448CC85FF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5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3260-9CE4-3F11-1980-A1EAAEA7C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9ACAE0-CE6A-7C0D-6628-5302640E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18288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D94427-8796-2143-16D7-4BB68234CBAF}"/>
              </a:ext>
            </a:extLst>
          </p:cNvPr>
          <p:cNvSpPr txBox="1"/>
          <p:nvPr/>
        </p:nvSpPr>
        <p:spPr>
          <a:xfrm>
            <a:off x="1069848" y="786384"/>
            <a:ext cx="90891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27364C"/>
                </a:solidFill>
                <a:latin typeface="Bahnschrift Condensed" panose="020B0502040204020203" pitchFamily="34" charset="0"/>
              </a:rPr>
              <a:t>Long Tube Vertical Evaporator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4DD97-3451-3CC0-B510-4D21E9056FE6}"/>
              </a:ext>
            </a:extLst>
          </p:cNvPr>
          <p:cNvSpPr txBox="1"/>
          <p:nvPr/>
        </p:nvSpPr>
        <p:spPr>
          <a:xfrm>
            <a:off x="1389888" y="2130552"/>
            <a:ext cx="9985248" cy="226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 Long Tube Vertical Evaporator (LTVE) is a  natural circulation evaporator.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It is used to remove water from liquids by boiling to concentrate them.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It has long vertical tubes heated by steam from the outside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8202B-14B6-8078-DD16-C0ABA8342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41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0608-77A9-05FE-9418-7FF6CFC2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B9646F-4EF7-FB81-8847-5AAACCB4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578D14-6416-FCD4-21AB-A5B6A573447B}"/>
              </a:ext>
            </a:extLst>
          </p:cNvPr>
          <p:cNvSpPr txBox="1"/>
          <p:nvPr/>
        </p:nvSpPr>
        <p:spPr>
          <a:xfrm>
            <a:off x="1005840" y="649224"/>
            <a:ext cx="90891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27364C"/>
                </a:solidFill>
                <a:latin typeface="Bahnschrift Condensed" panose="020B0502040204020203" pitchFamily="34" charset="0"/>
              </a:rPr>
              <a:t>Working Principle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B14F2-3720-191D-B4D7-010532E95F6D}"/>
              </a:ext>
            </a:extLst>
          </p:cNvPr>
          <p:cNvSpPr txBox="1"/>
          <p:nvPr/>
        </p:nvSpPr>
        <p:spPr>
          <a:xfrm>
            <a:off x="1645920" y="2020610"/>
            <a:ext cx="9573768" cy="343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Natural circulation: liquid rises due to density difference as  It heats and boils.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Liquid enters at the bottom of tubes.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Steam outside the tubes transfers heat and causes boiling inside the tubes.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Vapor and liquid move upward to a vapor separator at the top.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Vapor exits and the concentrated liquid is withdrawn.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1FEF1C-4F43-2859-7DAA-025E709E6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0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9AF94-3C10-A6A1-D365-D66BDBC1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47A9B6-D74D-938B-F7BC-C1BFB0847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F9007D0-4F7F-5F13-291B-471E1E32C8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20144" y="675871"/>
            <a:ext cx="4180272" cy="52253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78AABE-598D-F18E-4AC8-04DF91FB6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6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2911-7828-EA67-2455-EE4C0974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FE42D6-AAA2-AA1B-ED87-4BE4095C7B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18288"/>
            <a:ext cx="12192000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181996-145D-9243-07A0-8760DB941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84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FF2DAF-2046-CB93-C74E-5F1765B66A47}"/>
              </a:ext>
            </a:extLst>
          </p:cNvPr>
          <p:cNvSpPr txBox="1"/>
          <p:nvPr/>
        </p:nvSpPr>
        <p:spPr>
          <a:xfrm>
            <a:off x="1024128" y="572223"/>
            <a:ext cx="9089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rgbClr val="27364C"/>
                </a:solidFill>
                <a:latin typeface="Bahnschrift Condensed" panose="020B0502040204020203" pitchFamily="34" charset="0"/>
              </a:rPr>
              <a:t>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97408-6D82-85F1-2748-BD8178C78CC0}"/>
              </a:ext>
            </a:extLst>
          </p:cNvPr>
          <p:cNvSpPr txBox="1"/>
          <p:nvPr/>
        </p:nvSpPr>
        <p:spPr>
          <a:xfrm>
            <a:off x="2395728" y="1499402"/>
            <a:ext cx="10341864" cy="412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 Milk and dairy products.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 Fruit juices and similar food liquids.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3. Sugar syrups and cane juice.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4. Foaming liquids and frothy solutions.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5. Corrosive solutions suitable for vertical tube design.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6. Large evaporation loads in chemical/industrial processes.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5F069-8FBC-DC2A-4EB9-0CFE0366D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8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D7F99-F9ED-26A3-F818-3EC65B0A8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FBE06A-3CD8-95FC-D66C-35D92463D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18288"/>
            <a:ext cx="12192000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D3D5BD-B7DE-BE72-161D-3EFA73DD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84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B5B886-0627-C933-481D-8FC1CFD6CD49}"/>
              </a:ext>
            </a:extLst>
          </p:cNvPr>
          <p:cNvSpPr txBox="1"/>
          <p:nvPr/>
        </p:nvSpPr>
        <p:spPr>
          <a:xfrm>
            <a:off x="1005840" y="649224"/>
            <a:ext cx="9089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rgbClr val="27364C"/>
                </a:solidFill>
                <a:latin typeface="Bahnschrift Condensed" panose="020B0502040204020203" pitchFamily="34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34D65-4436-0037-C34C-FA70262E2ACC}"/>
              </a:ext>
            </a:extLst>
          </p:cNvPr>
          <p:cNvSpPr txBox="1"/>
          <p:nvPr/>
        </p:nvSpPr>
        <p:spPr>
          <a:xfrm>
            <a:off x="2468880" y="1572554"/>
            <a:ext cx="10341864" cy="412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 heat transfer coefficient (good efficiency).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Low liquid holdup (short residence time).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Small floor space requirement.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Good for heat-sensitive liquids 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No pump needed (natural circulation).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Can handle foamy liquids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F34C1-9335-858C-D71A-0E1E314CD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0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4A95-A534-2DAA-DF5C-BA0957B2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C96AB3-98F2-E7D6-0315-A8B68A1F1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84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081F53-5D1A-5881-8834-3140C15B7822}"/>
              </a:ext>
            </a:extLst>
          </p:cNvPr>
          <p:cNvSpPr txBox="1"/>
          <p:nvPr/>
        </p:nvSpPr>
        <p:spPr>
          <a:xfrm>
            <a:off x="1005840" y="649224"/>
            <a:ext cx="9089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27364C"/>
                </a:solidFill>
                <a:latin typeface="Bahnschrift Condensed" panose="020B0502040204020203" pitchFamily="34" charset="0"/>
              </a:rPr>
              <a:t>Disadvantages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25D71-DCC2-BAEF-0429-B6BD4CF79255}"/>
              </a:ext>
            </a:extLst>
          </p:cNvPr>
          <p:cNvSpPr txBox="1"/>
          <p:nvPr/>
        </p:nvSpPr>
        <p:spPr>
          <a:xfrm>
            <a:off x="2395728" y="1712921"/>
            <a:ext cx="10341864" cy="343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Requires high head-room (tall equipment).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Not suitable for very viscous liquids.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Scaling/liquid deposits inside tubes are hard to clean.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Sometimes needs recirculation for better performance.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Hydrostatic head may raise product temperature.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3671DE-7F49-B1E3-F60B-3E427FD97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0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528A-FD0E-694A-D05B-7B149CE6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7678C7-4EF8-D1C0-2043-A9C31AC5E0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DCED05-E2FC-EE82-4763-E154B141C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804" y="4557576"/>
            <a:ext cx="2300424" cy="230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0959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84</TotalTime>
  <Words>236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Rounded MT Bold</vt:lpstr>
      <vt:lpstr>Bahnschrift Condensed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Abijith 801</dc:creator>
  <cp:lastModifiedBy>Abijith 801</cp:lastModifiedBy>
  <cp:revision>8</cp:revision>
  <dcterms:created xsi:type="dcterms:W3CDTF">2026-01-29T11:53:14Z</dcterms:created>
  <dcterms:modified xsi:type="dcterms:W3CDTF">2026-02-01T09:44:32Z</dcterms:modified>
</cp:coreProperties>
</file>