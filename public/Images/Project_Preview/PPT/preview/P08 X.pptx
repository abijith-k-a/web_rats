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C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E7271-C931-4356-8C31-4E3C7676946C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BF524-87F8-4199-B364-0B3031BD8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809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02168-6967-8547-0117-8C0DD271B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B946E-D357-9CB0-A75B-F3CE0A405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2363F-7AAC-87F1-0169-21717791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66C6-468F-4F38-ADCD-DCB37BEB70A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E2A01-2AFB-9A5F-69B6-3CA7638D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7B222-B177-8D50-DA8F-66361B06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663F-E131-4CCC-8EA2-383B70C08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974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697B-9300-6EFF-3FFE-C348ACDC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4CA9C-CDB2-10D7-DF4A-5F2226FEE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63BE0-26A6-16ED-28E6-C1029855E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66C6-468F-4F38-ADCD-DCB37BEB70A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A71CE-83A1-D018-95E6-D318B5013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40F9A-B862-AF0D-FFC9-794D6E8A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663F-E131-4CCC-8EA2-383B70C08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93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588E-8A5E-58B3-ED40-5B70DF06B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C2F91-C5B3-3BBF-17D0-155A5AB7A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5FCB9-D915-EDA8-08A2-9F9B336E1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66C6-468F-4F38-ADCD-DCB37BEB70A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15868-BAC5-F544-E7B2-EFEAD1D4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2F64C-BCFF-30BE-E7B0-F791D64C8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663F-E131-4CCC-8EA2-383B70C08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417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B1C32-4E77-E944-B798-6E184579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269FF-1741-62C4-E44C-4463027716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EDAFD-E103-B359-884B-ACF1B6BA3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87A0F-172F-FF59-D639-F8960368C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66C6-468F-4F38-ADCD-DCB37BEB70A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78ACD-121B-08A6-443D-FAE786785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3F222-DA7E-226A-31AA-172543531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663F-E131-4CCC-8EA2-383B70C08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375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44370-8D68-74E2-7CC0-26DD6F185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A9CE5-CB58-E62E-F196-431E36182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75F89-ACA4-C9DF-09C7-17A662DC0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3FBB5A-ACB4-21D1-9A11-D16D6DB27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C418F-BE6D-6B0B-DE4C-036185B491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E32069-2AF6-343D-5763-92513305F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66C6-468F-4F38-ADCD-DCB37BEB70A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8D13FC-8E2D-34DE-D985-4354A122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20F7D-CB42-F046-5085-04CC8042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663F-E131-4CCC-8EA2-383B70C08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27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87A94-A967-645F-1D0A-F11585AC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B80DF-77C0-5067-4B1B-224876003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66C6-468F-4F38-ADCD-DCB37BEB70A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168CC-F737-1129-70F5-8A8EFA88E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2FC492-3068-F727-13B7-FCE8D11F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663F-E131-4CCC-8EA2-383B70C08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857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DC144-55AE-77D0-8998-915485956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66C6-468F-4F38-ADCD-DCB37BEB70A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55F7CD-D717-814F-F9DD-5DE185362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3DE90-5B04-5F4C-596F-D4756CB2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663F-E131-4CCC-8EA2-383B70C08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48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A84F2-7E2F-CA3C-E54B-D1C0CEB0F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FC41B-5BC3-172E-7350-CFD41016F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079E6-1505-6393-74BC-92F357605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7445C-926C-39CA-03A5-AA283ACC0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66C6-468F-4F38-ADCD-DCB37BEB70A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5A1A0-96D9-B901-35F8-AE101F097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D063D-95B3-539F-8975-F7C2CFE14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663F-E131-4CCC-8EA2-383B70C08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021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339A-0654-56DB-9EC7-D2F848A28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DC741D-F2A8-215B-95A7-FFFC4F21D0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AB0E1-F1A2-A823-8218-D74011C5A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2124C-178C-F73A-19E0-4F2E2CE1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66C6-468F-4F38-ADCD-DCB37BEB70A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07B7E-9884-B0DC-DF60-381D2A966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06918-882D-82F4-EA3D-B96A6DFEE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663F-E131-4CCC-8EA2-383B70C08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303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3CF8-4712-53EE-FFD4-71BCE9DB6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7AB856-6540-8B4D-DD31-3776DBFC2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BD45B-CF75-7222-A6A7-9AC16EA85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66C6-468F-4F38-ADCD-DCB37BEB70A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8051E-1988-ED6E-C2E5-25EB1E19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D7E0A-97F9-F77A-D29A-E83DD580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663F-E131-4CCC-8EA2-383B70C08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592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72F35-B910-8D79-5A4E-E7A0FE377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C538C-ED7D-226C-3358-9AB10B1858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37D7A-16F7-BF79-1D37-720A5B971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D66C6-468F-4F38-ADCD-DCB37BEB70A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23DD3-2EB1-9355-97ED-C67E00F7F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EE65E-69B3-3D58-586B-7B7E0192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5663F-E131-4CCC-8EA2-383B70C08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518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A8CF53-76D1-7432-0874-CCA10220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1E2D5-C317-1AC5-369B-2E4DCE095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074C7-FD5F-F1BE-948C-773182A0B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3D66C6-468F-4F38-ADCD-DCB37BEB70A4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DE2D9-71C4-E116-3F92-91F937FDF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56434-5833-3AAC-6EF2-6715F25E9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5663F-E131-4CCC-8EA2-383B70C088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651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7.png"/><Relationship Id="rId3" Type="http://schemas.openxmlformats.org/officeDocument/2006/relationships/image" Target="../media/image9.svg"/><Relationship Id="rId7" Type="http://schemas.openxmlformats.org/officeDocument/2006/relationships/image" Target="../media/image23.svg"/><Relationship Id="rId12" Type="http://schemas.openxmlformats.org/officeDocument/2006/relationships/image" Target="../media/image26.png"/><Relationship Id="rId2" Type="http://schemas.openxmlformats.org/officeDocument/2006/relationships/image" Target="../media/image8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5.svg"/><Relationship Id="rId5" Type="http://schemas.openxmlformats.org/officeDocument/2006/relationships/image" Target="../media/image11.sv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3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32.png"/><Relationship Id="rId2" Type="http://schemas.openxmlformats.org/officeDocument/2006/relationships/image" Target="../media/image8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5.svg"/><Relationship Id="rId5" Type="http://schemas.openxmlformats.org/officeDocument/2006/relationships/image" Target="../media/image11.svg"/><Relationship Id="rId15" Type="http://schemas.openxmlformats.org/officeDocument/2006/relationships/image" Target="../media/image35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31.svg"/><Relationship Id="rId14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9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38.png"/><Relationship Id="rId2" Type="http://schemas.openxmlformats.org/officeDocument/2006/relationships/image" Target="../media/image8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5.svg"/><Relationship Id="rId5" Type="http://schemas.openxmlformats.org/officeDocument/2006/relationships/image" Target="../media/image37.svg"/><Relationship Id="rId15" Type="http://schemas.openxmlformats.org/officeDocument/2006/relationships/image" Target="../media/image41.png"/><Relationship Id="rId10" Type="http://schemas.openxmlformats.org/officeDocument/2006/relationships/image" Target="../media/image24.png"/><Relationship Id="rId4" Type="http://schemas.openxmlformats.org/officeDocument/2006/relationships/image" Target="../media/image36.png"/><Relationship Id="rId9" Type="http://schemas.openxmlformats.org/officeDocument/2006/relationships/image" Target="../media/image15.svg"/><Relationship Id="rId1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45.jpeg"/><Relationship Id="rId3" Type="http://schemas.openxmlformats.org/officeDocument/2006/relationships/image" Target="../media/image43.svg"/><Relationship Id="rId7" Type="http://schemas.openxmlformats.org/officeDocument/2006/relationships/image" Target="../media/image13.svg"/><Relationship Id="rId12" Type="http://schemas.openxmlformats.org/officeDocument/2006/relationships/image" Target="../media/image44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5.svg"/><Relationship Id="rId5" Type="http://schemas.openxmlformats.org/officeDocument/2006/relationships/image" Target="../media/image11.svg"/><Relationship Id="rId15" Type="http://schemas.openxmlformats.org/officeDocument/2006/relationships/image" Target="../media/image7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4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4.jpeg"/><Relationship Id="rId3" Type="http://schemas.openxmlformats.org/officeDocument/2006/relationships/image" Target="../media/image43.svg"/><Relationship Id="rId7" Type="http://schemas.openxmlformats.org/officeDocument/2006/relationships/image" Target="../media/image13.svg"/><Relationship Id="rId12" Type="http://schemas.openxmlformats.org/officeDocument/2006/relationships/image" Target="../media/image47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5.svg"/><Relationship Id="rId5" Type="http://schemas.openxmlformats.org/officeDocument/2006/relationships/image" Target="../media/image11.svg"/><Relationship Id="rId15" Type="http://schemas.openxmlformats.org/officeDocument/2006/relationships/image" Target="../media/image7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48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.jpeg"/><Relationship Id="rId3" Type="http://schemas.openxmlformats.org/officeDocument/2006/relationships/image" Target="../media/image43.svg"/><Relationship Id="rId7" Type="http://schemas.openxmlformats.org/officeDocument/2006/relationships/image" Target="../media/image13.svg"/><Relationship Id="rId12" Type="http://schemas.openxmlformats.org/officeDocument/2006/relationships/image" Target="../media/image2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5.svg"/><Relationship Id="rId5" Type="http://schemas.openxmlformats.org/officeDocument/2006/relationships/image" Target="../media/image11.svg"/><Relationship Id="rId15" Type="http://schemas.openxmlformats.org/officeDocument/2006/relationships/image" Target="../media/image7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4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50.jpeg"/><Relationship Id="rId3" Type="http://schemas.openxmlformats.org/officeDocument/2006/relationships/image" Target="../media/image43.svg"/><Relationship Id="rId7" Type="http://schemas.openxmlformats.org/officeDocument/2006/relationships/image" Target="../media/image13.svg"/><Relationship Id="rId12" Type="http://schemas.openxmlformats.org/officeDocument/2006/relationships/image" Target="../media/image1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5.svg"/><Relationship Id="rId5" Type="http://schemas.openxmlformats.org/officeDocument/2006/relationships/image" Target="../media/image11.svg"/><Relationship Id="rId15" Type="http://schemas.openxmlformats.org/officeDocument/2006/relationships/image" Target="../media/image7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5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DC095A2-1689-AD7E-10CE-8269B94D0F1D}"/>
              </a:ext>
            </a:extLst>
          </p:cNvPr>
          <p:cNvGrpSpPr/>
          <p:nvPr/>
        </p:nvGrpSpPr>
        <p:grpSpPr>
          <a:xfrm>
            <a:off x="0" y="-502920"/>
            <a:ext cx="8510016" cy="7585949"/>
            <a:chOff x="-137160" y="-363974"/>
            <a:chExt cx="8510016" cy="758594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FB25CB-E256-479C-C221-DD2D003A794B}"/>
                </a:ext>
              </a:extLst>
            </p:cNvPr>
            <p:cNvSpPr/>
            <p:nvPr/>
          </p:nvSpPr>
          <p:spPr>
            <a:xfrm>
              <a:off x="-137160" y="-64008"/>
              <a:ext cx="5486400" cy="7086600"/>
            </a:xfrm>
            <a:prstGeom prst="rect">
              <a:avLst/>
            </a:prstGeom>
            <a:solidFill>
              <a:srgbClr val="EAC93C"/>
            </a:solidFill>
            <a:ln>
              <a:solidFill>
                <a:srgbClr val="EAC9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31C1039-7F69-7469-FC71-D4555212E4AA}"/>
                </a:ext>
              </a:extLst>
            </p:cNvPr>
            <p:cNvSpPr/>
            <p:nvPr/>
          </p:nvSpPr>
          <p:spPr>
            <a:xfrm>
              <a:off x="4014216" y="-363974"/>
              <a:ext cx="4032504" cy="2706624"/>
            </a:xfrm>
            <a:prstGeom prst="ellipse">
              <a:avLst/>
            </a:prstGeom>
            <a:solidFill>
              <a:srgbClr val="EAC93C"/>
            </a:solidFill>
            <a:ln>
              <a:solidFill>
                <a:srgbClr val="EAC9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08F6CAF-3CA9-F723-D7CE-F236F7773DA7}"/>
                </a:ext>
              </a:extLst>
            </p:cNvPr>
            <p:cNvSpPr/>
            <p:nvPr/>
          </p:nvSpPr>
          <p:spPr>
            <a:xfrm>
              <a:off x="4340352" y="4515351"/>
              <a:ext cx="4032504" cy="2706624"/>
            </a:xfrm>
            <a:prstGeom prst="ellipse">
              <a:avLst/>
            </a:prstGeom>
            <a:solidFill>
              <a:srgbClr val="EAC93C"/>
            </a:solidFill>
            <a:ln>
              <a:solidFill>
                <a:srgbClr val="EAC9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6368A4C-FA59-6696-7724-115D31FAA2F1}"/>
                </a:ext>
              </a:extLst>
            </p:cNvPr>
            <p:cNvSpPr/>
            <p:nvPr/>
          </p:nvSpPr>
          <p:spPr>
            <a:xfrm rot="6403101">
              <a:off x="3963924" y="1682496"/>
              <a:ext cx="4032504" cy="2706624"/>
            </a:xfrm>
            <a:prstGeom prst="ellipse">
              <a:avLst/>
            </a:prstGeom>
            <a:solidFill>
              <a:srgbClr val="EAC93C"/>
            </a:solidFill>
            <a:ln>
              <a:solidFill>
                <a:srgbClr val="EAC9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7775E210-4328-0B07-05F3-EE4595103B20}"/>
                </a:ext>
              </a:extLst>
            </p:cNvPr>
            <p:cNvSpPr/>
            <p:nvPr/>
          </p:nvSpPr>
          <p:spPr>
            <a:xfrm>
              <a:off x="5010912" y="118872"/>
              <a:ext cx="2505456" cy="1764792"/>
            </a:xfrm>
            <a:prstGeom prst="arc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216BAA3A-96CF-972B-2241-367E234EDFB9}"/>
                </a:ext>
              </a:extLst>
            </p:cNvPr>
            <p:cNvSpPr/>
            <p:nvPr/>
          </p:nvSpPr>
          <p:spPr>
            <a:xfrm>
              <a:off x="7214616" y="5356138"/>
              <a:ext cx="832104" cy="1298448"/>
            </a:xfrm>
            <a:prstGeom prst="arc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62FE4C4-3389-FFF6-E86D-85949F1F18F0}"/>
              </a:ext>
            </a:extLst>
          </p:cNvPr>
          <p:cNvSpPr txBox="1"/>
          <p:nvPr/>
        </p:nvSpPr>
        <p:spPr>
          <a:xfrm>
            <a:off x="125474" y="938262"/>
            <a:ext cx="645093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500" dirty="0">
                <a:solidFill>
                  <a:schemeClr val="bg1"/>
                </a:solidFill>
                <a:latin typeface="BankGothic Md BT" panose="020B0807020203060204" pitchFamily="34" charset="0"/>
              </a:rPr>
              <a:t>gluten</a:t>
            </a:r>
            <a:r>
              <a:rPr lang="en-IN" sz="11500" dirty="0">
                <a:solidFill>
                  <a:srgbClr val="EAC93C"/>
                </a:solidFill>
                <a:latin typeface="BankGothic Md BT" panose="020B0807020203060204" pitchFamily="34" charset="0"/>
              </a:rPr>
              <a:t>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0F58F98-E384-1EFB-3FCF-10DE16DFAD34}"/>
              </a:ext>
            </a:extLst>
          </p:cNvPr>
          <p:cNvGrpSpPr/>
          <p:nvPr/>
        </p:nvGrpSpPr>
        <p:grpSpPr>
          <a:xfrm>
            <a:off x="949452" y="3073060"/>
            <a:ext cx="4032504" cy="2923618"/>
            <a:chOff x="8413770" y="1635260"/>
            <a:chExt cx="3778230" cy="3062031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68EB210-C640-2217-B4F2-6166A1372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88597" y="1635260"/>
              <a:ext cx="1562026" cy="1177132"/>
            </a:xfrm>
            <a:prstGeom prst="diamond">
              <a:avLst/>
            </a:prstGeom>
            <a:ln w="28575">
              <a:solidFill>
                <a:schemeClr val="bg1"/>
              </a:solidFill>
            </a:ln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0DEB57D-D5AC-141D-F4E5-358191A3D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1688" y="3084247"/>
              <a:ext cx="1907895" cy="1613044"/>
            </a:xfrm>
            <a:prstGeom prst="diamond">
              <a:avLst/>
            </a:prstGeom>
            <a:ln w="28575">
              <a:solidFill>
                <a:schemeClr val="bg1"/>
              </a:solidFill>
            </a:ln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4BC143F6-2CB5-DB14-BF8D-DCEBAF2D4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9536" y="2335624"/>
              <a:ext cx="1682464" cy="1455345"/>
            </a:xfrm>
            <a:prstGeom prst="diamond">
              <a:avLst/>
            </a:prstGeom>
            <a:ln w="28575">
              <a:solidFill>
                <a:schemeClr val="bg1"/>
              </a:solidFill>
            </a:ln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3905B11-D68E-0315-584E-B5F0CA2C0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3770" y="2335624"/>
              <a:ext cx="1615827" cy="1292158"/>
            </a:xfrm>
            <a:prstGeom prst="diamond">
              <a:avLst/>
            </a:prstGeom>
            <a:ln w="28575">
              <a:solidFill>
                <a:schemeClr val="bg1"/>
              </a:solidFill>
            </a:ln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C86FBBF-60BA-2C4C-9F65-D101CA0B038C}"/>
              </a:ext>
            </a:extLst>
          </p:cNvPr>
          <p:cNvGrpSpPr/>
          <p:nvPr/>
        </p:nvGrpSpPr>
        <p:grpSpPr>
          <a:xfrm>
            <a:off x="8354614" y="4358639"/>
            <a:ext cx="1122569" cy="1077218"/>
            <a:chOff x="9857232" y="3083864"/>
            <a:chExt cx="1122569" cy="1077218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21B9A3D-2FE5-15DA-0446-20269B8937D1}"/>
                </a:ext>
              </a:extLst>
            </p:cNvPr>
            <p:cNvGrpSpPr/>
            <p:nvPr/>
          </p:nvGrpSpPr>
          <p:grpSpPr>
            <a:xfrm>
              <a:off x="9857232" y="3083864"/>
              <a:ext cx="1122569" cy="1077218"/>
              <a:chOff x="9573768" y="1982015"/>
              <a:chExt cx="1122569" cy="1657297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450E292-301F-A0F2-71EE-DC18F6D72B2B}"/>
                  </a:ext>
                </a:extLst>
              </p:cNvPr>
              <p:cNvSpPr/>
              <p:nvPr/>
            </p:nvSpPr>
            <p:spPr>
              <a:xfrm>
                <a:off x="9710928" y="3073060"/>
                <a:ext cx="393192" cy="566252"/>
              </a:xfrm>
              <a:prstGeom prst="ellipse">
                <a:avLst/>
              </a:prstGeom>
              <a:solidFill>
                <a:srgbClr val="EAC93C"/>
              </a:solidFill>
              <a:ln>
                <a:solidFill>
                  <a:srgbClr val="EAC9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3C6889A-DA63-A15C-1C6D-122A5AE6D779}"/>
                  </a:ext>
                </a:extLst>
              </p:cNvPr>
              <p:cNvSpPr/>
              <p:nvPr/>
            </p:nvSpPr>
            <p:spPr>
              <a:xfrm>
                <a:off x="10113264" y="3068769"/>
                <a:ext cx="393192" cy="566252"/>
              </a:xfrm>
              <a:prstGeom prst="ellipse">
                <a:avLst/>
              </a:prstGeom>
              <a:solidFill>
                <a:srgbClr val="EAC93C"/>
              </a:solidFill>
              <a:ln>
                <a:solidFill>
                  <a:srgbClr val="EAC9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C2ACF57-6CCA-FCE7-473E-756292FBCA6F}"/>
                  </a:ext>
                </a:extLst>
              </p:cNvPr>
              <p:cNvSpPr/>
              <p:nvPr/>
            </p:nvSpPr>
            <p:spPr>
              <a:xfrm>
                <a:off x="9763506" y="2534976"/>
                <a:ext cx="699516" cy="804672"/>
              </a:xfrm>
              <a:prstGeom prst="ellipse">
                <a:avLst/>
              </a:prstGeom>
              <a:solidFill>
                <a:srgbClr val="EAC93C"/>
              </a:solidFill>
              <a:ln>
                <a:solidFill>
                  <a:srgbClr val="EAC9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150D9F13-6493-2D4A-A80F-FB76318208E6}"/>
                  </a:ext>
                </a:extLst>
              </p:cNvPr>
              <p:cNvSpPr/>
              <p:nvPr/>
            </p:nvSpPr>
            <p:spPr>
              <a:xfrm>
                <a:off x="9710928" y="2108282"/>
                <a:ext cx="838803" cy="566252"/>
              </a:xfrm>
              <a:prstGeom prst="ellipse">
                <a:avLst/>
              </a:prstGeom>
              <a:solidFill>
                <a:srgbClr val="EAC93C"/>
              </a:solidFill>
              <a:ln>
                <a:solidFill>
                  <a:srgbClr val="EAC9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163A7D2-3D96-9304-7425-9D03D659D9F0}"/>
                  </a:ext>
                </a:extLst>
              </p:cNvPr>
              <p:cNvSpPr/>
              <p:nvPr/>
            </p:nvSpPr>
            <p:spPr>
              <a:xfrm>
                <a:off x="9573768" y="2002536"/>
                <a:ext cx="530352" cy="273817"/>
              </a:xfrm>
              <a:prstGeom prst="ellipse">
                <a:avLst/>
              </a:prstGeom>
              <a:solidFill>
                <a:srgbClr val="EAC93C"/>
              </a:solidFill>
              <a:ln>
                <a:solidFill>
                  <a:srgbClr val="EAC9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4F0090E-4794-6340-691F-85DD87969D63}"/>
                  </a:ext>
                </a:extLst>
              </p:cNvPr>
              <p:cNvSpPr/>
              <p:nvPr/>
            </p:nvSpPr>
            <p:spPr>
              <a:xfrm>
                <a:off x="10165985" y="1982015"/>
                <a:ext cx="530352" cy="273817"/>
              </a:xfrm>
              <a:prstGeom prst="ellipse">
                <a:avLst/>
              </a:prstGeom>
              <a:solidFill>
                <a:srgbClr val="EAC93C"/>
              </a:solidFill>
              <a:ln>
                <a:solidFill>
                  <a:srgbClr val="EAC9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DFB7E2B-BD88-02AE-667A-857AF78E4150}"/>
                </a:ext>
              </a:extLst>
            </p:cNvPr>
            <p:cNvGrpSpPr/>
            <p:nvPr/>
          </p:nvGrpSpPr>
          <p:grpSpPr>
            <a:xfrm>
              <a:off x="9879473" y="3123482"/>
              <a:ext cx="1100328" cy="969569"/>
              <a:chOff x="9573768" y="1982015"/>
              <a:chExt cx="1122569" cy="1657297"/>
            </a:xfrm>
            <a:solidFill>
              <a:schemeClr val="bg1"/>
            </a:solidFill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06307EA-7B86-A3F1-8983-8626B77AE2E1}"/>
                  </a:ext>
                </a:extLst>
              </p:cNvPr>
              <p:cNvSpPr/>
              <p:nvPr/>
            </p:nvSpPr>
            <p:spPr>
              <a:xfrm>
                <a:off x="9710928" y="3073060"/>
                <a:ext cx="393192" cy="566252"/>
              </a:xfrm>
              <a:prstGeom prst="ellipse">
                <a:avLst/>
              </a:prstGeom>
              <a:grpFill/>
              <a:ln>
                <a:solidFill>
                  <a:srgbClr val="EAC9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1AC893F-46D4-7C7B-309B-1437BAFE5A86}"/>
                  </a:ext>
                </a:extLst>
              </p:cNvPr>
              <p:cNvSpPr/>
              <p:nvPr/>
            </p:nvSpPr>
            <p:spPr>
              <a:xfrm>
                <a:off x="10113264" y="3068769"/>
                <a:ext cx="393192" cy="566252"/>
              </a:xfrm>
              <a:prstGeom prst="ellipse">
                <a:avLst/>
              </a:prstGeom>
              <a:grpFill/>
              <a:ln>
                <a:solidFill>
                  <a:srgbClr val="EAC9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BF7F205C-6C00-EA56-2A1F-C64415BEDC45}"/>
                  </a:ext>
                </a:extLst>
              </p:cNvPr>
              <p:cNvSpPr/>
              <p:nvPr/>
            </p:nvSpPr>
            <p:spPr>
              <a:xfrm>
                <a:off x="9763506" y="2534976"/>
                <a:ext cx="699516" cy="804672"/>
              </a:xfrm>
              <a:prstGeom prst="ellipse">
                <a:avLst/>
              </a:prstGeom>
              <a:grpFill/>
              <a:ln>
                <a:solidFill>
                  <a:srgbClr val="EAC9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B2E1FB2-45A3-3412-462F-3FCCE5EFBBBB}"/>
                  </a:ext>
                </a:extLst>
              </p:cNvPr>
              <p:cNvSpPr/>
              <p:nvPr/>
            </p:nvSpPr>
            <p:spPr>
              <a:xfrm>
                <a:off x="9710928" y="2108282"/>
                <a:ext cx="838803" cy="566252"/>
              </a:xfrm>
              <a:prstGeom prst="ellipse">
                <a:avLst/>
              </a:prstGeom>
              <a:grpFill/>
              <a:ln>
                <a:solidFill>
                  <a:srgbClr val="EAC9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956ADC0F-E06F-8C9A-B6F9-3964E643A9A1}"/>
                  </a:ext>
                </a:extLst>
              </p:cNvPr>
              <p:cNvSpPr/>
              <p:nvPr/>
            </p:nvSpPr>
            <p:spPr>
              <a:xfrm>
                <a:off x="9573768" y="2002536"/>
                <a:ext cx="530352" cy="273817"/>
              </a:xfrm>
              <a:prstGeom prst="ellipse">
                <a:avLst/>
              </a:prstGeom>
              <a:grpFill/>
              <a:ln>
                <a:solidFill>
                  <a:srgbClr val="EAC9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21C7454C-FCAC-9970-C46B-F2F6D01B2DDC}"/>
                  </a:ext>
                </a:extLst>
              </p:cNvPr>
              <p:cNvSpPr/>
              <p:nvPr/>
            </p:nvSpPr>
            <p:spPr>
              <a:xfrm>
                <a:off x="10165985" y="1982015"/>
                <a:ext cx="530352" cy="273817"/>
              </a:xfrm>
              <a:prstGeom prst="ellipse">
                <a:avLst/>
              </a:prstGeom>
              <a:grpFill/>
              <a:ln>
                <a:solidFill>
                  <a:srgbClr val="EAC93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48" name="Arc 47">
            <a:extLst>
              <a:ext uri="{FF2B5EF4-FFF2-40B4-BE49-F238E27FC236}">
                <a16:creationId xmlns:a16="http://schemas.microsoft.com/office/drawing/2014/main" id="{D3A1FB69-7DBF-94EB-8F34-48E0C85F610B}"/>
              </a:ext>
            </a:extLst>
          </p:cNvPr>
          <p:cNvSpPr/>
          <p:nvPr/>
        </p:nvSpPr>
        <p:spPr>
          <a:xfrm rot="15557972">
            <a:off x="8121994" y="3431837"/>
            <a:ext cx="1114016" cy="1301094"/>
          </a:xfrm>
          <a:prstGeom prst="arc">
            <a:avLst/>
          </a:prstGeom>
          <a:ln>
            <a:solidFill>
              <a:srgbClr val="EAC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5C5F5817-40AE-4C10-97FB-7978210C3219}"/>
              </a:ext>
            </a:extLst>
          </p:cNvPr>
          <p:cNvSpPr/>
          <p:nvPr/>
        </p:nvSpPr>
        <p:spPr>
          <a:xfrm rot="15557972">
            <a:off x="8268945" y="3546435"/>
            <a:ext cx="1114016" cy="1301094"/>
          </a:xfrm>
          <a:prstGeom prst="arc">
            <a:avLst/>
          </a:prstGeom>
          <a:ln>
            <a:solidFill>
              <a:srgbClr val="EAC9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74" name="Picture 2" descr="Peppermint">
            <a:extLst>
              <a:ext uri="{FF2B5EF4-FFF2-40B4-BE49-F238E27FC236}">
                <a16:creationId xmlns:a16="http://schemas.microsoft.com/office/drawing/2014/main" id="{9FD37B84-C03A-27DC-8315-F071BD290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20510"/>
            <a:ext cx="758952" cy="75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urrant">
            <a:extLst>
              <a:ext uri="{FF2B5EF4-FFF2-40B4-BE49-F238E27FC236}">
                <a16:creationId xmlns:a16="http://schemas.microsoft.com/office/drawing/2014/main" id="{363E1A88-BBE6-337E-06CE-5A31E510F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655" y="2189296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869E3B8-86FA-86D5-3DBD-40273803AD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554" y="-10691"/>
            <a:ext cx="2079544" cy="207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2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CAC5E6-629C-AB92-1589-6AA1F80BD585}"/>
              </a:ext>
            </a:extLst>
          </p:cNvPr>
          <p:cNvSpPr/>
          <p:nvPr/>
        </p:nvSpPr>
        <p:spPr>
          <a:xfrm>
            <a:off x="0" y="0"/>
            <a:ext cx="1453896" cy="6858000"/>
          </a:xfrm>
          <a:prstGeom prst="rect">
            <a:avLst/>
          </a:prstGeom>
          <a:solidFill>
            <a:srgbClr val="EAC93C"/>
          </a:solidFill>
          <a:ln>
            <a:solidFill>
              <a:srgbClr val="EAC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6686E6B-2668-2200-975D-5367AACB7B39}"/>
              </a:ext>
            </a:extLst>
          </p:cNvPr>
          <p:cNvSpPr/>
          <p:nvPr/>
        </p:nvSpPr>
        <p:spPr>
          <a:xfrm>
            <a:off x="224028" y="237744"/>
            <a:ext cx="1005840" cy="694944"/>
          </a:xfrm>
          <a:prstGeom prst="ellipse">
            <a:avLst/>
          </a:prstGeom>
          <a:solidFill>
            <a:srgbClr val="EAC9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FBAC5F-B2BB-29FD-762A-521ABC45E6A7}"/>
              </a:ext>
            </a:extLst>
          </p:cNvPr>
          <p:cNvSpPr/>
          <p:nvPr/>
        </p:nvSpPr>
        <p:spPr>
          <a:xfrm>
            <a:off x="224028" y="143256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F54FC6-D67E-65E4-1933-FA7246E6AB75}"/>
              </a:ext>
            </a:extLst>
          </p:cNvPr>
          <p:cNvSpPr/>
          <p:nvPr/>
        </p:nvSpPr>
        <p:spPr>
          <a:xfrm>
            <a:off x="224028" y="277368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393E150-4CD3-90CC-2018-70DF577D19DB}"/>
              </a:ext>
            </a:extLst>
          </p:cNvPr>
          <p:cNvSpPr/>
          <p:nvPr/>
        </p:nvSpPr>
        <p:spPr>
          <a:xfrm>
            <a:off x="224028" y="411480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3D22C3-BB0C-0F96-849A-8A28B5B7A6B5}"/>
              </a:ext>
            </a:extLst>
          </p:cNvPr>
          <p:cNvSpPr/>
          <p:nvPr/>
        </p:nvSpPr>
        <p:spPr>
          <a:xfrm>
            <a:off x="224028" y="5629656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Apple with solid fill">
            <a:extLst>
              <a:ext uri="{FF2B5EF4-FFF2-40B4-BE49-F238E27FC236}">
                <a16:creationId xmlns:a16="http://schemas.microsoft.com/office/drawing/2014/main" id="{050E83D5-D2B6-F9C5-AA31-9EBD17AED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136" y="5721744"/>
            <a:ext cx="510768" cy="510768"/>
          </a:xfrm>
          <a:prstGeom prst="rect">
            <a:avLst/>
          </a:prstGeom>
        </p:spPr>
      </p:pic>
      <p:pic>
        <p:nvPicPr>
          <p:cNvPr id="13" name="Graphic 12" descr="Atom with solid fill">
            <a:extLst>
              <a:ext uri="{FF2B5EF4-FFF2-40B4-BE49-F238E27FC236}">
                <a16:creationId xmlns:a16="http://schemas.microsoft.com/office/drawing/2014/main" id="{CF366058-708A-97DB-5D65-1503475710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64" y="4206888"/>
            <a:ext cx="510768" cy="510768"/>
          </a:xfrm>
          <a:prstGeom prst="rect">
            <a:avLst/>
          </a:prstGeom>
        </p:spPr>
      </p:pic>
      <p:pic>
        <p:nvPicPr>
          <p:cNvPr id="15" name="Graphic 14" descr="Bar graph with upward trend with solid fill">
            <a:extLst>
              <a:ext uri="{FF2B5EF4-FFF2-40B4-BE49-F238E27FC236}">
                <a16:creationId xmlns:a16="http://schemas.microsoft.com/office/drawing/2014/main" id="{D56AED2E-2B77-433E-01B0-7EF691CE02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564" y="1597572"/>
            <a:ext cx="510768" cy="510768"/>
          </a:xfrm>
          <a:prstGeom prst="rect">
            <a:avLst/>
          </a:prstGeom>
        </p:spPr>
      </p:pic>
      <p:pic>
        <p:nvPicPr>
          <p:cNvPr id="17" name="Graphic 16" descr="Beaker with solid fill">
            <a:extLst>
              <a:ext uri="{FF2B5EF4-FFF2-40B4-BE49-F238E27FC236}">
                <a16:creationId xmlns:a16="http://schemas.microsoft.com/office/drawing/2014/main" id="{5F36B633-2BC6-58A1-A99F-5F6F048A70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564" y="2865768"/>
            <a:ext cx="510768" cy="510768"/>
          </a:xfrm>
          <a:prstGeom prst="rect">
            <a:avLst/>
          </a:prstGeom>
        </p:spPr>
      </p:pic>
      <p:pic>
        <p:nvPicPr>
          <p:cNvPr id="19" name="Graphic 18" descr="Brain in head with solid fill">
            <a:extLst>
              <a:ext uri="{FF2B5EF4-FFF2-40B4-BE49-F238E27FC236}">
                <a16:creationId xmlns:a16="http://schemas.microsoft.com/office/drawing/2014/main" id="{1E5EA6F5-B309-DE4B-3274-0E2738E9EC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1564" y="357264"/>
            <a:ext cx="510768" cy="51076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72D1AA7-33ED-1E4F-75C0-814D7F006C2D}"/>
              </a:ext>
            </a:extLst>
          </p:cNvPr>
          <p:cNvSpPr txBox="1"/>
          <p:nvPr/>
        </p:nvSpPr>
        <p:spPr>
          <a:xfrm>
            <a:off x="1564272" y="104816"/>
            <a:ext cx="43799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ankGothic Md BT" panose="020B0807020203060204" pitchFamily="34" charset="0"/>
              </a:rPr>
              <a:t>AIM</a:t>
            </a:r>
            <a:endParaRPr lang="en-IN" sz="6000" dirty="0">
              <a:latin typeface="BankGothic Md BT" panose="020B080702020306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3C8AFCE-13D6-F3C8-999F-CBFC5CDA6773}"/>
              </a:ext>
            </a:extLst>
          </p:cNvPr>
          <p:cNvCxnSpPr>
            <a:cxnSpLocks/>
          </p:cNvCxnSpPr>
          <p:nvPr/>
        </p:nvCxnSpPr>
        <p:spPr>
          <a:xfrm>
            <a:off x="1655064" y="1042416"/>
            <a:ext cx="265242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30779EC-6E88-AB5B-E6FB-BDAF70A2C395}"/>
              </a:ext>
            </a:extLst>
          </p:cNvPr>
          <p:cNvCxnSpPr>
            <a:cxnSpLocks/>
          </p:cNvCxnSpPr>
          <p:nvPr/>
        </p:nvCxnSpPr>
        <p:spPr>
          <a:xfrm>
            <a:off x="1807464" y="1194816"/>
            <a:ext cx="282854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8964A91-973B-AF2E-B47E-50780C5CB02E}"/>
              </a:ext>
            </a:extLst>
          </p:cNvPr>
          <p:cNvSpPr txBox="1"/>
          <p:nvPr/>
        </p:nvSpPr>
        <p:spPr>
          <a:xfrm>
            <a:off x="1655064" y="1330603"/>
            <a:ext cx="9732264" cy="367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Eras Demi ITC" panose="020B0805030504020804" pitchFamily="34" charset="0"/>
              </a:rPr>
              <a:t>To study the formation of gluten in wheat flour.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Eras Demi ITC" panose="020B0805030504020804" pitchFamily="34" charset="0"/>
              </a:rPr>
              <a:t>To understand the role of water and mechanical action in gluten development.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Eras Demi ITC" panose="020B0805030504020804" pitchFamily="34" charset="0"/>
              </a:rPr>
              <a:t>To </a:t>
            </a:r>
            <a:r>
              <a:rPr lang="en-IN" sz="2400" dirty="0" err="1">
                <a:latin typeface="Eras Demi ITC" panose="020B0805030504020804" pitchFamily="34" charset="0"/>
              </a:rPr>
              <a:t>analyze</a:t>
            </a:r>
            <a:r>
              <a:rPr lang="en-IN" sz="2400" dirty="0">
                <a:latin typeface="Eras Demi ITC" panose="020B0805030504020804" pitchFamily="34" charset="0"/>
              </a:rPr>
              <a:t> how gluten contributes to dough structure and elasticity.</a:t>
            </a:r>
          </a:p>
        </p:txBody>
      </p:sp>
      <p:pic>
        <p:nvPicPr>
          <p:cNvPr id="1026" name="Picture 2" descr="Roll Cake">
            <a:extLst>
              <a:ext uri="{FF2B5EF4-FFF2-40B4-BE49-F238E27FC236}">
                <a16:creationId xmlns:a16="http://schemas.microsoft.com/office/drawing/2014/main" id="{D1B91F40-0F0F-0011-8FF1-992CFA6D5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824" y="62822"/>
            <a:ext cx="1015664" cy="1015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affle Iron">
            <a:extLst>
              <a:ext uri="{FF2B5EF4-FFF2-40B4-BE49-F238E27FC236}">
                <a16:creationId xmlns:a16="http://schemas.microsoft.com/office/drawing/2014/main" id="{53244C90-A038-6B5F-163B-B369FEB78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264" y="5100828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bster roll">
            <a:extLst>
              <a:ext uri="{FF2B5EF4-FFF2-40B4-BE49-F238E27FC236}">
                <a16:creationId xmlns:a16="http://schemas.microsoft.com/office/drawing/2014/main" id="{41D1ADAC-6120-C9AB-18F9-5501BF8BF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424" y="434340"/>
            <a:ext cx="1996440" cy="1996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oughnut">
            <a:extLst>
              <a:ext uri="{FF2B5EF4-FFF2-40B4-BE49-F238E27FC236}">
                <a16:creationId xmlns:a16="http://schemas.microsoft.com/office/drawing/2014/main" id="{93C295D3-0559-643B-6522-263302674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452" y="4387002"/>
            <a:ext cx="1664208" cy="166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86293D-4B6A-09D5-309C-6FD7C4E6C07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554" y="-10691"/>
            <a:ext cx="2079544" cy="207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0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69454-A47D-34EB-ADAA-3C8A3A8E1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E071E9-71F7-9813-28DF-A319761DDCF3}"/>
              </a:ext>
            </a:extLst>
          </p:cNvPr>
          <p:cNvSpPr/>
          <p:nvPr/>
        </p:nvSpPr>
        <p:spPr>
          <a:xfrm>
            <a:off x="0" y="0"/>
            <a:ext cx="1453896" cy="6858000"/>
          </a:xfrm>
          <a:prstGeom prst="rect">
            <a:avLst/>
          </a:prstGeom>
          <a:solidFill>
            <a:srgbClr val="EAC93C"/>
          </a:solidFill>
          <a:ln>
            <a:solidFill>
              <a:srgbClr val="EAC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94944FF-A3AF-D1F7-5B5E-B8E89ADF27A9}"/>
              </a:ext>
            </a:extLst>
          </p:cNvPr>
          <p:cNvSpPr/>
          <p:nvPr/>
        </p:nvSpPr>
        <p:spPr>
          <a:xfrm>
            <a:off x="224028" y="237744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1A448A9-7128-CEF0-D635-A4DA0ACB3354}"/>
              </a:ext>
            </a:extLst>
          </p:cNvPr>
          <p:cNvSpPr/>
          <p:nvPr/>
        </p:nvSpPr>
        <p:spPr>
          <a:xfrm>
            <a:off x="224028" y="1432560"/>
            <a:ext cx="1005840" cy="694944"/>
          </a:xfrm>
          <a:prstGeom prst="ellipse">
            <a:avLst/>
          </a:prstGeom>
          <a:solidFill>
            <a:srgbClr val="EAC9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65FA2F-B27D-E2FC-ED7A-8D74C8A9CC00}"/>
              </a:ext>
            </a:extLst>
          </p:cNvPr>
          <p:cNvSpPr/>
          <p:nvPr/>
        </p:nvSpPr>
        <p:spPr>
          <a:xfrm>
            <a:off x="224028" y="277368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AAD53D-41B4-6306-210A-79609E39DA85}"/>
              </a:ext>
            </a:extLst>
          </p:cNvPr>
          <p:cNvSpPr/>
          <p:nvPr/>
        </p:nvSpPr>
        <p:spPr>
          <a:xfrm>
            <a:off x="224028" y="411480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01D893-6A3E-73A4-2C75-6BFA6A472923}"/>
              </a:ext>
            </a:extLst>
          </p:cNvPr>
          <p:cNvSpPr/>
          <p:nvPr/>
        </p:nvSpPr>
        <p:spPr>
          <a:xfrm>
            <a:off x="224028" y="5629656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Apple with solid fill">
            <a:extLst>
              <a:ext uri="{FF2B5EF4-FFF2-40B4-BE49-F238E27FC236}">
                <a16:creationId xmlns:a16="http://schemas.microsoft.com/office/drawing/2014/main" id="{7233F9D9-7C48-0B5E-052A-EFF179FD9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136" y="5721744"/>
            <a:ext cx="510768" cy="510768"/>
          </a:xfrm>
          <a:prstGeom prst="rect">
            <a:avLst/>
          </a:prstGeom>
        </p:spPr>
      </p:pic>
      <p:pic>
        <p:nvPicPr>
          <p:cNvPr id="13" name="Graphic 12" descr="Atom with solid fill">
            <a:extLst>
              <a:ext uri="{FF2B5EF4-FFF2-40B4-BE49-F238E27FC236}">
                <a16:creationId xmlns:a16="http://schemas.microsoft.com/office/drawing/2014/main" id="{9A331144-AB32-1FCE-9784-6DBD9C5AF0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64" y="4206888"/>
            <a:ext cx="510768" cy="510768"/>
          </a:xfrm>
          <a:prstGeom prst="rect">
            <a:avLst/>
          </a:prstGeom>
        </p:spPr>
      </p:pic>
      <p:pic>
        <p:nvPicPr>
          <p:cNvPr id="15" name="Graphic 14" descr="Bar graph with upward trend with solid fill">
            <a:extLst>
              <a:ext uri="{FF2B5EF4-FFF2-40B4-BE49-F238E27FC236}">
                <a16:creationId xmlns:a16="http://schemas.microsoft.com/office/drawing/2014/main" id="{719927D0-9468-4E75-229D-2CC3D86A57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564" y="1597572"/>
            <a:ext cx="510768" cy="510768"/>
          </a:xfrm>
          <a:prstGeom prst="rect">
            <a:avLst/>
          </a:prstGeom>
        </p:spPr>
      </p:pic>
      <p:pic>
        <p:nvPicPr>
          <p:cNvPr id="17" name="Graphic 16" descr="Beaker with solid fill">
            <a:extLst>
              <a:ext uri="{FF2B5EF4-FFF2-40B4-BE49-F238E27FC236}">
                <a16:creationId xmlns:a16="http://schemas.microsoft.com/office/drawing/2014/main" id="{846F0AB7-4547-77D7-2CC7-CBE27314F8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564" y="2865768"/>
            <a:ext cx="510768" cy="510768"/>
          </a:xfrm>
          <a:prstGeom prst="rect">
            <a:avLst/>
          </a:prstGeom>
        </p:spPr>
      </p:pic>
      <p:pic>
        <p:nvPicPr>
          <p:cNvPr id="19" name="Graphic 18" descr="Brain in head with solid fill">
            <a:extLst>
              <a:ext uri="{FF2B5EF4-FFF2-40B4-BE49-F238E27FC236}">
                <a16:creationId xmlns:a16="http://schemas.microsoft.com/office/drawing/2014/main" id="{E4A914BE-F87B-8840-2213-1D18EC1C90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1564" y="357264"/>
            <a:ext cx="510768" cy="5107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6BEF1A-2AB1-A840-D93B-EC97E0B94FD3}"/>
              </a:ext>
            </a:extLst>
          </p:cNvPr>
          <p:cNvSpPr txBox="1"/>
          <p:nvPr/>
        </p:nvSpPr>
        <p:spPr>
          <a:xfrm>
            <a:off x="1564272" y="104816"/>
            <a:ext cx="43799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ankGothic Md BT" panose="020B0807020203060204" pitchFamily="34" charset="0"/>
              </a:rPr>
              <a:t>Principle</a:t>
            </a:r>
            <a:endParaRPr lang="en-IN" sz="6000" dirty="0">
              <a:latin typeface="BankGothic Md BT" panose="020B080702020306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ABAD51-1C26-6B72-7387-87841AF60EEC}"/>
              </a:ext>
            </a:extLst>
          </p:cNvPr>
          <p:cNvCxnSpPr/>
          <p:nvPr/>
        </p:nvCxnSpPr>
        <p:spPr>
          <a:xfrm>
            <a:off x="1655064" y="1042416"/>
            <a:ext cx="428918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6382D7-B3E6-188A-8C56-FF891C91B741}"/>
              </a:ext>
            </a:extLst>
          </p:cNvPr>
          <p:cNvCxnSpPr/>
          <p:nvPr/>
        </p:nvCxnSpPr>
        <p:spPr>
          <a:xfrm>
            <a:off x="1807464" y="1194816"/>
            <a:ext cx="428918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3A4DB85-CAF5-E8F7-A6F7-4709499A35A0}"/>
              </a:ext>
            </a:extLst>
          </p:cNvPr>
          <p:cNvSpPr txBox="1"/>
          <p:nvPr/>
        </p:nvSpPr>
        <p:spPr>
          <a:xfrm>
            <a:off x="1655064" y="1432560"/>
            <a:ext cx="9667608" cy="2811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Eras Demi ITC" panose="020B0805030504020804" pitchFamily="34" charset="0"/>
              </a:rPr>
              <a:t>Gluten is formed when wheat flour proteins (gliadin and glutenin) interact with water.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Eras Demi ITC" panose="020B0805030504020804" pitchFamily="34" charset="0"/>
              </a:rPr>
              <a:t>Hydration allows these proteins to unfold and form intermolecular bonds.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Eras Demi ITC" panose="020B0805030504020804" pitchFamily="34" charset="0"/>
              </a:rPr>
              <a:t>Mechanical action (kneading) promotes cross-linking, forming a viscoelastic network.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Eras Demi ITC" panose="020B0805030504020804" pitchFamily="34" charset="0"/>
              </a:rPr>
              <a:t>This network traps gases and gives elasticity and extensibility to dough.</a:t>
            </a:r>
          </a:p>
        </p:txBody>
      </p:sp>
      <p:pic>
        <p:nvPicPr>
          <p:cNvPr id="2050" name="Picture 2" descr="Candied Bacon Strip">
            <a:extLst>
              <a:ext uri="{FF2B5EF4-FFF2-40B4-BE49-F238E27FC236}">
                <a16:creationId xmlns:a16="http://schemas.microsoft.com/office/drawing/2014/main" id="{718E9210-C148-7EA5-7CF6-8BAFAA292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672" y="2667000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oot Beer Float Tower">
            <a:extLst>
              <a:ext uri="{FF2B5EF4-FFF2-40B4-BE49-F238E27FC236}">
                <a16:creationId xmlns:a16="http://schemas.microsoft.com/office/drawing/2014/main" id="{10A7C9A7-D982-FC96-4DF2-81B5D818F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074" y="72560"/>
            <a:ext cx="932688" cy="93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ilkshake">
            <a:extLst>
              <a:ext uri="{FF2B5EF4-FFF2-40B4-BE49-F238E27FC236}">
                <a16:creationId xmlns:a16="http://schemas.microsoft.com/office/drawing/2014/main" id="{6AAA0556-C74E-23AE-AC03-A3E9E713C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213" y="4462272"/>
            <a:ext cx="1655064" cy="165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ox of Chocolates">
            <a:extLst>
              <a:ext uri="{FF2B5EF4-FFF2-40B4-BE49-F238E27FC236}">
                <a16:creationId xmlns:a16="http://schemas.microsoft.com/office/drawing/2014/main" id="{C668638F-9CB2-01D9-58DD-473C5AFB2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648" y="5394960"/>
            <a:ext cx="1563624" cy="1563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D238B7-1CAB-6D29-9CDC-08EE9296299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554" y="-10691"/>
            <a:ext cx="2079544" cy="207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64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5424E-AB0C-2C8A-ABA0-BA6029E4A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DE8026-DB43-04A9-F5B0-B53A3462CFFD}"/>
              </a:ext>
            </a:extLst>
          </p:cNvPr>
          <p:cNvSpPr/>
          <p:nvPr/>
        </p:nvSpPr>
        <p:spPr>
          <a:xfrm>
            <a:off x="0" y="0"/>
            <a:ext cx="1453896" cy="6858000"/>
          </a:xfrm>
          <a:prstGeom prst="rect">
            <a:avLst/>
          </a:prstGeom>
          <a:solidFill>
            <a:srgbClr val="EAC93C"/>
          </a:solidFill>
          <a:ln>
            <a:solidFill>
              <a:srgbClr val="EAC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C5653C3-3B5B-3C87-DE12-93F14B091AFA}"/>
              </a:ext>
            </a:extLst>
          </p:cNvPr>
          <p:cNvSpPr/>
          <p:nvPr/>
        </p:nvSpPr>
        <p:spPr>
          <a:xfrm>
            <a:off x="224028" y="237744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EF48C0-8438-A8BC-11CB-45A4E153C515}"/>
              </a:ext>
            </a:extLst>
          </p:cNvPr>
          <p:cNvSpPr/>
          <p:nvPr/>
        </p:nvSpPr>
        <p:spPr>
          <a:xfrm>
            <a:off x="224028" y="143256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EBC857-8A57-EEE5-CF0F-40F2A31BE0D6}"/>
              </a:ext>
            </a:extLst>
          </p:cNvPr>
          <p:cNvSpPr/>
          <p:nvPr/>
        </p:nvSpPr>
        <p:spPr>
          <a:xfrm>
            <a:off x="224028" y="2773680"/>
            <a:ext cx="1005840" cy="694944"/>
          </a:xfrm>
          <a:prstGeom prst="ellipse">
            <a:avLst/>
          </a:prstGeom>
          <a:solidFill>
            <a:srgbClr val="EAC9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E889D9-517D-B729-CCDF-590F0F1B5991}"/>
              </a:ext>
            </a:extLst>
          </p:cNvPr>
          <p:cNvSpPr/>
          <p:nvPr/>
        </p:nvSpPr>
        <p:spPr>
          <a:xfrm>
            <a:off x="224028" y="411480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F8236D-267D-241A-4F4A-DB9D14DFCB43}"/>
              </a:ext>
            </a:extLst>
          </p:cNvPr>
          <p:cNvSpPr/>
          <p:nvPr/>
        </p:nvSpPr>
        <p:spPr>
          <a:xfrm>
            <a:off x="224028" y="5629656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Apple with solid fill">
            <a:extLst>
              <a:ext uri="{FF2B5EF4-FFF2-40B4-BE49-F238E27FC236}">
                <a16:creationId xmlns:a16="http://schemas.microsoft.com/office/drawing/2014/main" id="{0FF964D1-133D-10F6-EFEC-1BEF7FC0F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136" y="5721744"/>
            <a:ext cx="510768" cy="510768"/>
          </a:xfrm>
          <a:prstGeom prst="rect">
            <a:avLst/>
          </a:prstGeom>
        </p:spPr>
      </p:pic>
      <p:pic>
        <p:nvPicPr>
          <p:cNvPr id="13" name="Graphic 12" descr="Atom with solid fill">
            <a:extLst>
              <a:ext uri="{FF2B5EF4-FFF2-40B4-BE49-F238E27FC236}">
                <a16:creationId xmlns:a16="http://schemas.microsoft.com/office/drawing/2014/main" id="{F9D3E546-D8DB-7400-3D2F-F1ABDAEB66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64" y="4206888"/>
            <a:ext cx="510768" cy="510768"/>
          </a:xfrm>
          <a:prstGeom prst="rect">
            <a:avLst/>
          </a:prstGeom>
        </p:spPr>
      </p:pic>
      <p:pic>
        <p:nvPicPr>
          <p:cNvPr id="15" name="Graphic 14" descr="Bar graph with upward trend with solid fill">
            <a:extLst>
              <a:ext uri="{FF2B5EF4-FFF2-40B4-BE49-F238E27FC236}">
                <a16:creationId xmlns:a16="http://schemas.microsoft.com/office/drawing/2014/main" id="{18433570-96E9-E585-F2EE-2F0712CC38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564" y="1597572"/>
            <a:ext cx="510768" cy="510768"/>
          </a:xfrm>
          <a:prstGeom prst="rect">
            <a:avLst/>
          </a:prstGeom>
        </p:spPr>
      </p:pic>
      <p:pic>
        <p:nvPicPr>
          <p:cNvPr id="17" name="Graphic 16" descr="Beaker with solid fill">
            <a:extLst>
              <a:ext uri="{FF2B5EF4-FFF2-40B4-BE49-F238E27FC236}">
                <a16:creationId xmlns:a16="http://schemas.microsoft.com/office/drawing/2014/main" id="{67420679-FAAF-D3CD-1D9E-D20FE4CFC4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564" y="2865768"/>
            <a:ext cx="510768" cy="510768"/>
          </a:xfrm>
          <a:prstGeom prst="rect">
            <a:avLst/>
          </a:prstGeom>
        </p:spPr>
      </p:pic>
      <p:pic>
        <p:nvPicPr>
          <p:cNvPr id="19" name="Graphic 18" descr="Brain in head with solid fill">
            <a:extLst>
              <a:ext uri="{FF2B5EF4-FFF2-40B4-BE49-F238E27FC236}">
                <a16:creationId xmlns:a16="http://schemas.microsoft.com/office/drawing/2014/main" id="{775C1C84-8136-F1A8-20EC-27787B5382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1564" y="357264"/>
            <a:ext cx="510768" cy="5107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D61E30-58A6-3441-665E-74962A0B1E9C}"/>
              </a:ext>
            </a:extLst>
          </p:cNvPr>
          <p:cNvSpPr txBox="1"/>
          <p:nvPr/>
        </p:nvSpPr>
        <p:spPr>
          <a:xfrm>
            <a:off x="1564272" y="104816"/>
            <a:ext cx="67110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ankGothic Md BT" panose="020B0807020203060204" pitchFamily="34" charset="0"/>
              </a:rPr>
              <a:t>Basic Concept</a:t>
            </a:r>
            <a:endParaRPr lang="en-IN" sz="6000" dirty="0">
              <a:latin typeface="BankGothic Md BT" panose="020B080702020306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2C161F-2684-4261-A2B6-C7694A392D9F}"/>
              </a:ext>
            </a:extLst>
          </p:cNvPr>
          <p:cNvCxnSpPr>
            <a:cxnSpLocks/>
          </p:cNvCxnSpPr>
          <p:nvPr/>
        </p:nvCxnSpPr>
        <p:spPr>
          <a:xfrm>
            <a:off x="1655064" y="1042416"/>
            <a:ext cx="672084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86277E-EA92-C07F-D5C8-DCCCB3A7910A}"/>
              </a:ext>
            </a:extLst>
          </p:cNvPr>
          <p:cNvCxnSpPr>
            <a:cxnSpLocks/>
          </p:cNvCxnSpPr>
          <p:nvPr/>
        </p:nvCxnSpPr>
        <p:spPr>
          <a:xfrm>
            <a:off x="1807464" y="1194816"/>
            <a:ext cx="711708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BDD545D-C608-CE12-3D4A-CA41EA5F7CFA}"/>
              </a:ext>
            </a:extLst>
          </p:cNvPr>
          <p:cNvSpPr txBox="1"/>
          <p:nvPr/>
        </p:nvSpPr>
        <p:spPr>
          <a:xfrm>
            <a:off x="1961388" y="1432560"/>
            <a:ext cx="85474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ahnschrift SemiLight SemiConde" panose="020B0502040204020203" pitchFamily="34" charset="0"/>
              </a:rPr>
              <a:t>Gluten consists of two main proteins: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Light SemiConde" panose="020B0502040204020203" pitchFamily="34" charset="0"/>
              </a:rPr>
              <a:t>Gliadin → provides viscosity and extensibility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Light SemiConde" panose="020B0502040204020203" pitchFamily="34" charset="0"/>
              </a:rPr>
              <a:t>Glutenin → provides elasticity and strength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37929E-554D-E65D-BEFF-A6E5B81780AD}"/>
              </a:ext>
            </a:extLst>
          </p:cNvPr>
          <p:cNvSpPr txBox="1"/>
          <p:nvPr/>
        </p:nvSpPr>
        <p:spPr>
          <a:xfrm>
            <a:off x="4187952" y="2591469"/>
            <a:ext cx="60990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ahnschrift SemiLight SemiConde" panose="020B0502040204020203" pitchFamily="34" charset="0"/>
              </a:rPr>
              <a:t>On addition of water</a:t>
            </a:r>
            <a:r>
              <a:rPr lang="en-IN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Light SemiConde" panose="020B0502040204020203" pitchFamily="34" charset="0"/>
              </a:rPr>
              <a:t>Proteins hydrate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Light SemiConde" panose="020B0502040204020203" pitchFamily="34" charset="0"/>
              </a:rPr>
              <a:t>Form hydrogen bonds and disulfide bonds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5646CA-7905-94EB-6C93-81A2D863CC1F}"/>
              </a:ext>
            </a:extLst>
          </p:cNvPr>
          <p:cNvSpPr txBox="1"/>
          <p:nvPr/>
        </p:nvSpPr>
        <p:spPr>
          <a:xfrm>
            <a:off x="8611476" y="4559784"/>
            <a:ext cx="39706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ahnschrift SemiLight SemiConde" panose="020B0502040204020203" pitchFamily="34" charset="0"/>
              </a:rPr>
              <a:t>This network is responsible for</a:t>
            </a:r>
            <a:r>
              <a:rPr lang="en-IN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Light SemiConde" panose="020B0502040204020203" pitchFamily="34" charset="0"/>
              </a:rPr>
              <a:t>Dough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Light SemiConde" panose="020B0502040204020203" pitchFamily="34" charset="0"/>
              </a:rPr>
              <a:t>Gas retention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Light SemiConde" panose="020B0502040204020203" pitchFamily="34" charset="0"/>
              </a:rPr>
              <a:t>Final product texture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47198C-93A6-AD28-3314-FC49A2EF55F8}"/>
              </a:ext>
            </a:extLst>
          </p:cNvPr>
          <p:cNvSpPr txBox="1"/>
          <p:nvPr/>
        </p:nvSpPr>
        <p:spPr>
          <a:xfrm>
            <a:off x="6230931" y="3727842"/>
            <a:ext cx="6990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ahnschrift SemiLight SemiConde" panose="020B0502040204020203" pitchFamily="34" charset="0"/>
              </a:rPr>
              <a:t>Result: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ahnschrift SemiLight SemiConde" panose="020B0502040204020203" pitchFamily="34" charset="0"/>
              </a:rPr>
              <a:t>A three-dimensional protein network</a:t>
            </a:r>
          </a:p>
        </p:txBody>
      </p:sp>
      <p:pic>
        <p:nvPicPr>
          <p:cNvPr id="4098" name="Picture 2" descr="Gingerbread Man">
            <a:extLst>
              <a:ext uri="{FF2B5EF4-FFF2-40B4-BE49-F238E27FC236}">
                <a16:creationId xmlns:a16="http://schemas.microsoft.com/office/drawing/2014/main" id="{292750BE-A05E-5D82-8EEE-BBC1A14B7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682" y="1319523"/>
            <a:ext cx="1027176" cy="1027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tar Fruit">
            <a:extLst>
              <a:ext uri="{FF2B5EF4-FFF2-40B4-BE49-F238E27FC236}">
                <a16:creationId xmlns:a16="http://schemas.microsoft.com/office/drawing/2014/main" id="{B988C92D-B58A-96CB-4DD7-3042079C8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4350" y="2166783"/>
            <a:ext cx="1316736" cy="1316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Chocolate-Covered Strawberry">
            <a:extLst>
              <a:ext uri="{FF2B5EF4-FFF2-40B4-BE49-F238E27FC236}">
                <a16:creationId xmlns:a16="http://schemas.microsoft.com/office/drawing/2014/main" id="{514D71D0-45E0-EE92-D391-7F6FD4D30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5655" y="3130158"/>
            <a:ext cx="1657674" cy="165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Panna Cotta alla Vaniglia">
            <a:extLst>
              <a:ext uri="{FF2B5EF4-FFF2-40B4-BE49-F238E27FC236}">
                <a16:creationId xmlns:a16="http://schemas.microsoft.com/office/drawing/2014/main" id="{97537CC7-E6BC-76A8-63B1-699479BAD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6810" y="5385516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CD8AB95-2E19-3965-4F22-76FCE542FE9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554" y="-10691"/>
            <a:ext cx="2079544" cy="207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095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CEBD2-E063-3EA2-FB4B-737A31E14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E29D33-2178-FF45-E6BB-7B48AAB284E2}"/>
              </a:ext>
            </a:extLst>
          </p:cNvPr>
          <p:cNvSpPr/>
          <p:nvPr/>
        </p:nvSpPr>
        <p:spPr>
          <a:xfrm>
            <a:off x="0" y="0"/>
            <a:ext cx="1453896" cy="6858000"/>
          </a:xfrm>
          <a:prstGeom prst="rect">
            <a:avLst/>
          </a:prstGeom>
          <a:solidFill>
            <a:srgbClr val="EAC93C"/>
          </a:solidFill>
          <a:ln>
            <a:solidFill>
              <a:srgbClr val="EAC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7156259-0FAA-B418-90B2-4A993F8ACA11}"/>
              </a:ext>
            </a:extLst>
          </p:cNvPr>
          <p:cNvSpPr/>
          <p:nvPr/>
        </p:nvSpPr>
        <p:spPr>
          <a:xfrm>
            <a:off x="224028" y="237744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AF0D09-5863-9DC6-F407-F4803DA791C4}"/>
              </a:ext>
            </a:extLst>
          </p:cNvPr>
          <p:cNvSpPr/>
          <p:nvPr/>
        </p:nvSpPr>
        <p:spPr>
          <a:xfrm>
            <a:off x="224028" y="143256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A64FC6D-842D-9875-B36C-1411D81C8B77}"/>
              </a:ext>
            </a:extLst>
          </p:cNvPr>
          <p:cNvSpPr/>
          <p:nvPr/>
        </p:nvSpPr>
        <p:spPr>
          <a:xfrm>
            <a:off x="224028" y="277368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40E970-795C-7728-5FFE-C07492A784EB}"/>
              </a:ext>
            </a:extLst>
          </p:cNvPr>
          <p:cNvSpPr/>
          <p:nvPr/>
        </p:nvSpPr>
        <p:spPr>
          <a:xfrm>
            <a:off x="224028" y="4114800"/>
            <a:ext cx="1005840" cy="694944"/>
          </a:xfrm>
          <a:prstGeom prst="ellipse">
            <a:avLst/>
          </a:prstGeom>
          <a:solidFill>
            <a:srgbClr val="EAC9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EC5964-1276-BD53-0E71-51CA306EC7C6}"/>
              </a:ext>
            </a:extLst>
          </p:cNvPr>
          <p:cNvSpPr/>
          <p:nvPr/>
        </p:nvSpPr>
        <p:spPr>
          <a:xfrm>
            <a:off x="224028" y="5629656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Apple with solid fill">
            <a:extLst>
              <a:ext uri="{FF2B5EF4-FFF2-40B4-BE49-F238E27FC236}">
                <a16:creationId xmlns:a16="http://schemas.microsoft.com/office/drawing/2014/main" id="{761339BC-932F-391A-2454-F1EB0B94E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136" y="5721744"/>
            <a:ext cx="510768" cy="510768"/>
          </a:xfrm>
          <a:prstGeom prst="rect">
            <a:avLst/>
          </a:prstGeom>
        </p:spPr>
      </p:pic>
      <p:pic>
        <p:nvPicPr>
          <p:cNvPr id="13" name="Graphic 12" descr="Atom with solid fill">
            <a:extLst>
              <a:ext uri="{FF2B5EF4-FFF2-40B4-BE49-F238E27FC236}">
                <a16:creationId xmlns:a16="http://schemas.microsoft.com/office/drawing/2014/main" id="{3A2C2956-6154-2EA2-878F-8BA8DF2C92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64" y="4206888"/>
            <a:ext cx="510768" cy="510768"/>
          </a:xfrm>
          <a:prstGeom prst="rect">
            <a:avLst/>
          </a:prstGeom>
        </p:spPr>
      </p:pic>
      <p:pic>
        <p:nvPicPr>
          <p:cNvPr id="15" name="Graphic 14" descr="Bar graph with upward trend with solid fill">
            <a:extLst>
              <a:ext uri="{FF2B5EF4-FFF2-40B4-BE49-F238E27FC236}">
                <a16:creationId xmlns:a16="http://schemas.microsoft.com/office/drawing/2014/main" id="{5DB109BD-3561-7B16-44EF-A08D5D4554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564" y="1597572"/>
            <a:ext cx="510768" cy="510768"/>
          </a:xfrm>
          <a:prstGeom prst="rect">
            <a:avLst/>
          </a:prstGeom>
        </p:spPr>
      </p:pic>
      <p:pic>
        <p:nvPicPr>
          <p:cNvPr id="17" name="Graphic 16" descr="Beaker with solid fill">
            <a:extLst>
              <a:ext uri="{FF2B5EF4-FFF2-40B4-BE49-F238E27FC236}">
                <a16:creationId xmlns:a16="http://schemas.microsoft.com/office/drawing/2014/main" id="{54A3D849-D878-D84C-65B0-8F6142263B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564" y="2865768"/>
            <a:ext cx="510768" cy="510768"/>
          </a:xfrm>
          <a:prstGeom prst="rect">
            <a:avLst/>
          </a:prstGeom>
        </p:spPr>
      </p:pic>
      <p:pic>
        <p:nvPicPr>
          <p:cNvPr id="19" name="Graphic 18" descr="Brain in head with solid fill">
            <a:extLst>
              <a:ext uri="{FF2B5EF4-FFF2-40B4-BE49-F238E27FC236}">
                <a16:creationId xmlns:a16="http://schemas.microsoft.com/office/drawing/2014/main" id="{E70E6A24-DE4B-CDC5-FAAF-CB13DE4E3B4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1564" y="357264"/>
            <a:ext cx="510768" cy="5107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2660B3-B2F9-3277-AA4A-E62E315FB306}"/>
              </a:ext>
            </a:extLst>
          </p:cNvPr>
          <p:cNvSpPr txBox="1"/>
          <p:nvPr/>
        </p:nvSpPr>
        <p:spPr>
          <a:xfrm>
            <a:off x="1564272" y="104816"/>
            <a:ext cx="7104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ankGothic Md BT" panose="020B0807020203060204" pitchFamily="34" charset="0"/>
              </a:rPr>
              <a:t>Major Outcome</a:t>
            </a:r>
            <a:endParaRPr lang="en-IN" sz="6000" dirty="0">
              <a:latin typeface="BankGothic Md BT" panose="020B080702020306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4B9BAF0-F1F2-FECD-7513-3F464459A04A}"/>
              </a:ext>
            </a:extLst>
          </p:cNvPr>
          <p:cNvCxnSpPr>
            <a:cxnSpLocks/>
          </p:cNvCxnSpPr>
          <p:nvPr/>
        </p:nvCxnSpPr>
        <p:spPr>
          <a:xfrm>
            <a:off x="1655064" y="1042416"/>
            <a:ext cx="675741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D16308-8902-D767-2D19-B28A013B2871}"/>
              </a:ext>
            </a:extLst>
          </p:cNvPr>
          <p:cNvCxnSpPr>
            <a:cxnSpLocks/>
          </p:cNvCxnSpPr>
          <p:nvPr/>
        </p:nvCxnSpPr>
        <p:spPr>
          <a:xfrm>
            <a:off x="1807464" y="1194816"/>
            <a:ext cx="695248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Waiter">
            <a:extLst>
              <a:ext uri="{FF2B5EF4-FFF2-40B4-BE49-F238E27FC236}">
                <a16:creationId xmlns:a16="http://schemas.microsoft.com/office/drawing/2014/main" id="{D74645A6-FF4E-1C76-F193-41CB77E61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2480" y="-100584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345FB34-4926-E6C2-A888-B5752514554D}"/>
              </a:ext>
            </a:extLst>
          </p:cNvPr>
          <p:cNvSpPr txBox="1"/>
          <p:nvPr/>
        </p:nvSpPr>
        <p:spPr>
          <a:xfrm>
            <a:off x="5948172" y="5349825"/>
            <a:ext cx="60990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ahnschrift SemiLight SemiConde" panose="020B0502040204020203" pitchFamily="34" charset="0"/>
              </a:rPr>
              <a:t>Functional significance:</a:t>
            </a:r>
          </a:p>
          <a:p>
            <a:r>
              <a:rPr lang="en-IN" dirty="0">
                <a:latin typeface="Eras Demi ITC" panose="020B0805030504020804" pitchFamily="34" charset="0"/>
              </a:rPr>
              <a:t>Determines texture, volume, and chewiness of food products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C91203-3E42-D234-542C-6A656A60BFC1}"/>
              </a:ext>
            </a:extLst>
          </p:cNvPr>
          <p:cNvSpPr txBox="1"/>
          <p:nvPr/>
        </p:nvSpPr>
        <p:spPr>
          <a:xfrm>
            <a:off x="1807464" y="2681871"/>
            <a:ext cx="60990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ahnschrift SemiLight SemiConde" panose="020B0502040204020203" pitchFamily="34" charset="0"/>
              </a:rPr>
              <a:t>Gluten formation depends on:</a:t>
            </a:r>
          </a:p>
          <a:p>
            <a:r>
              <a:rPr lang="en-IN" dirty="0">
                <a:latin typeface="Eras Demi ITC" panose="020B0805030504020804" pitchFamily="34" charset="0"/>
              </a:rPr>
              <a:t>Water content (optimal hydration required)</a:t>
            </a:r>
          </a:p>
          <a:p>
            <a:r>
              <a:rPr lang="en-IN" dirty="0">
                <a:latin typeface="Eras Demi ITC" panose="020B0805030504020804" pitchFamily="34" charset="0"/>
              </a:rPr>
              <a:t>Kneading intensity (improves network formation)</a:t>
            </a:r>
          </a:p>
          <a:p>
            <a:r>
              <a:rPr lang="en-IN" dirty="0">
                <a:latin typeface="Eras Demi ITC" panose="020B0805030504020804" pitchFamily="34" charset="0"/>
              </a:rPr>
              <a:t>Flour type (protein content varies)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9220C9-51BC-00A0-E067-E0924B3BBD02}"/>
              </a:ext>
            </a:extLst>
          </p:cNvPr>
          <p:cNvSpPr txBox="1"/>
          <p:nvPr/>
        </p:nvSpPr>
        <p:spPr>
          <a:xfrm>
            <a:off x="4174236" y="4063632"/>
            <a:ext cx="60990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ahnschrift SemiLight SemiConde" panose="020B0502040204020203" pitchFamily="34" charset="0"/>
              </a:rPr>
              <a:t>Observations:</a:t>
            </a:r>
          </a:p>
          <a:p>
            <a:r>
              <a:rPr lang="en-IN" dirty="0">
                <a:latin typeface="Eras Demi ITC" panose="020B0805030504020804" pitchFamily="34" charset="0"/>
              </a:rPr>
              <a:t>Strong flour → more gluten → elastic dough</a:t>
            </a:r>
          </a:p>
          <a:p>
            <a:r>
              <a:rPr lang="en-IN" dirty="0">
                <a:latin typeface="Eras Demi ITC" panose="020B0805030504020804" pitchFamily="34" charset="0"/>
              </a:rPr>
              <a:t>Weak flour → less gluten → soft/crumbly structure</a:t>
            </a:r>
          </a:p>
        </p:txBody>
      </p:sp>
      <p:pic>
        <p:nvPicPr>
          <p:cNvPr id="5124" name="Picture 4" descr="Peach">
            <a:extLst>
              <a:ext uri="{FF2B5EF4-FFF2-40B4-BE49-F238E27FC236}">
                <a16:creationId xmlns:a16="http://schemas.microsoft.com/office/drawing/2014/main" id="{70B40D55-91BF-617A-0E33-33E5CD074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8138" y="3992118"/>
            <a:ext cx="1635252" cy="163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Thyme">
            <a:extLst>
              <a:ext uri="{FF2B5EF4-FFF2-40B4-BE49-F238E27FC236}">
                <a16:creationId xmlns:a16="http://schemas.microsoft.com/office/drawing/2014/main" id="{FA4AAC21-F288-8042-B6F1-9B6CA3923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066" y="401540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Melon">
            <a:extLst>
              <a:ext uri="{FF2B5EF4-FFF2-40B4-BE49-F238E27FC236}">
                <a16:creationId xmlns:a16="http://schemas.microsoft.com/office/drawing/2014/main" id="{EA1BE2C6-FD9A-DCFF-66D1-442C090BB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524" y="2208616"/>
            <a:ext cx="1376172" cy="137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CDD5ACF-5088-C57D-B053-114CF756DC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554" y="-10691"/>
            <a:ext cx="2079544" cy="207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30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2EB1-0CDE-3439-F495-BD9E0F820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044051-424B-AB50-3FD7-5206E6611E02}"/>
              </a:ext>
            </a:extLst>
          </p:cNvPr>
          <p:cNvSpPr/>
          <p:nvPr/>
        </p:nvSpPr>
        <p:spPr>
          <a:xfrm>
            <a:off x="0" y="0"/>
            <a:ext cx="1453896" cy="6858000"/>
          </a:xfrm>
          <a:prstGeom prst="rect">
            <a:avLst/>
          </a:prstGeom>
          <a:solidFill>
            <a:srgbClr val="EAC93C"/>
          </a:solidFill>
          <a:ln>
            <a:solidFill>
              <a:srgbClr val="EAC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B0AD11E-1F67-9EFA-2E59-867E4B483724}"/>
              </a:ext>
            </a:extLst>
          </p:cNvPr>
          <p:cNvSpPr/>
          <p:nvPr/>
        </p:nvSpPr>
        <p:spPr>
          <a:xfrm>
            <a:off x="224028" y="237744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0C744DA-2D65-ECC4-1C1A-FB293B4229D7}"/>
              </a:ext>
            </a:extLst>
          </p:cNvPr>
          <p:cNvSpPr/>
          <p:nvPr/>
        </p:nvSpPr>
        <p:spPr>
          <a:xfrm>
            <a:off x="224028" y="143256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C5740D-C7F2-53BE-976B-1110035B9E9F}"/>
              </a:ext>
            </a:extLst>
          </p:cNvPr>
          <p:cNvSpPr/>
          <p:nvPr/>
        </p:nvSpPr>
        <p:spPr>
          <a:xfrm>
            <a:off x="224028" y="277368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706C0D-A11D-685E-E9D9-F47A221D8FB0}"/>
              </a:ext>
            </a:extLst>
          </p:cNvPr>
          <p:cNvSpPr/>
          <p:nvPr/>
        </p:nvSpPr>
        <p:spPr>
          <a:xfrm>
            <a:off x="224028" y="411480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D9161A-F803-1BF6-6412-A60AAEF8E9B4}"/>
              </a:ext>
            </a:extLst>
          </p:cNvPr>
          <p:cNvSpPr/>
          <p:nvPr/>
        </p:nvSpPr>
        <p:spPr>
          <a:xfrm>
            <a:off x="224028" y="5629656"/>
            <a:ext cx="1005840" cy="694944"/>
          </a:xfrm>
          <a:prstGeom prst="ellipse">
            <a:avLst/>
          </a:prstGeom>
          <a:solidFill>
            <a:srgbClr val="EAC9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Apple with solid fill">
            <a:extLst>
              <a:ext uri="{FF2B5EF4-FFF2-40B4-BE49-F238E27FC236}">
                <a16:creationId xmlns:a16="http://schemas.microsoft.com/office/drawing/2014/main" id="{1AF178E0-1DD5-6860-DEC4-B772E5BF2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136" y="5721744"/>
            <a:ext cx="510768" cy="510768"/>
          </a:xfrm>
          <a:prstGeom prst="rect">
            <a:avLst/>
          </a:prstGeom>
        </p:spPr>
      </p:pic>
      <p:pic>
        <p:nvPicPr>
          <p:cNvPr id="13" name="Graphic 12" descr="Atom with solid fill">
            <a:extLst>
              <a:ext uri="{FF2B5EF4-FFF2-40B4-BE49-F238E27FC236}">
                <a16:creationId xmlns:a16="http://schemas.microsoft.com/office/drawing/2014/main" id="{84047EF8-1569-170A-4EC5-8B50FDA1F1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64" y="4206888"/>
            <a:ext cx="510768" cy="510768"/>
          </a:xfrm>
          <a:prstGeom prst="rect">
            <a:avLst/>
          </a:prstGeom>
        </p:spPr>
      </p:pic>
      <p:pic>
        <p:nvPicPr>
          <p:cNvPr id="15" name="Graphic 14" descr="Bar graph with upward trend with solid fill">
            <a:extLst>
              <a:ext uri="{FF2B5EF4-FFF2-40B4-BE49-F238E27FC236}">
                <a16:creationId xmlns:a16="http://schemas.microsoft.com/office/drawing/2014/main" id="{8DE3C0B0-717A-C470-4C25-6705899D33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564" y="1597572"/>
            <a:ext cx="510768" cy="510768"/>
          </a:xfrm>
          <a:prstGeom prst="rect">
            <a:avLst/>
          </a:prstGeom>
        </p:spPr>
      </p:pic>
      <p:pic>
        <p:nvPicPr>
          <p:cNvPr id="17" name="Graphic 16" descr="Beaker with solid fill">
            <a:extLst>
              <a:ext uri="{FF2B5EF4-FFF2-40B4-BE49-F238E27FC236}">
                <a16:creationId xmlns:a16="http://schemas.microsoft.com/office/drawing/2014/main" id="{00205470-DD0C-1353-90A9-FCBE52ECE9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564" y="2865768"/>
            <a:ext cx="510768" cy="510768"/>
          </a:xfrm>
          <a:prstGeom prst="rect">
            <a:avLst/>
          </a:prstGeom>
        </p:spPr>
      </p:pic>
      <p:pic>
        <p:nvPicPr>
          <p:cNvPr id="19" name="Graphic 18" descr="Brain in head with solid fill">
            <a:extLst>
              <a:ext uri="{FF2B5EF4-FFF2-40B4-BE49-F238E27FC236}">
                <a16:creationId xmlns:a16="http://schemas.microsoft.com/office/drawing/2014/main" id="{9CC469EB-0EA1-5334-4CB1-BDBC6330A4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1564" y="357264"/>
            <a:ext cx="510768" cy="5107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EEE44C-13C0-0F89-B892-F774E253CB6F}"/>
              </a:ext>
            </a:extLst>
          </p:cNvPr>
          <p:cNvSpPr txBox="1"/>
          <p:nvPr/>
        </p:nvSpPr>
        <p:spPr>
          <a:xfrm>
            <a:off x="1564272" y="104816"/>
            <a:ext cx="1053324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ankGothic Md BT" panose="020B0807020203060204" pitchFamily="34" charset="0"/>
              </a:rPr>
              <a:t>Examples of Gluten Formation </a:t>
            </a:r>
            <a:r>
              <a:rPr lang="en-US" dirty="0">
                <a:latin typeface="BankGothic Md BT" panose="020B0807020203060204" pitchFamily="34" charset="0"/>
              </a:rPr>
              <a:t>(Other than your lab practical)</a:t>
            </a:r>
            <a:endParaRPr lang="en-IN" sz="6000" dirty="0">
              <a:latin typeface="BankGothic Md BT" panose="020B080702020306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36D443-B7C9-CABC-5FDB-0C462371D541}"/>
              </a:ext>
            </a:extLst>
          </p:cNvPr>
          <p:cNvCxnSpPr>
            <a:cxnSpLocks/>
          </p:cNvCxnSpPr>
          <p:nvPr/>
        </p:nvCxnSpPr>
        <p:spPr>
          <a:xfrm>
            <a:off x="1564272" y="1151256"/>
            <a:ext cx="961948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4CF914-86AA-3C96-4BF8-1C67249CFC50}"/>
              </a:ext>
            </a:extLst>
          </p:cNvPr>
          <p:cNvCxnSpPr>
            <a:cxnSpLocks/>
          </p:cNvCxnSpPr>
          <p:nvPr/>
        </p:nvCxnSpPr>
        <p:spPr>
          <a:xfrm>
            <a:off x="2185416" y="1240536"/>
            <a:ext cx="9369552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79B7EE4-E010-C698-10C6-AD6704F036F5}"/>
              </a:ext>
            </a:extLst>
          </p:cNvPr>
          <p:cNvSpPr txBox="1"/>
          <p:nvPr/>
        </p:nvSpPr>
        <p:spPr>
          <a:xfrm>
            <a:off x="1477404" y="1780032"/>
            <a:ext cx="4356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BankGothic Md BT" panose="020B0807020203060204" pitchFamily="34" charset="0"/>
              </a:rPr>
              <a:t>Bread Dough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73BE6B-CAA2-046A-22D5-4AAB44C65D56}"/>
              </a:ext>
            </a:extLst>
          </p:cNvPr>
          <p:cNvSpPr txBox="1"/>
          <p:nvPr/>
        </p:nvSpPr>
        <p:spPr>
          <a:xfrm>
            <a:off x="1477404" y="2450514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Gluten network traps CO₂ produced by yeast</a:t>
            </a:r>
          </a:p>
          <a:p>
            <a:r>
              <a:rPr lang="en-IN" dirty="0"/>
              <a:t>Leads to rise and soft texture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CF450DF-BF86-D969-8DEF-A5867AD2B1D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701432" y="4206888"/>
            <a:ext cx="3200400" cy="21336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C5FF4B7-FA6D-F852-1C60-19063ADA098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692" y="4182586"/>
            <a:ext cx="3200400" cy="213360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53642AF-104A-E365-41D2-BE31F2BA267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494" y="4182586"/>
            <a:ext cx="3200400" cy="213584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1934792-EC18-C669-82BD-BE474752030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554" y="-10691"/>
            <a:ext cx="2079544" cy="207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60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8F030-2C71-04ED-439E-370D0B34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AE0550-6054-9BCA-4296-DADA2CCCCDC1}"/>
              </a:ext>
            </a:extLst>
          </p:cNvPr>
          <p:cNvSpPr/>
          <p:nvPr/>
        </p:nvSpPr>
        <p:spPr>
          <a:xfrm>
            <a:off x="0" y="0"/>
            <a:ext cx="1453896" cy="6858000"/>
          </a:xfrm>
          <a:prstGeom prst="rect">
            <a:avLst/>
          </a:prstGeom>
          <a:solidFill>
            <a:srgbClr val="EAC93C"/>
          </a:solidFill>
          <a:ln>
            <a:solidFill>
              <a:srgbClr val="EAC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52DF562-79BE-39DE-21C9-FABF4766D58F}"/>
              </a:ext>
            </a:extLst>
          </p:cNvPr>
          <p:cNvSpPr/>
          <p:nvPr/>
        </p:nvSpPr>
        <p:spPr>
          <a:xfrm>
            <a:off x="224028" y="237744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917E925-28D3-8E12-DB10-06E28E0997A6}"/>
              </a:ext>
            </a:extLst>
          </p:cNvPr>
          <p:cNvSpPr/>
          <p:nvPr/>
        </p:nvSpPr>
        <p:spPr>
          <a:xfrm>
            <a:off x="224028" y="143256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A6079A-54A8-A6D4-9C00-F30AC9A071AB}"/>
              </a:ext>
            </a:extLst>
          </p:cNvPr>
          <p:cNvSpPr/>
          <p:nvPr/>
        </p:nvSpPr>
        <p:spPr>
          <a:xfrm>
            <a:off x="224028" y="277368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62CABD-DF16-4938-1658-2FF8E1F21E67}"/>
              </a:ext>
            </a:extLst>
          </p:cNvPr>
          <p:cNvSpPr/>
          <p:nvPr/>
        </p:nvSpPr>
        <p:spPr>
          <a:xfrm>
            <a:off x="224028" y="411480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6AA4B9-338D-37F8-F632-F6B4CA4E803E}"/>
              </a:ext>
            </a:extLst>
          </p:cNvPr>
          <p:cNvSpPr/>
          <p:nvPr/>
        </p:nvSpPr>
        <p:spPr>
          <a:xfrm>
            <a:off x="224028" y="5629656"/>
            <a:ext cx="1005840" cy="694944"/>
          </a:xfrm>
          <a:prstGeom prst="ellipse">
            <a:avLst/>
          </a:prstGeom>
          <a:solidFill>
            <a:srgbClr val="EAC9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Apple with solid fill">
            <a:extLst>
              <a:ext uri="{FF2B5EF4-FFF2-40B4-BE49-F238E27FC236}">
                <a16:creationId xmlns:a16="http://schemas.microsoft.com/office/drawing/2014/main" id="{4F0A6493-A62D-C142-1E8E-0BD654799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136" y="5721744"/>
            <a:ext cx="510768" cy="510768"/>
          </a:xfrm>
          <a:prstGeom prst="rect">
            <a:avLst/>
          </a:prstGeom>
        </p:spPr>
      </p:pic>
      <p:pic>
        <p:nvPicPr>
          <p:cNvPr id="13" name="Graphic 12" descr="Atom with solid fill">
            <a:extLst>
              <a:ext uri="{FF2B5EF4-FFF2-40B4-BE49-F238E27FC236}">
                <a16:creationId xmlns:a16="http://schemas.microsoft.com/office/drawing/2014/main" id="{6F76646E-9D5F-8F3B-FE74-8C989F5E0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64" y="4206888"/>
            <a:ext cx="510768" cy="510768"/>
          </a:xfrm>
          <a:prstGeom prst="rect">
            <a:avLst/>
          </a:prstGeom>
        </p:spPr>
      </p:pic>
      <p:pic>
        <p:nvPicPr>
          <p:cNvPr id="15" name="Graphic 14" descr="Bar graph with upward trend with solid fill">
            <a:extLst>
              <a:ext uri="{FF2B5EF4-FFF2-40B4-BE49-F238E27FC236}">
                <a16:creationId xmlns:a16="http://schemas.microsoft.com/office/drawing/2014/main" id="{8C297AB1-3B10-76A0-9E48-AA95B2304C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564" y="1597572"/>
            <a:ext cx="510768" cy="510768"/>
          </a:xfrm>
          <a:prstGeom prst="rect">
            <a:avLst/>
          </a:prstGeom>
        </p:spPr>
      </p:pic>
      <p:pic>
        <p:nvPicPr>
          <p:cNvPr id="17" name="Graphic 16" descr="Beaker with solid fill">
            <a:extLst>
              <a:ext uri="{FF2B5EF4-FFF2-40B4-BE49-F238E27FC236}">
                <a16:creationId xmlns:a16="http://schemas.microsoft.com/office/drawing/2014/main" id="{279C8152-910A-51CC-2169-176CD72A60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564" y="2865768"/>
            <a:ext cx="510768" cy="510768"/>
          </a:xfrm>
          <a:prstGeom prst="rect">
            <a:avLst/>
          </a:prstGeom>
        </p:spPr>
      </p:pic>
      <p:pic>
        <p:nvPicPr>
          <p:cNvPr id="19" name="Graphic 18" descr="Brain in head with solid fill">
            <a:extLst>
              <a:ext uri="{FF2B5EF4-FFF2-40B4-BE49-F238E27FC236}">
                <a16:creationId xmlns:a16="http://schemas.microsoft.com/office/drawing/2014/main" id="{0284FA18-CE22-A6CE-55A3-1843BE438FA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1564" y="357264"/>
            <a:ext cx="510768" cy="5107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3A9BB1-01FB-59F7-285F-D015E8CC2A95}"/>
              </a:ext>
            </a:extLst>
          </p:cNvPr>
          <p:cNvSpPr txBox="1"/>
          <p:nvPr/>
        </p:nvSpPr>
        <p:spPr>
          <a:xfrm>
            <a:off x="1564272" y="104816"/>
            <a:ext cx="1053324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ankGothic Md BT" panose="020B0807020203060204" pitchFamily="34" charset="0"/>
              </a:rPr>
              <a:t>Examples of Gluten Formation </a:t>
            </a:r>
            <a:r>
              <a:rPr lang="en-US" dirty="0">
                <a:latin typeface="BankGothic Md BT" panose="020B0807020203060204" pitchFamily="34" charset="0"/>
              </a:rPr>
              <a:t>(Other than your lab practical)</a:t>
            </a:r>
            <a:endParaRPr lang="en-IN" sz="6000" dirty="0">
              <a:latin typeface="BankGothic Md BT" panose="020B080702020306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32F3F-522E-FE19-D8E0-FFA5BB57865F}"/>
              </a:ext>
            </a:extLst>
          </p:cNvPr>
          <p:cNvCxnSpPr>
            <a:cxnSpLocks/>
          </p:cNvCxnSpPr>
          <p:nvPr/>
        </p:nvCxnSpPr>
        <p:spPr>
          <a:xfrm>
            <a:off x="1564272" y="1151256"/>
            <a:ext cx="961948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4FF9022-C8B3-2009-8E49-1FEC170AE6D2}"/>
              </a:ext>
            </a:extLst>
          </p:cNvPr>
          <p:cNvCxnSpPr>
            <a:cxnSpLocks/>
          </p:cNvCxnSpPr>
          <p:nvPr/>
        </p:nvCxnSpPr>
        <p:spPr>
          <a:xfrm>
            <a:off x="2185416" y="1240536"/>
            <a:ext cx="9369552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E188AAD-6843-13EF-8D17-DDE65786FF07}"/>
              </a:ext>
            </a:extLst>
          </p:cNvPr>
          <p:cNvSpPr txBox="1"/>
          <p:nvPr/>
        </p:nvSpPr>
        <p:spPr>
          <a:xfrm>
            <a:off x="1477404" y="1780032"/>
            <a:ext cx="4356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BankGothic Md BT" panose="020B0807020203060204" pitchFamily="34" charset="0"/>
              </a:rPr>
              <a:t>Pizza Dough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5D26F5-C71A-4995-ABF2-D4125169FC78}"/>
              </a:ext>
            </a:extLst>
          </p:cNvPr>
          <p:cNvSpPr txBox="1"/>
          <p:nvPr/>
        </p:nvSpPr>
        <p:spPr>
          <a:xfrm>
            <a:off x="1477404" y="2319527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High gluten gives stretchability</a:t>
            </a:r>
          </a:p>
          <a:p>
            <a:r>
              <a:rPr lang="en-IN" dirty="0"/>
              <a:t>Allows dough to be stretched without tearing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B973C5A-AE72-7B0A-AF59-38979788DB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288292" y="3641334"/>
            <a:ext cx="2114127" cy="32452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0BFEFF9-5CD5-46A0-C4C9-8EB2D260794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272" y="4163187"/>
            <a:ext cx="3200400" cy="2133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01303EC-A650-2DA8-E015-21F1C8B5D2F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0774" y="4187416"/>
            <a:ext cx="3200400" cy="2133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7392DB5-24C1-E264-6021-EC970A1DC80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554" y="-10691"/>
            <a:ext cx="2079544" cy="207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27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25448-5DF5-BA89-6F40-11A10C0A2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CEDF6F-08FB-C8A7-5E08-AA3EAB1F0491}"/>
              </a:ext>
            </a:extLst>
          </p:cNvPr>
          <p:cNvSpPr/>
          <p:nvPr/>
        </p:nvSpPr>
        <p:spPr>
          <a:xfrm>
            <a:off x="0" y="0"/>
            <a:ext cx="1453896" cy="6858000"/>
          </a:xfrm>
          <a:prstGeom prst="rect">
            <a:avLst/>
          </a:prstGeom>
          <a:solidFill>
            <a:srgbClr val="EAC93C"/>
          </a:solidFill>
          <a:ln>
            <a:solidFill>
              <a:srgbClr val="EAC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9F35C0-8EF0-401B-842C-D52FD4E1AB19}"/>
              </a:ext>
            </a:extLst>
          </p:cNvPr>
          <p:cNvSpPr/>
          <p:nvPr/>
        </p:nvSpPr>
        <p:spPr>
          <a:xfrm>
            <a:off x="224028" y="237744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1A66F3-AE8A-C5DE-59A2-19657DF35B82}"/>
              </a:ext>
            </a:extLst>
          </p:cNvPr>
          <p:cNvSpPr/>
          <p:nvPr/>
        </p:nvSpPr>
        <p:spPr>
          <a:xfrm>
            <a:off x="224028" y="143256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AB19C74-ED6C-5C7E-472C-32CBE0E1CD01}"/>
              </a:ext>
            </a:extLst>
          </p:cNvPr>
          <p:cNvSpPr/>
          <p:nvPr/>
        </p:nvSpPr>
        <p:spPr>
          <a:xfrm>
            <a:off x="224028" y="277368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71963F-622F-5356-56E1-6EEEB3313FC8}"/>
              </a:ext>
            </a:extLst>
          </p:cNvPr>
          <p:cNvSpPr/>
          <p:nvPr/>
        </p:nvSpPr>
        <p:spPr>
          <a:xfrm>
            <a:off x="224028" y="411480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70117A-E925-2BAF-052A-D09500EB25A7}"/>
              </a:ext>
            </a:extLst>
          </p:cNvPr>
          <p:cNvSpPr/>
          <p:nvPr/>
        </p:nvSpPr>
        <p:spPr>
          <a:xfrm>
            <a:off x="224028" y="5629656"/>
            <a:ext cx="1005840" cy="694944"/>
          </a:xfrm>
          <a:prstGeom prst="ellipse">
            <a:avLst/>
          </a:prstGeom>
          <a:solidFill>
            <a:srgbClr val="EAC9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Apple with solid fill">
            <a:extLst>
              <a:ext uri="{FF2B5EF4-FFF2-40B4-BE49-F238E27FC236}">
                <a16:creationId xmlns:a16="http://schemas.microsoft.com/office/drawing/2014/main" id="{90FBE85B-5773-B397-494C-74BC58BB2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136" y="5721744"/>
            <a:ext cx="510768" cy="510768"/>
          </a:xfrm>
          <a:prstGeom prst="rect">
            <a:avLst/>
          </a:prstGeom>
        </p:spPr>
      </p:pic>
      <p:pic>
        <p:nvPicPr>
          <p:cNvPr id="13" name="Graphic 12" descr="Atom with solid fill">
            <a:extLst>
              <a:ext uri="{FF2B5EF4-FFF2-40B4-BE49-F238E27FC236}">
                <a16:creationId xmlns:a16="http://schemas.microsoft.com/office/drawing/2014/main" id="{74925681-AAB2-DA47-83D8-DEEC665FA8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64" y="4206888"/>
            <a:ext cx="510768" cy="510768"/>
          </a:xfrm>
          <a:prstGeom prst="rect">
            <a:avLst/>
          </a:prstGeom>
        </p:spPr>
      </p:pic>
      <p:pic>
        <p:nvPicPr>
          <p:cNvPr id="15" name="Graphic 14" descr="Bar graph with upward trend with solid fill">
            <a:extLst>
              <a:ext uri="{FF2B5EF4-FFF2-40B4-BE49-F238E27FC236}">
                <a16:creationId xmlns:a16="http://schemas.microsoft.com/office/drawing/2014/main" id="{BCFFFA19-D81D-BD71-87A5-72D238B26E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564" y="1597572"/>
            <a:ext cx="510768" cy="510768"/>
          </a:xfrm>
          <a:prstGeom prst="rect">
            <a:avLst/>
          </a:prstGeom>
        </p:spPr>
      </p:pic>
      <p:pic>
        <p:nvPicPr>
          <p:cNvPr id="17" name="Graphic 16" descr="Beaker with solid fill">
            <a:extLst>
              <a:ext uri="{FF2B5EF4-FFF2-40B4-BE49-F238E27FC236}">
                <a16:creationId xmlns:a16="http://schemas.microsoft.com/office/drawing/2014/main" id="{C481B2B7-7DBC-628C-93FB-FA589D1AA3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564" y="2865768"/>
            <a:ext cx="510768" cy="510768"/>
          </a:xfrm>
          <a:prstGeom prst="rect">
            <a:avLst/>
          </a:prstGeom>
        </p:spPr>
      </p:pic>
      <p:pic>
        <p:nvPicPr>
          <p:cNvPr id="19" name="Graphic 18" descr="Brain in head with solid fill">
            <a:extLst>
              <a:ext uri="{FF2B5EF4-FFF2-40B4-BE49-F238E27FC236}">
                <a16:creationId xmlns:a16="http://schemas.microsoft.com/office/drawing/2014/main" id="{392D1909-8A0F-2135-62FA-D6C65D9177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1564" y="357264"/>
            <a:ext cx="510768" cy="5107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FC91B8-0CEA-6889-B82A-23FB441A0737}"/>
              </a:ext>
            </a:extLst>
          </p:cNvPr>
          <p:cNvSpPr txBox="1"/>
          <p:nvPr/>
        </p:nvSpPr>
        <p:spPr>
          <a:xfrm>
            <a:off x="1564272" y="104816"/>
            <a:ext cx="1053324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ankGothic Md BT" panose="020B0807020203060204" pitchFamily="34" charset="0"/>
              </a:rPr>
              <a:t>Examples of Gluten Formation </a:t>
            </a:r>
            <a:r>
              <a:rPr lang="en-US" dirty="0">
                <a:latin typeface="BankGothic Md BT" panose="020B0807020203060204" pitchFamily="34" charset="0"/>
              </a:rPr>
              <a:t>(Other than your lab practical)</a:t>
            </a:r>
            <a:endParaRPr lang="en-IN" sz="6000" dirty="0">
              <a:latin typeface="BankGothic Md BT" panose="020B080702020306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F9BCE30-EE23-FF61-BEAB-F29021AF1307}"/>
              </a:ext>
            </a:extLst>
          </p:cNvPr>
          <p:cNvCxnSpPr>
            <a:cxnSpLocks/>
          </p:cNvCxnSpPr>
          <p:nvPr/>
        </p:nvCxnSpPr>
        <p:spPr>
          <a:xfrm>
            <a:off x="1564272" y="1151256"/>
            <a:ext cx="961948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5BFB005-5120-845B-A26D-7029B5E66B49}"/>
              </a:ext>
            </a:extLst>
          </p:cNvPr>
          <p:cNvCxnSpPr>
            <a:cxnSpLocks/>
          </p:cNvCxnSpPr>
          <p:nvPr/>
        </p:nvCxnSpPr>
        <p:spPr>
          <a:xfrm>
            <a:off x="2185416" y="1240536"/>
            <a:ext cx="9369552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D610516-CC17-E519-A9EB-3905FE8FA0D0}"/>
              </a:ext>
            </a:extLst>
          </p:cNvPr>
          <p:cNvSpPr txBox="1"/>
          <p:nvPr/>
        </p:nvSpPr>
        <p:spPr>
          <a:xfrm>
            <a:off x="1477404" y="1780032"/>
            <a:ext cx="4356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BankGothic Md BT" panose="020B0807020203060204" pitchFamily="34" charset="0"/>
              </a:rPr>
              <a:t>Pasta Making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D01424-832A-B97D-1102-AD36BC251E8B}"/>
              </a:ext>
            </a:extLst>
          </p:cNvPr>
          <p:cNvSpPr txBox="1"/>
          <p:nvPr/>
        </p:nvSpPr>
        <p:spPr>
          <a:xfrm>
            <a:off x="1477404" y="2408807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Gluten provides firmness and bite (al dente texture)</a:t>
            </a:r>
          </a:p>
          <a:p>
            <a:r>
              <a:rPr lang="en-IN" dirty="0"/>
              <a:t>Prevents disintegration during cooking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4B7694F-38B2-D1F2-E6D1-4EE45047B0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915" y="4114800"/>
            <a:ext cx="3429000" cy="228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FA412DD-2357-015D-7380-40B233C0AB9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878" y="2505463"/>
            <a:ext cx="2598583" cy="389533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A7490ED-8A19-46C3-8689-4E9E239E45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272" y="4069080"/>
            <a:ext cx="3429000" cy="2286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F5090B4-61BE-0BEA-B26C-CBC10F4167F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554" y="-10691"/>
            <a:ext cx="2079544" cy="207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4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639F0-A68B-1BEF-78E6-DB390EAE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DD71CD-68BA-5D11-5E9C-9FBA2B5AC633}"/>
              </a:ext>
            </a:extLst>
          </p:cNvPr>
          <p:cNvSpPr/>
          <p:nvPr/>
        </p:nvSpPr>
        <p:spPr>
          <a:xfrm>
            <a:off x="0" y="0"/>
            <a:ext cx="1453896" cy="6858000"/>
          </a:xfrm>
          <a:prstGeom prst="rect">
            <a:avLst/>
          </a:prstGeom>
          <a:solidFill>
            <a:srgbClr val="EAC93C"/>
          </a:solidFill>
          <a:ln>
            <a:solidFill>
              <a:srgbClr val="EAC9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7F36F20-BA01-0F8B-5ACA-374D7F0AE006}"/>
              </a:ext>
            </a:extLst>
          </p:cNvPr>
          <p:cNvSpPr/>
          <p:nvPr/>
        </p:nvSpPr>
        <p:spPr>
          <a:xfrm>
            <a:off x="224028" y="237744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6A9B30F-C614-2D30-32AE-682C0808DC78}"/>
              </a:ext>
            </a:extLst>
          </p:cNvPr>
          <p:cNvSpPr/>
          <p:nvPr/>
        </p:nvSpPr>
        <p:spPr>
          <a:xfrm>
            <a:off x="224028" y="143256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2943AE-8E1E-A16C-2C5B-4D71A53524D4}"/>
              </a:ext>
            </a:extLst>
          </p:cNvPr>
          <p:cNvSpPr/>
          <p:nvPr/>
        </p:nvSpPr>
        <p:spPr>
          <a:xfrm>
            <a:off x="224028" y="277368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F4E038-2F07-9342-BFFD-797B4C209DA9}"/>
              </a:ext>
            </a:extLst>
          </p:cNvPr>
          <p:cNvSpPr/>
          <p:nvPr/>
        </p:nvSpPr>
        <p:spPr>
          <a:xfrm>
            <a:off x="224028" y="4114800"/>
            <a:ext cx="1005840" cy="69494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EEC7D8-94C3-638B-14A9-EE39CFBE052E}"/>
              </a:ext>
            </a:extLst>
          </p:cNvPr>
          <p:cNvSpPr/>
          <p:nvPr/>
        </p:nvSpPr>
        <p:spPr>
          <a:xfrm>
            <a:off x="224028" y="5629656"/>
            <a:ext cx="1005840" cy="694944"/>
          </a:xfrm>
          <a:prstGeom prst="ellipse">
            <a:avLst/>
          </a:prstGeom>
          <a:solidFill>
            <a:srgbClr val="EAC93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Apple with solid fill">
            <a:extLst>
              <a:ext uri="{FF2B5EF4-FFF2-40B4-BE49-F238E27FC236}">
                <a16:creationId xmlns:a16="http://schemas.microsoft.com/office/drawing/2014/main" id="{7218D98F-3630-6251-6F8F-849B62683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136" y="5721744"/>
            <a:ext cx="510768" cy="510768"/>
          </a:xfrm>
          <a:prstGeom prst="rect">
            <a:avLst/>
          </a:prstGeom>
        </p:spPr>
      </p:pic>
      <p:pic>
        <p:nvPicPr>
          <p:cNvPr id="13" name="Graphic 12" descr="Atom with solid fill">
            <a:extLst>
              <a:ext uri="{FF2B5EF4-FFF2-40B4-BE49-F238E27FC236}">
                <a16:creationId xmlns:a16="http://schemas.microsoft.com/office/drawing/2014/main" id="{F3992183-0987-483A-2931-7D46E85E58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64" y="4206888"/>
            <a:ext cx="510768" cy="510768"/>
          </a:xfrm>
          <a:prstGeom prst="rect">
            <a:avLst/>
          </a:prstGeom>
        </p:spPr>
      </p:pic>
      <p:pic>
        <p:nvPicPr>
          <p:cNvPr id="15" name="Graphic 14" descr="Bar graph with upward trend with solid fill">
            <a:extLst>
              <a:ext uri="{FF2B5EF4-FFF2-40B4-BE49-F238E27FC236}">
                <a16:creationId xmlns:a16="http://schemas.microsoft.com/office/drawing/2014/main" id="{0589E640-B6B6-09CD-ACA1-5CDFCE5A48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564" y="1597572"/>
            <a:ext cx="510768" cy="510768"/>
          </a:xfrm>
          <a:prstGeom prst="rect">
            <a:avLst/>
          </a:prstGeom>
        </p:spPr>
      </p:pic>
      <p:pic>
        <p:nvPicPr>
          <p:cNvPr id="17" name="Graphic 16" descr="Beaker with solid fill">
            <a:extLst>
              <a:ext uri="{FF2B5EF4-FFF2-40B4-BE49-F238E27FC236}">
                <a16:creationId xmlns:a16="http://schemas.microsoft.com/office/drawing/2014/main" id="{9047C4CC-E23C-C555-812C-3326BAC9B1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564" y="2865768"/>
            <a:ext cx="510768" cy="510768"/>
          </a:xfrm>
          <a:prstGeom prst="rect">
            <a:avLst/>
          </a:prstGeom>
        </p:spPr>
      </p:pic>
      <p:pic>
        <p:nvPicPr>
          <p:cNvPr id="19" name="Graphic 18" descr="Brain in head with solid fill">
            <a:extLst>
              <a:ext uri="{FF2B5EF4-FFF2-40B4-BE49-F238E27FC236}">
                <a16:creationId xmlns:a16="http://schemas.microsoft.com/office/drawing/2014/main" id="{3FDCD997-F5F4-FE10-AFD3-623A6E7967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1564" y="357264"/>
            <a:ext cx="510768" cy="5107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CF80FB-6E07-F395-E29B-7A566BB64CC5}"/>
              </a:ext>
            </a:extLst>
          </p:cNvPr>
          <p:cNvSpPr txBox="1"/>
          <p:nvPr/>
        </p:nvSpPr>
        <p:spPr>
          <a:xfrm>
            <a:off x="1564272" y="104816"/>
            <a:ext cx="1053324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ankGothic Md BT" panose="020B0807020203060204" pitchFamily="34" charset="0"/>
              </a:rPr>
              <a:t>Examples of Gluten Formation </a:t>
            </a:r>
            <a:r>
              <a:rPr lang="en-US" dirty="0">
                <a:latin typeface="BankGothic Md BT" panose="020B0807020203060204" pitchFamily="34" charset="0"/>
              </a:rPr>
              <a:t>(Other than your lab practical)</a:t>
            </a:r>
            <a:endParaRPr lang="en-IN" sz="6000" dirty="0">
              <a:latin typeface="BankGothic Md BT" panose="020B080702020306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67DFE6-7A37-66A1-BF08-77E8D2F13423}"/>
              </a:ext>
            </a:extLst>
          </p:cNvPr>
          <p:cNvCxnSpPr>
            <a:cxnSpLocks/>
          </p:cNvCxnSpPr>
          <p:nvPr/>
        </p:nvCxnSpPr>
        <p:spPr>
          <a:xfrm>
            <a:off x="1564272" y="1151256"/>
            <a:ext cx="9619488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7B6922-51D8-AF53-BE8D-62719FB34B23}"/>
              </a:ext>
            </a:extLst>
          </p:cNvPr>
          <p:cNvCxnSpPr>
            <a:cxnSpLocks/>
          </p:cNvCxnSpPr>
          <p:nvPr/>
        </p:nvCxnSpPr>
        <p:spPr>
          <a:xfrm>
            <a:off x="2185416" y="1240536"/>
            <a:ext cx="9369552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F8B817D-49B1-7A2C-BFEC-38BBA66BAD56}"/>
              </a:ext>
            </a:extLst>
          </p:cNvPr>
          <p:cNvSpPr txBox="1"/>
          <p:nvPr/>
        </p:nvSpPr>
        <p:spPr>
          <a:xfrm>
            <a:off x="1477404" y="1780032"/>
            <a:ext cx="65235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BankGothic Md BT" panose="020B0807020203060204" pitchFamily="34" charset="0"/>
              </a:rPr>
              <a:t>Noodles (Wheat-Based)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D1E06C-D168-CCA9-CF6E-33E4DAC802B5}"/>
              </a:ext>
            </a:extLst>
          </p:cNvPr>
          <p:cNvSpPr txBox="1"/>
          <p:nvPr/>
        </p:nvSpPr>
        <p:spPr>
          <a:xfrm>
            <a:off x="1477404" y="2319527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Gluten network provides elasticity and chewiness</a:t>
            </a:r>
          </a:p>
          <a:p>
            <a:r>
              <a:rPr lang="en-IN" dirty="0"/>
              <a:t>Essential for stretching and pulling of noodles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694D7EE-187E-ADB9-E290-6F83E7E9DA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775" y="4257800"/>
            <a:ext cx="4070958" cy="228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BA91340-7898-73D9-E3BF-1D19FDC33D4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149" y="2677175"/>
            <a:ext cx="2579611" cy="38666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296BB51-A539-30A7-12ED-1E581E94F9D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272" y="4257800"/>
            <a:ext cx="3048000" cy="2286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BEA0C48-A255-18AD-6774-1313DA20656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554" y="-10691"/>
            <a:ext cx="2079544" cy="207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64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309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Bahnschrift SemiLight SemiConde</vt:lpstr>
      <vt:lpstr>BankGothic Md BT</vt:lpstr>
      <vt:lpstr>Eras Demi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Abijith 801</dc:creator>
  <cp:lastModifiedBy>Abijith 801</cp:lastModifiedBy>
  <cp:revision>2</cp:revision>
  <dcterms:created xsi:type="dcterms:W3CDTF">2026-03-29T13:46:13Z</dcterms:created>
  <dcterms:modified xsi:type="dcterms:W3CDTF">2026-03-29T13:48:05Z</dcterms:modified>
</cp:coreProperties>
</file>